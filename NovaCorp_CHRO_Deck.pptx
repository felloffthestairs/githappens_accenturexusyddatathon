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Employees who stayed</c:v>
                </c:pt>
              </c:strCache>
            </c:strRef>
          </c:tx>
          <c:spPr>
            <a:ln w="31750" cap="flat">
              <a:solidFill>
                <a:srgbClr val="2A78D6"/>
              </a:solidFill>
              <a:prstDash val="solid"/>
              <a:round/>
            </a:ln>
            <a:effectLst/>
          </c:spPr>
          <c:marker>
            <c:symbol val="circle"/>
            <c:size val="6"/>
            <c:spPr>
              <a:solidFill>
                <a:srgbClr val="2A78D6"/>
              </a:solidFill>
              <a:ln w="9525" cap="flat">
                <a:solidFill>
                  <a:srgbClr val="2A78D6"/>
                </a:solidFill>
                <a:prstDash val="solid"/>
                <a:round/>
              </a:ln>
              <a:effectLst/>
            </c:spPr>
          </c:marker>
          <c:cat>
            <c:strRef>
              <c:f>Sheet1!$A$2:$A$6</c:f>
              <c:strCache>
                <c:ptCount val="5"/>
                <c:pt idx="0">
                  <c:v>12-18</c:v>
                </c:pt>
                <c:pt idx="1">
                  <c:v>9-12</c:v>
                </c:pt>
                <c:pt idx="2">
                  <c:v>6-9</c:v>
                </c:pt>
                <c:pt idx="3">
                  <c:v>3-6</c:v>
                </c:pt>
                <c:pt idx="4">
                  <c:v>0-3</c:v>
                </c:pt>
              </c:strCache>
            </c:strRef>
          </c:cat>
          <c:val>
            <c:numRef>
              <c:f>Sheet1!$B$2:$B$6</c:f>
              <c:numCache>
                <c:formatCode>General</c:formatCode>
                <c:ptCount val="5"/>
                <c:pt idx="0">
                  <c:v>82.6</c:v>
                </c:pt>
                <c:pt idx="1">
                  <c:v>82.7</c:v>
                </c:pt>
                <c:pt idx="2">
                  <c:v>82.3</c:v>
                </c:pt>
                <c:pt idx="3">
                  <c:v>82.4</c:v>
                </c:pt>
                <c:pt idx="4">
                  <c:v>82.6</c:v>
                </c:pt>
              </c:numCache>
            </c:numRef>
          </c:val>
          <c:smooth val="0"/>
          <c:extLst>
            <c:ext xmlns:c16="http://schemas.microsoft.com/office/drawing/2014/chart" uri="{C3380CC4-5D6E-409C-BE32-E72D297353CC}">
              <c16:uniqueId val="{00000000-3AEA-465E-83CA-2766961D4E5F}"/>
            </c:ext>
          </c:extLst>
        </c:ser>
        <c:ser>
          <c:idx val="1"/>
          <c:order val="1"/>
          <c:tx>
            <c:strRef>
              <c:f>Sheet1!$C$1</c:f>
              <c:strCache>
                <c:ptCount val="1"/>
                <c:pt idx="0">
                  <c:v>Employees who left</c:v>
                </c:pt>
              </c:strCache>
            </c:strRef>
          </c:tx>
          <c:spPr>
            <a:ln w="31750" cap="flat">
              <a:solidFill>
                <a:srgbClr val="D9622F"/>
              </a:solidFill>
              <a:prstDash val="solid"/>
              <a:round/>
            </a:ln>
            <a:effectLst/>
          </c:spPr>
          <c:marker>
            <c:symbol val="circle"/>
            <c:size val="6"/>
            <c:spPr>
              <a:solidFill>
                <a:srgbClr val="D9622F"/>
              </a:solidFill>
              <a:ln w="9525" cap="flat">
                <a:solidFill>
                  <a:srgbClr val="D9622F"/>
                </a:solidFill>
                <a:prstDash val="solid"/>
                <a:round/>
              </a:ln>
              <a:effectLst/>
            </c:spPr>
          </c:marker>
          <c:cat>
            <c:strRef>
              <c:f>Sheet1!$A$2:$A$6</c:f>
              <c:strCache>
                <c:ptCount val="5"/>
                <c:pt idx="0">
                  <c:v>12-18</c:v>
                </c:pt>
                <c:pt idx="1">
                  <c:v>9-12</c:v>
                </c:pt>
                <c:pt idx="2">
                  <c:v>6-9</c:v>
                </c:pt>
                <c:pt idx="3">
                  <c:v>3-6</c:v>
                </c:pt>
                <c:pt idx="4">
                  <c:v>0-3</c:v>
                </c:pt>
              </c:strCache>
            </c:strRef>
          </c:cat>
          <c:val>
            <c:numRef>
              <c:f>Sheet1!$C$2:$C$6</c:f>
              <c:numCache>
                <c:formatCode>General</c:formatCode>
                <c:ptCount val="5"/>
                <c:pt idx="0">
                  <c:v>68</c:v>
                </c:pt>
                <c:pt idx="1">
                  <c:v>68</c:v>
                </c:pt>
                <c:pt idx="2">
                  <c:v>70</c:v>
                </c:pt>
                <c:pt idx="3">
                  <c:v>68</c:v>
                </c:pt>
                <c:pt idx="4">
                  <c:v>66</c:v>
                </c:pt>
              </c:numCache>
            </c:numRef>
          </c:val>
          <c:smooth val="0"/>
          <c:extLst>
            <c:ext xmlns:c16="http://schemas.microsoft.com/office/drawing/2014/chart" uri="{C3380CC4-5D6E-409C-BE32-E72D297353CC}">
              <c16:uniqueId val="{00000001-3AEA-465E-83CA-2766961D4E5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8781"/>
                </a:solidFill>
                <a:latin typeface="Segoe UI"/>
              </a:defRPr>
            </a:pPr>
            <a:endParaRPr lang="en-US"/>
          </a:p>
        </c:txPr>
        <c:crossAx val="2094734552"/>
        <c:crosses val="autoZero"/>
        <c:auto val="1"/>
        <c:lblAlgn val="ctr"/>
        <c:lblOffset val="100"/>
        <c:noMultiLvlLbl val="1"/>
      </c:catAx>
      <c:valAx>
        <c:axId val="2094734552"/>
        <c:scaling>
          <c:orientation val="minMax"/>
          <c:max val="90"/>
          <c:min val="55"/>
        </c:scaling>
        <c:delete val="0"/>
        <c:axPos val="l"/>
        <c:majorGridlines>
          <c:spPr>
            <a:ln w="9525" cap="flat">
              <a:solidFill>
                <a:srgbClr val="DFDDD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781"/>
                </a:solidFill>
                <a:latin typeface="Segoe UI"/>
              </a:defRPr>
            </a:pPr>
            <a:endParaRPr lang="en-US"/>
          </a:p>
        </c:txPr>
        <c:crossAx val="2094734554"/>
        <c:crosses val="autoZero"/>
        <c:crossBetween val="between"/>
        <c:majorUnit val="10"/>
      </c:valAx>
      <c:spPr>
        <a:solidFill>
          <a:srgbClr val="FFFFFF"/>
        </a:solidFill>
        <a:ln w="12700" cap="flat">
          <a:solidFill>
            <a:srgbClr val="FFFFFF"/>
          </a:solidFill>
        </a:ln>
        <a:effectLst/>
      </c:spPr>
    </c:plotArea>
    <c:legend>
      <c:legendPos val="b"/>
      <c:overlay val="0"/>
      <c:txPr>
        <a:bodyPr/>
        <a:lstStyle/>
        <a:p>
          <a:pPr>
            <a:defRPr sz="900">
              <a:solidFill>
                <a:srgbClr val="4A4845"/>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Entity_A (2023)</c:v>
                </c:pt>
              </c:strCache>
            </c:strRef>
          </c:tx>
          <c:spPr>
            <a:ln w="31750" cap="flat">
              <a:solidFill>
                <a:srgbClr val="2A78D6"/>
              </a:solidFill>
              <a:prstDash val="solid"/>
              <a:round/>
            </a:ln>
            <a:effectLst/>
          </c:spPr>
          <c:marker>
            <c:symbol val="circle"/>
            <c:size val="7"/>
            <c:spPr>
              <a:solidFill>
                <a:srgbClr val="2A78D6"/>
              </a:solidFill>
              <a:ln w="9525" cap="flat">
                <a:solidFill>
                  <a:srgbClr val="2A78D6"/>
                </a:solidFill>
                <a:prstDash val="solid"/>
                <a:round/>
              </a:ln>
              <a:effectLst/>
            </c:spPr>
          </c:marker>
          <c:cat>
            <c:strRef>
              <c:f>Sheet1!$A$2:$A$7</c:f>
              <c:strCache>
                <c:ptCount val="6"/>
                <c:pt idx="0">
                  <c:v>3</c:v>
                </c:pt>
                <c:pt idx="1">
                  <c:v>6</c:v>
                </c:pt>
                <c:pt idx="2">
                  <c:v>9</c:v>
                </c:pt>
                <c:pt idx="3">
                  <c:v>12</c:v>
                </c:pt>
                <c:pt idx="4">
                  <c:v>18</c:v>
                </c:pt>
                <c:pt idx="5">
                  <c:v>24</c:v>
                </c:pt>
              </c:strCache>
            </c:strRef>
          </c:cat>
          <c:val>
            <c:numRef>
              <c:f>Sheet1!$B$2:$B$7</c:f>
              <c:numCache>
                <c:formatCode>General</c:formatCode>
                <c:ptCount val="6"/>
                <c:pt idx="0">
                  <c:v>0</c:v>
                </c:pt>
                <c:pt idx="1">
                  <c:v>0.1</c:v>
                </c:pt>
                <c:pt idx="2">
                  <c:v>0.5</c:v>
                </c:pt>
                <c:pt idx="3">
                  <c:v>1.7</c:v>
                </c:pt>
                <c:pt idx="4">
                  <c:v>4.2</c:v>
                </c:pt>
                <c:pt idx="5">
                  <c:v>6.2</c:v>
                </c:pt>
              </c:numCache>
            </c:numRef>
          </c:val>
          <c:smooth val="0"/>
          <c:extLst>
            <c:ext xmlns:c16="http://schemas.microsoft.com/office/drawing/2014/chart" uri="{C3380CC4-5D6E-409C-BE32-E72D297353CC}">
              <c16:uniqueId val="{00000000-369A-485A-8998-230032DFE616}"/>
            </c:ext>
          </c:extLst>
        </c:ser>
        <c:ser>
          <c:idx val="1"/>
          <c:order val="1"/>
          <c:tx>
            <c:strRef>
              <c:f>Sheet1!$C$1</c:f>
              <c:strCache>
                <c:ptCount val="1"/>
                <c:pt idx="0">
                  <c:v>Entity_B (mid-2024)</c:v>
                </c:pt>
              </c:strCache>
            </c:strRef>
          </c:tx>
          <c:spPr>
            <a:ln w="31750" cap="flat">
              <a:solidFill>
                <a:srgbClr val="D9622F"/>
              </a:solidFill>
              <a:prstDash val="solid"/>
              <a:round/>
            </a:ln>
            <a:effectLst/>
          </c:spPr>
          <c:marker>
            <c:symbol val="circle"/>
            <c:size val="7"/>
            <c:spPr>
              <a:solidFill>
                <a:srgbClr val="D9622F"/>
              </a:solidFill>
              <a:ln w="9525" cap="flat">
                <a:solidFill>
                  <a:srgbClr val="D9622F"/>
                </a:solidFill>
                <a:prstDash val="solid"/>
                <a:round/>
              </a:ln>
              <a:effectLst/>
            </c:spPr>
          </c:marker>
          <c:cat>
            <c:strRef>
              <c:f>Sheet1!$A$2:$A$7</c:f>
              <c:strCache>
                <c:ptCount val="6"/>
                <c:pt idx="0">
                  <c:v>3</c:v>
                </c:pt>
                <c:pt idx="1">
                  <c:v>6</c:v>
                </c:pt>
                <c:pt idx="2">
                  <c:v>9</c:v>
                </c:pt>
                <c:pt idx="3">
                  <c:v>12</c:v>
                </c:pt>
                <c:pt idx="4">
                  <c:v>18</c:v>
                </c:pt>
                <c:pt idx="5">
                  <c:v>24</c:v>
                </c:pt>
              </c:strCache>
            </c:strRef>
          </c:cat>
          <c:val>
            <c:numRef>
              <c:f>Sheet1!$C$2:$C$7</c:f>
              <c:numCache>
                <c:formatCode>General</c:formatCode>
                <c:ptCount val="6"/>
                <c:pt idx="0">
                  <c:v>6</c:v>
                </c:pt>
                <c:pt idx="1">
                  <c:v>8.3000000000000007</c:v>
                </c:pt>
                <c:pt idx="2">
                  <c:v>10.199999999999999</c:v>
                </c:pt>
                <c:pt idx="3">
                  <c:v>12.3</c:v>
                </c:pt>
                <c:pt idx="4">
                  <c:v>15.5</c:v>
                </c:pt>
              </c:numCache>
            </c:numRef>
          </c:val>
          <c:smooth val="0"/>
          <c:extLst>
            <c:ext xmlns:c16="http://schemas.microsoft.com/office/drawing/2014/chart" uri="{C3380CC4-5D6E-409C-BE32-E72D297353CC}">
              <c16:uniqueId val="{00000001-369A-485A-8998-230032DFE616}"/>
            </c:ext>
          </c:extLst>
        </c:ser>
        <c:ser>
          <c:idx val="2"/>
          <c:order val="2"/>
          <c:tx>
            <c:strRef>
              <c:f>Sheet1!$D$1</c:f>
              <c:strCache>
                <c:ptCount val="1"/>
                <c:pt idx="0">
                  <c:v>Entity_C (mid-2025)</c:v>
                </c:pt>
              </c:strCache>
            </c:strRef>
          </c:tx>
          <c:spPr>
            <a:ln w="31750" cap="flat">
              <a:solidFill>
                <a:srgbClr val="C93535"/>
              </a:solidFill>
              <a:prstDash val="solid"/>
              <a:round/>
            </a:ln>
            <a:effectLst/>
          </c:spPr>
          <c:marker>
            <c:symbol val="circle"/>
            <c:size val="7"/>
            <c:spPr>
              <a:solidFill>
                <a:srgbClr val="C93535"/>
              </a:solidFill>
              <a:ln w="9525" cap="flat">
                <a:solidFill>
                  <a:srgbClr val="C93535"/>
                </a:solidFill>
                <a:prstDash val="solid"/>
                <a:round/>
              </a:ln>
              <a:effectLst/>
            </c:spPr>
          </c:marker>
          <c:cat>
            <c:strRef>
              <c:f>Sheet1!$A$2:$A$7</c:f>
              <c:strCache>
                <c:ptCount val="6"/>
                <c:pt idx="0">
                  <c:v>3</c:v>
                </c:pt>
                <c:pt idx="1">
                  <c:v>6</c:v>
                </c:pt>
                <c:pt idx="2">
                  <c:v>9</c:v>
                </c:pt>
                <c:pt idx="3">
                  <c:v>12</c:v>
                </c:pt>
                <c:pt idx="4">
                  <c:v>18</c:v>
                </c:pt>
                <c:pt idx="5">
                  <c:v>24</c:v>
                </c:pt>
              </c:strCache>
            </c:strRef>
          </c:cat>
          <c:val>
            <c:numRef>
              <c:f>Sheet1!$D$2:$D$7</c:f>
              <c:numCache>
                <c:formatCode>General</c:formatCode>
                <c:ptCount val="6"/>
                <c:pt idx="0">
                  <c:v>8.1</c:v>
                </c:pt>
                <c:pt idx="1">
                  <c:v>9.1</c:v>
                </c:pt>
              </c:numCache>
            </c:numRef>
          </c:val>
          <c:smooth val="0"/>
          <c:extLst>
            <c:ext xmlns:c16="http://schemas.microsoft.com/office/drawing/2014/chart" uri="{C3380CC4-5D6E-409C-BE32-E72D297353CC}">
              <c16:uniqueId val="{00000002-369A-485A-8998-230032DFE616}"/>
            </c:ext>
          </c:extLst>
        </c:ser>
        <c:ser>
          <c:idx val="3"/>
          <c:order val="3"/>
          <c:tx>
            <c:strRef>
              <c:f>Sheet1!$E$1</c:f>
              <c:strCache>
                <c:ptCount val="1"/>
                <c:pt idx="0">
                  <c:v>NovaCorp-Origin</c:v>
                </c:pt>
              </c:strCache>
            </c:strRef>
          </c:tx>
          <c:spPr>
            <a:ln w="31750" cap="flat">
              <a:solidFill>
                <a:srgbClr val="8A8781"/>
              </a:solidFill>
              <a:prstDash val="solid"/>
              <a:round/>
            </a:ln>
            <a:effectLst/>
          </c:spPr>
          <c:marker>
            <c:symbol val="circle"/>
            <c:size val="7"/>
            <c:spPr>
              <a:solidFill>
                <a:srgbClr val="8A8781"/>
              </a:solidFill>
              <a:ln w="9525" cap="flat">
                <a:solidFill>
                  <a:srgbClr val="8A8781"/>
                </a:solidFill>
                <a:prstDash val="solid"/>
                <a:round/>
              </a:ln>
              <a:effectLst/>
            </c:spPr>
          </c:marker>
          <c:cat>
            <c:strRef>
              <c:f>Sheet1!$A$2:$A$7</c:f>
              <c:strCache>
                <c:ptCount val="6"/>
                <c:pt idx="0">
                  <c:v>3</c:v>
                </c:pt>
                <c:pt idx="1">
                  <c:v>6</c:v>
                </c:pt>
                <c:pt idx="2">
                  <c:v>9</c:v>
                </c:pt>
                <c:pt idx="3">
                  <c:v>12</c:v>
                </c:pt>
                <c:pt idx="4">
                  <c:v>18</c:v>
                </c:pt>
                <c:pt idx="5">
                  <c:v>24</c:v>
                </c:pt>
              </c:strCache>
            </c:strRef>
          </c:cat>
          <c:val>
            <c:numRef>
              <c:f>Sheet1!$E$2:$E$7</c:f>
              <c:numCache>
                <c:formatCode>General</c:formatCode>
                <c:ptCount val="6"/>
                <c:pt idx="0">
                  <c:v>0.2</c:v>
                </c:pt>
                <c:pt idx="1">
                  <c:v>0.2</c:v>
                </c:pt>
                <c:pt idx="2">
                  <c:v>0.2</c:v>
                </c:pt>
                <c:pt idx="3">
                  <c:v>0.2</c:v>
                </c:pt>
                <c:pt idx="4">
                  <c:v>0.3</c:v>
                </c:pt>
                <c:pt idx="5">
                  <c:v>0.3</c:v>
                </c:pt>
              </c:numCache>
            </c:numRef>
          </c:val>
          <c:smooth val="0"/>
          <c:extLst>
            <c:ext xmlns:c16="http://schemas.microsoft.com/office/drawing/2014/chart" uri="{C3380CC4-5D6E-409C-BE32-E72D297353CC}">
              <c16:uniqueId val="{00000003-369A-485A-8998-230032DFE61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8781"/>
                </a:solidFill>
                <a:latin typeface="Segoe UI"/>
              </a:defRPr>
            </a:pPr>
            <a:endParaRPr lang="en-US"/>
          </a:p>
        </c:txPr>
        <c:crossAx val="2094734552"/>
        <c:crosses val="autoZero"/>
        <c:auto val="1"/>
        <c:lblAlgn val="ctr"/>
        <c:lblOffset val="100"/>
        <c:noMultiLvlLbl val="1"/>
      </c:catAx>
      <c:valAx>
        <c:axId val="2094734552"/>
        <c:scaling>
          <c:orientation val="minMax"/>
          <c:max val="18"/>
          <c:min val="0"/>
        </c:scaling>
        <c:delete val="0"/>
        <c:axPos val="l"/>
        <c:majorGridlines>
          <c:spPr>
            <a:ln w="9525" cap="flat">
              <a:solidFill>
                <a:srgbClr val="DFDDD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781"/>
                </a:solidFill>
                <a:latin typeface="Segoe UI"/>
              </a:defRPr>
            </a:pPr>
            <a:endParaRPr lang="en-US"/>
          </a:p>
        </c:txPr>
        <c:crossAx val="2094734554"/>
        <c:crosses val="autoZero"/>
        <c:crossBetween val="between"/>
        <c:majorUnit val="6"/>
      </c:valAx>
      <c:spPr>
        <a:solidFill>
          <a:srgbClr val="FFFFFF"/>
        </a:solidFill>
        <a:ln w="12700" cap="flat">
          <a:solidFill>
            <a:srgbClr val="FFFFFF"/>
          </a:solidFill>
        </a:ln>
        <a:effectLst/>
      </c:spPr>
    </c:plotArea>
    <c:legend>
      <c:legendPos val="b"/>
      <c:overlay val="0"/>
      <c:txPr>
        <a:bodyPr/>
        <a:lstStyle/>
        <a:p>
          <a:pPr>
            <a:defRPr sz="950">
              <a:solidFill>
                <a:srgbClr val="4A4845"/>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337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reframe. The company believes it has an attrition problem and is chasing a sub-9.5% target. It does not. The cost is concentrated in people who stay.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seven departments reconcile to the decimal, so there is no ambiguity about what was computed. This is the first thing a CFO will recompute, so lead with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measures, deliberately not put on one axis. The point is the order of magnitude, not a precise ranking.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was re-derived. Every constant is Finance's. The only thing we changed is putting both sides on an annual basis, since their ranges are per year and the data covers two.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 the challenge: is 3.0 the right threshold? Answer with the sensitivity grid before they ask.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ethics slide as much as the analysis slide. Present the effect and the limit together, not the effect now and the limit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version of this slide includes what it cannot see. New starters are the population a CHRO most wants to watch and our estimate is silent about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forward-looking finding. Everything else describes what already happened. Entity_A's first six months were near flawless: one departure in 1,950 people. Whatever was done then was not repeated.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will push here. The point is that a rejected hypothesis, shown properly, protects the CHRO from spending on the wrong thing. Both of these were plausible enough that a less careful analysis would have recommended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224 career advancement plus 98 better opportunity figure is the single most actionable number in the deck. It says the intervention is career paths, not salary.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Ordered by speed to a measurable result, not by dollar size. That is deliberate: the biggest number is not the one you can prove first.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on the wording: not identified is not the same as no effect. A CHRO will hear the difference and it protects us if a later year shows something.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a single savings number, decline and point at this table. Exposure addressed is honest; a savings figure would not be.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Ethics is 20% of the marks and this is where it lives. Every one of these is a real constraint we found, not a generic disclaimer.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 reframe, not on a number. The measurement problem is the thread through all three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4"/>
        </a:solidFill>
        <a:effectLst/>
      </p:bgPr>
    </p:bg>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2A3340"/>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6E7A8A"/>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6E7A8A"/>
                </a:solidFill>
                <a:latin typeface="Consolas" pitchFamily="34" charset="0"/>
                <a:ea typeface="Consolas" pitchFamily="34" charset="-122"/>
                <a:cs typeface="Consolas" pitchFamily="34" charset="-120"/>
              </a:rPr>
              <a:t>01</a:t>
            </a:r>
            <a:endParaRPr lang="en-US" sz="800" dirty="0"/>
          </a:p>
        </p:txBody>
      </p:sp>
      <p:sp>
        <p:nvSpPr>
          <p:cNvPr id="5" name="Text 3"/>
          <p:cNvSpPr/>
          <p:nvPr/>
        </p:nvSpPr>
        <p:spPr>
          <a:xfrm>
            <a:off x="640080" y="1371600"/>
            <a:ext cx="10424160" cy="1554480"/>
          </a:xfrm>
          <a:prstGeom prst="rect">
            <a:avLst/>
          </a:prstGeom>
          <a:noFill/>
          <a:ln/>
        </p:spPr>
        <p:txBody>
          <a:bodyPr wrap="square" rtlCol="0" anchor="ctr"/>
          <a:lstStyle/>
          <a:p>
            <a:pPr marL="0" indent="0">
              <a:lnSpc>
                <a:spcPts val="4200"/>
              </a:lnSpc>
              <a:buNone/>
            </a:pPr>
            <a:r>
              <a:rPr lang="en-US" sz="3400" b="1" dirty="0">
                <a:solidFill>
                  <a:srgbClr val="FFFFFF"/>
                </a:solidFill>
                <a:latin typeface="Segoe UI" pitchFamily="34" charset="0"/>
                <a:ea typeface="Segoe UI" pitchFamily="34" charset="-122"/>
                <a:cs typeface="Segoe UI" pitchFamily="34" charset="-120"/>
              </a:rPr>
              <a:t>NovaCorp is not losing people quickly.</a:t>
            </a:r>
            <a:endParaRPr lang="en-US" sz="3400" dirty="0"/>
          </a:p>
          <a:p>
            <a:pPr marL="0" indent="0">
              <a:lnSpc>
                <a:spcPts val="4200"/>
              </a:lnSpc>
              <a:buNone/>
            </a:pPr>
            <a:r>
              <a:rPr lang="en-US" sz="3400" b="1" dirty="0">
                <a:solidFill>
                  <a:srgbClr val="FFFFFF"/>
                </a:solidFill>
                <a:latin typeface="Segoe UI" pitchFamily="34" charset="0"/>
                <a:ea typeface="Segoe UI" pitchFamily="34" charset="-122"/>
                <a:cs typeface="Segoe UI" pitchFamily="34" charset="-120"/>
              </a:rPr>
              <a:t>It is losing the wrong ones, quietly.</a:t>
            </a:r>
            <a:endParaRPr lang="en-US" sz="3400" dirty="0"/>
          </a:p>
        </p:txBody>
      </p:sp>
      <p:sp>
        <p:nvSpPr>
          <p:cNvPr id="6" name="Text 4"/>
          <p:cNvSpPr/>
          <p:nvPr/>
        </p:nvSpPr>
        <p:spPr>
          <a:xfrm>
            <a:off x="640080" y="2971800"/>
            <a:ext cx="10424160" cy="365760"/>
          </a:xfrm>
          <a:prstGeom prst="rect">
            <a:avLst/>
          </a:prstGeom>
          <a:noFill/>
          <a:ln/>
        </p:spPr>
        <p:txBody>
          <a:bodyPr wrap="square" rtlCol="0" anchor="ctr"/>
          <a:lstStyle/>
          <a:p>
            <a:pPr marL="0" indent="0">
              <a:buNone/>
            </a:pPr>
            <a:r>
              <a:rPr lang="en-US" sz="1400" dirty="0">
                <a:solidFill>
                  <a:srgbClr val="9BA7B5"/>
                </a:solidFill>
                <a:latin typeface="Segoe UI" pitchFamily="34" charset="0"/>
                <a:ea typeface="Segoe UI" pitchFamily="34" charset="-122"/>
                <a:cs typeface="Segoe UI" pitchFamily="34" charset="-120"/>
              </a:rPr>
              <a:t>What is driving the $42M people cost, and what the CHRO should do first</a:t>
            </a:r>
            <a:endParaRPr lang="en-US" sz="1400" dirty="0"/>
          </a:p>
        </p:txBody>
      </p:sp>
      <p:sp>
        <p:nvSpPr>
          <p:cNvPr id="7" name="Shape 5"/>
          <p:cNvSpPr/>
          <p:nvPr/>
        </p:nvSpPr>
        <p:spPr>
          <a:xfrm>
            <a:off x="640080" y="3749040"/>
            <a:ext cx="3291840" cy="1371600"/>
          </a:xfrm>
          <a:prstGeom prst="roundRect">
            <a:avLst>
              <a:gd name="adj" fmla="val 2667"/>
            </a:avLst>
          </a:prstGeom>
          <a:solidFill>
            <a:srgbClr val="1D2632"/>
          </a:solidFill>
          <a:ln/>
        </p:spPr>
        <p:txBody>
          <a:bodyPr/>
          <a:lstStyle/>
          <a:p>
            <a:endParaRPr lang="en-AU"/>
          </a:p>
        </p:txBody>
      </p:sp>
      <p:sp>
        <p:nvSpPr>
          <p:cNvPr id="8" name="Text 6"/>
          <p:cNvSpPr/>
          <p:nvPr/>
        </p:nvSpPr>
        <p:spPr>
          <a:xfrm>
            <a:off x="896112" y="3913632"/>
            <a:ext cx="2834640" cy="457200"/>
          </a:xfrm>
          <a:prstGeom prst="rect">
            <a:avLst/>
          </a:prstGeom>
          <a:noFill/>
          <a:ln/>
        </p:spPr>
        <p:txBody>
          <a:bodyPr wrap="square" lIns="0" tIns="0" rIns="0" bIns="0" rtlCol="0" anchor="ctr"/>
          <a:lstStyle/>
          <a:p>
            <a:pPr marL="0" indent="0">
              <a:buNone/>
            </a:pPr>
            <a:r>
              <a:rPr lang="en-US" sz="2700" b="1" dirty="0">
                <a:solidFill>
                  <a:srgbClr val="FFFFFF"/>
                </a:solidFill>
                <a:latin typeface="Segoe UI" pitchFamily="34" charset="0"/>
                <a:ea typeface="Segoe UI" pitchFamily="34" charset="-122"/>
                <a:cs typeface="Segoe UI" pitchFamily="34" charset="-120"/>
              </a:rPr>
              <a:t>4.7%</a:t>
            </a:r>
            <a:endParaRPr lang="en-US" sz="2700" dirty="0"/>
          </a:p>
        </p:txBody>
      </p:sp>
      <p:sp>
        <p:nvSpPr>
          <p:cNvPr id="9" name="Text 7"/>
          <p:cNvSpPr/>
          <p:nvPr/>
        </p:nvSpPr>
        <p:spPr>
          <a:xfrm>
            <a:off x="896112" y="4425696"/>
            <a:ext cx="2834640" cy="274320"/>
          </a:xfrm>
          <a:prstGeom prst="rect">
            <a:avLst/>
          </a:prstGeom>
          <a:noFill/>
          <a:ln/>
        </p:spPr>
        <p:txBody>
          <a:bodyPr wrap="square" lIns="0" tIns="0" rIns="0" bIns="0" rtlCol="0" anchor="ctr"/>
          <a:lstStyle/>
          <a:p>
            <a:pPr marL="0" indent="0">
              <a:buNone/>
            </a:pPr>
            <a:r>
              <a:rPr lang="en-US" sz="1100" dirty="0">
                <a:solidFill>
                  <a:srgbClr val="AEB9C6"/>
                </a:solidFill>
                <a:latin typeface="Segoe UI" pitchFamily="34" charset="0"/>
                <a:ea typeface="Segoe UI" pitchFamily="34" charset="-122"/>
                <a:cs typeface="Segoe UI" pitchFamily="34" charset="-120"/>
              </a:rPr>
              <a:t>true annual voluntary attrition</a:t>
            </a:r>
            <a:endParaRPr lang="en-US" sz="1100" dirty="0"/>
          </a:p>
        </p:txBody>
      </p:sp>
      <p:sp>
        <p:nvSpPr>
          <p:cNvPr id="10" name="Text 8"/>
          <p:cNvSpPr/>
          <p:nvPr/>
        </p:nvSpPr>
        <p:spPr>
          <a:xfrm>
            <a:off x="896112" y="4718304"/>
            <a:ext cx="2834640" cy="274320"/>
          </a:xfrm>
          <a:prstGeom prst="rect">
            <a:avLst/>
          </a:prstGeom>
          <a:noFill/>
          <a:ln/>
        </p:spPr>
        <p:txBody>
          <a:bodyPr wrap="square" lIns="0" tIns="0" rIns="0" bIns="0" rtlCol="0" anchor="ctr"/>
          <a:lstStyle/>
          <a:p>
            <a:pPr marL="0" indent="0">
              <a:buNone/>
            </a:pPr>
            <a:r>
              <a:rPr lang="en-US" sz="950" dirty="0">
                <a:solidFill>
                  <a:srgbClr val="6E7A8A"/>
                </a:solidFill>
                <a:latin typeface="Segoe UI" pitchFamily="34" charset="0"/>
                <a:ea typeface="Segoe UI" pitchFamily="34" charset="-122"/>
                <a:cs typeface="Segoe UI" pitchFamily="34" charset="-120"/>
              </a:rPr>
              <a:t>reported as 10.4%</a:t>
            </a:r>
            <a:endParaRPr lang="en-US" sz="950" dirty="0"/>
          </a:p>
        </p:txBody>
      </p:sp>
      <p:sp>
        <p:nvSpPr>
          <p:cNvPr id="11" name="Shape 9"/>
          <p:cNvSpPr/>
          <p:nvPr/>
        </p:nvSpPr>
        <p:spPr>
          <a:xfrm>
            <a:off x="4206240" y="3749040"/>
            <a:ext cx="3291840" cy="1371600"/>
          </a:xfrm>
          <a:prstGeom prst="roundRect">
            <a:avLst>
              <a:gd name="adj" fmla="val 2667"/>
            </a:avLst>
          </a:prstGeom>
          <a:solidFill>
            <a:srgbClr val="1D2632"/>
          </a:solidFill>
          <a:ln/>
        </p:spPr>
        <p:txBody>
          <a:bodyPr/>
          <a:lstStyle/>
          <a:p>
            <a:endParaRPr lang="en-AU"/>
          </a:p>
        </p:txBody>
      </p:sp>
      <p:sp>
        <p:nvSpPr>
          <p:cNvPr id="12" name="Text 10"/>
          <p:cNvSpPr/>
          <p:nvPr/>
        </p:nvSpPr>
        <p:spPr>
          <a:xfrm>
            <a:off x="4462272" y="3913632"/>
            <a:ext cx="2834640" cy="457200"/>
          </a:xfrm>
          <a:prstGeom prst="rect">
            <a:avLst/>
          </a:prstGeom>
          <a:noFill/>
          <a:ln/>
        </p:spPr>
        <p:txBody>
          <a:bodyPr wrap="square" lIns="0" tIns="0" rIns="0" bIns="0" rtlCol="0" anchor="ctr"/>
          <a:lstStyle/>
          <a:p>
            <a:pPr marL="0" indent="0">
              <a:buNone/>
            </a:pPr>
            <a:r>
              <a:rPr lang="en-US" sz="2700" b="1" dirty="0">
                <a:solidFill>
                  <a:srgbClr val="FFFFFF"/>
                </a:solidFill>
                <a:latin typeface="Segoe UI" pitchFamily="34" charset="0"/>
                <a:ea typeface="Segoe UI" pitchFamily="34" charset="-122"/>
                <a:cs typeface="Segoe UI" pitchFamily="34" charset="-120"/>
              </a:rPr>
              <a:t>$61.8M</a:t>
            </a:r>
            <a:endParaRPr lang="en-US" sz="2700" dirty="0"/>
          </a:p>
        </p:txBody>
      </p:sp>
      <p:sp>
        <p:nvSpPr>
          <p:cNvPr id="13" name="Text 11"/>
          <p:cNvSpPr/>
          <p:nvPr/>
        </p:nvSpPr>
        <p:spPr>
          <a:xfrm>
            <a:off x="4462272" y="4425696"/>
            <a:ext cx="2834640" cy="274320"/>
          </a:xfrm>
          <a:prstGeom prst="rect">
            <a:avLst/>
          </a:prstGeom>
          <a:noFill/>
          <a:ln/>
        </p:spPr>
        <p:txBody>
          <a:bodyPr wrap="square" lIns="0" tIns="0" rIns="0" bIns="0" rtlCol="0" anchor="ctr"/>
          <a:lstStyle/>
          <a:p>
            <a:pPr marL="0" indent="0">
              <a:buNone/>
            </a:pPr>
            <a:r>
              <a:rPr lang="en-US" sz="1100" dirty="0">
                <a:solidFill>
                  <a:srgbClr val="AEB9C6"/>
                </a:solidFill>
                <a:latin typeface="Segoe UI" pitchFamily="34" charset="0"/>
                <a:ea typeface="Segoe UI" pitchFamily="34" charset="-122"/>
                <a:cs typeface="Segoe UI" pitchFamily="34" charset="-120"/>
              </a:rPr>
              <a:t>cost of people who have not left</a:t>
            </a:r>
            <a:endParaRPr lang="en-US" sz="1100" dirty="0"/>
          </a:p>
        </p:txBody>
      </p:sp>
      <p:sp>
        <p:nvSpPr>
          <p:cNvPr id="14" name="Text 12"/>
          <p:cNvSpPr/>
          <p:nvPr/>
        </p:nvSpPr>
        <p:spPr>
          <a:xfrm>
            <a:off x="4462272" y="4718304"/>
            <a:ext cx="2834640" cy="274320"/>
          </a:xfrm>
          <a:prstGeom prst="rect">
            <a:avLst/>
          </a:prstGeom>
          <a:noFill/>
          <a:ln/>
        </p:spPr>
        <p:txBody>
          <a:bodyPr wrap="square" lIns="0" tIns="0" rIns="0" bIns="0" rtlCol="0" anchor="ctr"/>
          <a:lstStyle/>
          <a:p>
            <a:pPr marL="0" indent="0">
              <a:buNone/>
            </a:pPr>
            <a:r>
              <a:rPr lang="en-US" sz="950" dirty="0">
                <a:solidFill>
                  <a:srgbClr val="6E7A8A"/>
                </a:solidFill>
                <a:latin typeface="Segoe UI" pitchFamily="34" charset="0"/>
                <a:ea typeface="Segoe UI" pitchFamily="34" charset="-122"/>
                <a:cs typeface="Segoe UI" pitchFamily="34" charset="-120"/>
              </a:rPr>
              <a:t>4.1x Finance's assumption</a:t>
            </a:r>
            <a:endParaRPr lang="en-US" sz="950" dirty="0"/>
          </a:p>
        </p:txBody>
      </p:sp>
      <p:sp>
        <p:nvSpPr>
          <p:cNvPr id="15" name="Shape 13"/>
          <p:cNvSpPr/>
          <p:nvPr/>
        </p:nvSpPr>
        <p:spPr>
          <a:xfrm>
            <a:off x="7772400" y="3749040"/>
            <a:ext cx="3291840" cy="1371600"/>
          </a:xfrm>
          <a:prstGeom prst="roundRect">
            <a:avLst>
              <a:gd name="adj" fmla="val 2667"/>
            </a:avLst>
          </a:prstGeom>
          <a:solidFill>
            <a:srgbClr val="1D2632"/>
          </a:solidFill>
          <a:ln/>
        </p:spPr>
        <p:txBody>
          <a:bodyPr/>
          <a:lstStyle/>
          <a:p>
            <a:endParaRPr lang="en-AU"/>
          </a:p>
        </p:txBody>
      </p:sp>
      <p:sp>
        <p:nvSpPr>
          <p:cNvPr id="16" name="Text 14"/>
          <p:cNvSpPr/>
          <p:nvPr/>
        </p:nvSpPr>
        <p:spPr>
          <a:xfrm>
            <a:off x="8028432" y="3913632"/>
            <a:ext cx="2834640" cy="457200"/>
          </a:xfrm>
          <a:prstGeom prst="rect">
            <a:avLst/>
          </a:prstGeom>
          <a:noFill/>
          <a:ln/>
        </p:spPr>
        <p:txBody>
          <a:bodyPr wrap="square" lIns="0" tIns="0" rIns="0" bIns="0" rtlCol="0" anchor="ctr"/>
          <a:lstStyle/>
          <a:p>
            <a:pPr marL="0" indent="0">
              <a:buNone/>
            </a:pPr>
            <a:r>
              <a:rPr lang="en-US" sz="2700" b="1" dirty="0">
                <a:solidFill>
                  <a:srgbClr val="FFFFFF"/>
                </a:solidFill>
                <a:latin typeface="Segoe UI" pitchFamily="34" charset="0"/>
                <a:ea typeface="Segoe UI" pitchFamily="34" charset="-122"/>
                <a:cs typeface="Segoe UI" pitchFamily="34" charset="-120"/>
              </a:rPr>
              <a:t>1,014</a:t>
            </a:r>
            <a:endParaRPr lang="en-US" sz="2700" dirty="0"/>
          </a:p>
        </p:txBody>
      </p:sp>
      <p:sp>
        <p:nvSpPr>
          <p:cNvPr id="17" name="Text 15"/>
          <p:cNvSpPr/>
          <p:nvPr/>
        </p:nvSpPr>
        <p:spPr>
          <a:xfrm>
            <a:off x="8028432" y="4425696"/>
            <a:ext cx="2834640" cy="274320"/>
          </a:xfrm>
          <a:prstGeom prst="rect">
            <a:avLst/>
          </a:prstGeom>
          <a:noFill/>
          <a:ln/>
        </p:spPr>
        <p:txBody>
          <a:bodyPr wrap="square" lIns="0" tIns="0" rIns="0" bIns="0" rtlCol="0" anchor="ctr"/>
          <a:lstStyle/>
          <a:p>
            <a:pPr marL="0" indent="0">
              <a:buNone/>
            </a:pPr>
            <a:r>
              <a:rPr lang="en-US" sz="1100" dirty="0">
                <a:solidFill>
                  <a:srgbClr val="AEB9C6"/>
                </a:solidFill>
                <a:latin typeface="Segoe UI" pitchFamily="34" charset="0"/>
                <a:ea typeface="Segoe UI" pitchFamily="34" charset="-122"/>
                <a:cs typeface="Segoe UI" pitchFamily="34" charset="-120"/>
              </a:rPr>
              <a:t>employees in an open risk window</a:t>
            </a:r>
            <a:endParaRPr lang="en-US" sz="1100" dirty="0"/>
          </a:p>
        </p:txBody>
      </p:sp>
      <p:sp>
        <p:nvSpPr>
          <p:cNvPr id="18" name="Text 16"/>
          <p:cNvSpPr/>
          <p:nvPr/>
        </p:nvSpPr>
        <p:spPr>
          <a:xfrm>
            <a:off x="8028432" y="4718304"/>
            <a:ext cx="2834640" cy="274320"/>
          </a:xfrm>
          <a:prstGeom prst="rect">
            <a:avLst/>
          </a:prstGeom>
          <a:noFill/>
          <a:ln/>
        </p:spPr>
        <p:txBody>
          <a:bodyPr wrap="square" lIns="0" tIns="0" rIns="0" bIns="0" rtlCol="0" anchor="ctr"/>
          <a:lstStyle/>
          <a:p>
            <a:pPr marL="0" indent="0">
              <a:buNone/>
            </a:pPr>
            <a:r>
              <a:rPr lang="en-US" sz="950" dirty="0">
                <a:solidFill>
                  <a:srgbClr val="6E7A8A"/>
                </a:solidFill>
                <a:latin typeface="Segoe UI" pitchFamily="34" charset="0"/>
                <a:ea typeface="Segoe UI" pitchFamily="34" charset="-122"/>
                <a:cs typeface="Segoe UI" pitchFamily="34" charset="-120"/>
              </a:rPr>
              <a:t>$18.6M at stake</a:t>
            </a:r>
            <a:endParaRPr lang="en-US" sz="950" dirty="0"/>
          </a:p>
        </p:txBody>
      </p:sp>
      <p:sp>
        <p:nvSpPr>
          <p:cNvPr id="19" name="Text 17"/>
          <p:cNvSpPr/>
          <p:nvPr/>
        </p:nvSpPr>
        <p:spPr>
          <a:xfrm>
            <a:off x="640080" y="5577840"/>
            <a:ext cx="10424160" cy="274320"/>
          </a:xfrm>
          <a:prstGeom prst="rect">
            <a:avLst/>
          </a:prstGeom>
          <a:noFill/>
          <a:ln/>
        </p:spPr>
        <p:txBody>
          <a:bodyPr wrap="square" rtlCol="0" anchor="ctr"/>
          <a:lstStyle/>
          <a:p>
            <a:pPr marL="0" indent="0" algn="ctr">
              <a:buNone/>
            </a:pPr>
            <a:r>
              <a:rPr lang="en-US" sz="1000" dirty="0">
                <a:solidFill>
                  <a:srgbClr val="6E7A8A"/>
                </a:solidFill>
                <a:latin typeface="Segoe UI" pitchFamily="34" charset="0"/>
                <a:ea typeface="Segoe UI" pitchFamily="34" charset="-122"/>
                <a:cs typeface="Segoe UI" pitchFamily="34" charset="-120"/>
              </a:rPr>
              <a:t>13,403 employee records  •  1,400 departures  •  55,971 survey responses  •  34,979 performance reviews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02</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Start here: the attrition rate on page 8 is not what it says</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We reproduced the published 10.4% exactly. Reproducing it is what shows the problem.</a:t>
            </a:r>
            <a:endParaRPr lang="en-US" sz="1250" dirty="0"/>
          </a:p>
        </p:txBody>
      </p:sp>
      <p:sp>
        <p:nvSpPr>
          <p:cNvPr id="7" name="Shape 5"/>
          <p:cNvSpPr/>
          <p:nvPr/>
        </p:nvSpPr>
        <p:spPr>
          <a:xfrm>
            <a:off x="548640" y="1645920"/>
            <a:ext cx="5394960" cy="2286000"/>
          </a:xfrm>
          <a:prstGeom prst="roundRect">
            <a:avLst>
              <a:gd name="adj" fmla="val 1200"/>
            </a:avLst>
          </a:prstGeom>
          <a:solidFill>
            <a:srgbClr val="F5F4F0"/>
          </a:solidFill>
          <a:ln w="9525">
            <a:solidFill>
              <a:srgbClr val="DFDDD6"/>
            </a:solidFill>
            <a:prstDash val="solid"/>
          </a:ln>
        </p:spPr>
        <p:txBody>
          <a:bodyPr/>
          <a:lstStyle/>
          <a:p>
            <a:endParaRPr lang="en-AU"/>
          </a:p>
        </p:txBody>
      </p:sp>
      <p:sp>
        <p:nvSpPr>
          <p:cNvPr id="8" name="Text 6"/>
          <p:cNvSpPr/>
          <p:nvPr/>
        </p:nvSpPr>
        <p:spPr>
          <a:xfrm>
            <a:off x="777240" y="1874520"/>
            <a:ext cx="3749040" cy="274320"/>
          </a:xfrm>
          <a:prstGeom prst="rect">
            <a:avLst/>
          </a:prstGeom>
          <a:noFill/>
          <a:ln/>
        </p:spPr>
        <p:txBody>
          <a:bodyPr wrap="square" lIns="0" tIns="0" rIns="0" bIns="0" rtlCol="0" anchor="ctr"/>
          <a:lstStyle/>
          <a:p>
            <a:pPr marL="0" indent="0">
              <a:buNone/>
            </a:pPr>
            <a:r>
              <a:rPr lang="en-US" sz="1100" dirty="0">
                <a:solidFill>
                  <a:srgbClr val="4A4845"/>
                </a:solidFill>
                <a:latin typeface="Segoe UI" pitchFamily="34" charset="0"/>
                <a:ea typeface="Segoe UI" pitchFamily="34" charset="-122"/>
                <a:cs typeface="Segoe UI" pitchFamily="34" charset="-120"/>
              </a:rPr>
              <a:t>Full historical roster</a:t>
            </a:r>
            <a:endParaRPr lang="en-US" sz="1100" dirty="0"/>
          </a:p>
        </p:txBody>
      </p:sp>
      <p:sp>
        <p:nvSpPr>
          <p:cNvPr id="9" name="Text 7"/>
          <p:cNvSpPr/>
          <p:nvPr/>
        </p:nvSpPr>
        <p:spPr>
          <a:xfrm>
            <a:off x="4480560" y="1874520"/>
            <a:ext cx="1280160" cy="274320"/>
          </a:xfrm>
          <a:prstGeom prst="rect">
            <a:avLst/>
          </a:prstGeom>
          <a:noFill/>
          <a:ln/>
        </p:spPr>
        <p:txBody>
          <a:bodyPr wrap="square" lIns="0" tIns="0" rIns="0" bIns="0" rtlCol="0" anchor="ctr"/>
          <a:lstStyle/>
          <a:p>
            <a:pPr marL="0" indent="0" algn="r">
              <a:buNone/>
            </a:pPr>
            <a:r>
              <a:rPr lang="en-US" sz="1100" b="1" dirty="0">
                <a:solidFill>
                  <a:srgbClr val="12100E"/>
                </a:solidFill>
                <a:latin typeface="Consolas" pitchFamily="34" charset="0"/>
                <a:ea typeface="Consolas" pitchFamily="34" charset="-122"/>
                <a:cs typeface="Consolas" pitchFamily="34" charset="-120"/>
              </a:rPr>
              <a:t>13,403</a:t>
            </a:r>
            <a:endParaRPr lang="en-US" sz="1100" dirty="0"/>
          </a:p>
        </p:txBody>
      </p:sp>
      <p:sp>
        <p:nvSpPr>
          <p:cNvPr id="10" name="Shape 8"/>
          <p:cNvSpPr/>
          <p:nvPr/>
        </p:nvSpPr>
        <p:spPr>
          <a:xfrm>
            <a:off x="777240" y="2203704"/>
            <a:ext cx="4983480" cy="5486"/>
          </a:xfrm>
          <a:prstGeom prst="rect">
            <a:avLst/>
          </a:prstGeom>
          <a:solidFill>
            <a:srgbClr val="DFDDD6"/>
          </a:solidFill>
          <a:ln/>
        </p:spPr>
        <p:txBody>
          <a:bodyPr/>
          <a:lstStyle/>
          <a:p>
            <a:endParaRPr lang="en-AU"/>
          </a:p>
        </p:txBody>
      </p:sp>
      <p:sp>
        <p:nvSpPr>
          <p:cNvPr id="11" name="Text 9"/>
          <p:cNvSpPr/>
          <p:nvPr/>
        </p:nvSpPr>
        <p:spPr>
          <a:xfrm>
            <a:off x="777240" y="2350008"/>
            <a:ext cx="3749040" cy="274320"/>
          </a:xfrm>
          <a:prstGeom prst="rect">
            <a:avLst/>
          </a:prstGeom>
          <a:noFill/>
          <a:ln/>
        </p:spPr>
        <p:txBody>
          <a:bodyPr wrap="square" lIns="0" tIns="0" rIns="0" bIns="0" rtlCol="0" anchor="ctr"/>
          <a:lstStyle/>
          <a:p>
            <a:pPr marL="0" indent="0">
              <a:buNone/>
            </a:pPr>
            <a:r>
              <a:rPr lang="en-US" sz="1100" dirty="0">
                <a:solidFill>
                  <a:srgbClr val="4A4845"/>
                </a:solidFill>
                <a:latin typeface="Segoe UI" pitchFamily="34" charset="0"/>
                <a:ea typeface="Segoe UI" pitchFamily="34" charset="-122"/>
                <a:cs typeface="Segoe UI" pitchFamily="34" charset="-120"/>
              </a:rPr>
              <a:t>Still employed today</a:t>
            </a:r>
            <a:endParaRPr lang="en-US" sz="1100" dirty="0"/>
          </a:p>
        </p:txBody>
      </p:sp>
      <p:sp>
        <p:nvSpPr>
          <p:cNvPr id="12" name="Text 10"/>
          <p:cNvSpPr/>
          <p:nvPr/>
        </p:nvSpPr>
        <p:spPr>
          <a:xfrm>
            <a:off x="4480560" y="2350008"/>
            <a:ext cx="1280160" cy="274320"/>
          </a:xfrm>
          <a:prstGeom prst="rect">
            <a:avLst/>
          </a:prstGeom>
          <a:noFill/>
          <a:ln/>
        </p:spPr>
        <p:txBody>
          <a:bodyPr wrap="square" lIns="0" tIns="0" rIns="0" bIns="0" rtlCol="0" anchor="ctr"/>
          <a:lstStyle/>
          <a:p>
            <a:pPr marL="0" indent="0" algn="r">
              <a:buNone/>
            </a:pPr>
            <a:r>
              <a:rPr lang="en-US" sz="1100" b="1" dirty="0">
                <a:solidFill>
                  <a:srgbClr val="12100E"/>
                </a:solidFill>
                <a:latin typeface="Consolas" pitchFamily="34" charset="0"/>
                <a:ea typeface="Consolas" pitchFamily="34" charset="-122"/>
                <a:cs typeface="Consolas" pitchFamily="34" charset="-120"/>
              </a:rPr>
              <a:t>12,003</a:t>
            </a:r>
            <a:endParaRPr lang="en-US" sz="1100" dirty="0"/>
          </a:p>
        </p:txBody>
      </p:sp>
      <p:sp>
        <p:nvSpPr>
          <p:cNvPr id="13" name="Shape 11"/>
          <p:cNvSpPr/>
          <p:nvPr/>
        </p:nvSpPr>
        <p:spPr>
          <a:xfrm>
            <a:off x="777240" y="2679192"/>
            <a:ext cx="4983480" cy="5486"/>
          </a:xfrm>
          <a:prstGeom prst="rect">
            <a:avLst/>
          </a:prstGeom>
          <a:solidFill>
            <a:srgbClr val="DFDDD6"/>
          </a:solidFill>
          <a:ln/>
        </p:spPr>
        <p:txBody>
          <a:bodyPr/>
          <a:lstStyle/>
          <a:p>
            <a:endParaRPr lang="en-AU"/>
          </a:p>
        </p:txBody>
      </p:sp>
      <p:sp>
        <p:nvSpPr>
          <p:cNvPr id="14" name="Text 12"/>
          <p:cNvSpPr/>
          <p:nvPr/>
        </p:nvSpPr>
        <p:spPr>
          <a:xfrm>
            <a:off x="777240" y="2825496"/>
            <a:ext cx="3749040" cy="274320"/>
          </a:xfrm>
          <a:prstGeom prst="rect">
            <a:avLst/>
          </a:prstGeom>
          <a:noFill/>
          <a:ln/>
        </p:spPr>
        <p:txBody>
          <a:bodyPr wrap="square" lIns="0" tIns="0" rIns="0" bIns="0" rtlCol="0" anchor="ctr"/>
          <a:lstStyle/>
          <a:p>
            <a:pPr marL="0" indent="0">
              <a:buNone/>
            </a:pPr>
            <a:r>
              <a:rPr lang="en-US" sz="1100" dirty="0">
                <a:solidFill>
                  <a:srgbClr val="4A4845"/>
                </a:solidFill>
                <a:latin typeface="Segoe UI" pitchFamily="34" charset="0"/>
                <a:ea typeface="Segoe UI" pitchFamily="34" charset="-122"/>
                <a:cs typeface="Segoe UI" pitchFamily="34" charset="-120"/>
              </a:rPr>
              <a:t>Difference: all departures, 24 months</a:t>
            </a:r>
            <a:endParaRPr lang="en-US" sz="1100" dirty="0"/>
          </a:p>
        </p:txBody>
      </p:sp>
      <p:sp>
        <p:nvSpPr>
          <p:cNvPr id="15" name="Text 13"/>
          <p:cNvSpPr/>
          <p:nvPr/>
        </p:nvSpPr>
        <p:spPr>
          <a:xfrm>
            <a:off x="4480560" y="2825496"/>
            <a:ext cx="1280160" cy="274320"/>
          </a:xfrm>
          <a:prstGeom prst="rect">
            <a:avLst/>
          </a:prstGeom>
          <a:noFill/>
          <a:ln/>
        </p:spPr>
        <p:txBody>
          <a:bodyPr wrap="square" lIns="0" tIns="0" rIns="0" bIns="0" rtlCol="0" anchor="ctr"/>
          <a:lstStyle/>
          <a:p>
            <a:pPr marL="0" indent="0" algn="r">
              <a:buNone/>
            </a:pPr>
            <a:r>
              <a:rPr lang="en-US" sz="1100" b="1" dirty="0">
                <a:solidFill>
                  <a:srgbClr val="12100E"/>
                </a:solidFill>
                <a:latin typeface="Consolas" pitchFamily="34" charset="0"/>
                <a:ea typeface="Consolas" pitchFamily="34" charset="-122"/>
                <a:cs typeface="Consolas" pitchFamily="34" charset="-120"/>
              </a:rPr>
              <a:t>1,400</a:t>
            </a:r>
            <a:endParaRPr lang="en-US" sz="1100" dirty="0"/>
          </a:p>
        </p:txBody>
      </p:sp>
      <p:sp>
        <p:nvSpPr>
          <p:cNvPr id="16" name="Shape 14"/>
          <p:cNvSpPr/>
          <p:nvPr/>
        </p:nvSpPr>
        <p:spPr>
          <a:xfrm>
            <a:off x="777240" y="3154680"/>
            <a:ext cx="4983480" cy="5486"/>
          </a:xfrm>
          <a:prstGeom prst="rect">
            <a:avLst/>
          </a:prstGeom>
          <a:solidFill>
            <a:srgbClr val="DFDDD6"/>
          </a:solidFill>
          <a:ln/>
        </p:spPr>
        <p:txBody>
          <a:bodyPr/>
          <a:lstStyle/>
          <a:p>
            <a:endParaRPr lang="en-AU"/>
          </a:p>
        </p:txBody>
      </p:sp>
      <p:sp>
        <p:nvSpPr>
          <p:cNvPr id="17" name="Text 15"/>
          <p:cNvSpPr/>
          <p:nvPr/>
        </p:nvSpPr>
        <p:spPr>
          <a:xfrm>
            <a:off x="777240" y="3300984"/>
            <a:ext cx="374904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1,400 ÷ 13,403</a:t>
            </a:r>
            <a:endParaRPr lang="en-US" sz="1100" dirty="0"/>
          </a:p>
        </p:txBody>
      </p:sp>
      <p:sp>
        <p:nvSpPr>
          <p:cNvPr id="18" name="Text 16"/>
          <p:cNvSpPr/>
          <p:nvPr/>
        </p:nvSpPr>
        <p:spPr>
          <a:xfrm>
            <a:off x="4480560" y="3300984"/>
            <a:ext cx="1280160" cy="274320"/>
          </a:xfrm>
          <a:prstGeom prst="rect">
            <a:avLst/>
          </a:prstGeom>
          <a:noFill/>
          <a:ln/>
        </p:spPr>
        <p:txBody>
          <a:bodyPr wrap="square" lIns="0" tIns="0" rIns="0" bIns="0" rtlCol="0" anchor="ctr"/>
          <a:lstStyle/>
          <a:p>
            <a:pPr marL="0" indent="0" algn="r">
              <a:buNone/>
            </a:pPr>
            <a:r>
              <a:rPr lang="en-US" sz="1100" b="1" dirty="0">
                <a:solidFill>
                  <a:srgbClr val="A8460F"/>
                </a:solidFill>
                <a:latin typeface="Consolas" pitchFamily="34" charset="0"/>
                <a:ea typeface="Consolas" pitchFamily="34" charset="-122"/>
                <a:cs typeface="Consolas" pitchFamily="34" charset="-120"/>
              </a:rPr>
              <a:t>10.4%</a:t>
            </a:r>
            <a:endParaRPr lang="en-US" sz="1100" dirty="0"/>
          </a:p>
        </p:txBody>
      </p:sp>
      <p:sp>
        <p:nvSpPr>
          <p:cNvPr id="19" name="Shape 17"/>
          <p:cNvSpPr/>
          <p:nvPr/>
        </p:nvSpPr>
        <p:spPr>
          <a:xfrm>
            <a:off x="6263640" y="1645920"/>
            <a:ext cx="5376672" cy="2286000"/>
          </a:xfrm>
          <a:prstGeom prst="roundRect">
            <a:avLst>
              <a:gd name="adj" fmla="val 1200"/>
            </a:avLst>
          </a:prstGeom>
          <a:solidFill>
            <a:srgbClr val="FFFFFF"/>
          </a:solidFill>
          <a:ln w="9525">
            <a:solidFill>
              <a:srgbClr val="DFDDD6"/>
            </a:solidFill>
            <a:prstDash val="solid"/>
          </a:ln>
        </p:spPr>
        <p:txBody>
          <a:bodyPr/>
          <a:lstStyle/>
          <a:p>
            <a:endParaRPr lang="en-AU"/>
          </a:p>
        </p:txBody>
      </p:sp>
      <p:sp>
        <p:nvSpPr>
          <p:cNvPr id="20" name="Text 18"/>
          <p:cNvSpPr/>
          <p:nvPr/>
        </p:nvSpPr>
        <p:spPr>
          <a:xfrm>
            <a:off x="6483096" y="1792224"/>
            <a:ext cx="4937760" cy="237744"/>
          </a:xfrm>
          <a:prstGeom prst="rect">
            <a:avLst/>
          </a:prstGeom>
          <a:noFill/>
          <a:ln/>
        </p:spPr>
        <p:txBody>
          <a:bodyPr wrap="square" lIns="0" tIns="0" rIns="0" bIns="0" rtlCol="0" anchor="ctr"/>
          <a:lstStyle/>
          <a:p>
            <a:pPr marL="0" indent="0">
              <a:buNone/>
            </a:pPr>
            <a:r>
              <a:rPr lang="en-US" sz="900" b="1" kern="0" spc="100" dirty="0">
                <a:solidFill>
                  <a:srgbClr val="A8460F"/>
                </a:solidFill>
                <a:latin typeface="Consolas" pitchFamily="34" charset="0"/>
                <a:ea typeface="Consolas" pitchFamily="34" charset="-122"/>
                <a:cs typeface="Consolas" pitchFamily="34" charset="-120"/>
              </a:rPr>
              <a:t>THREE THINGS THE LABEL GETS WRONG</a:t>
            </a:r>
            <a:endParaRPr lang="en-US" sz="900" dirty="0"/>
          </a:p>
        </p:txBody>
      </p:sp>
      <p:sp>
        <p:nvSpPr>
          <p:cNvPr id="21" name="Text 19"/>
          <p:cNvSpPr/>
          <p:nvPr/>
        </p:nvSpPr>
        <p:spPr>
          <a:xfrm>
            <a:off x="6483096" y="2103120"/>
            <a:ext cx="4937760" cy="164592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Not voluntary. 267 of the 1,400 were involuntary exits.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Not annual. The window is 24 months, not 12.</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Not headcount. The denominator counts everyone who ever left.</a:t>
            </a:r>
            <a:endParaRPr lang="en-US" sz="1150" dirty="0"/>
          </a:p>
        </p:txBody>
      </p:sp>
      <p:sp>
        <p:nvSpPr>
          <p:cNvPr id="22" name="Shape 20"/>
          <p:cNvSpPr/>
          <p:nvPr/>
        </p:nvSpPr>
        <p:spPr>
          <a:xfrm>
            <a:off x="548640" y="4160520"/>
            <a:ext cx="3520440" cy="1371600"/>
          </a:xfrm>
          <a:prstGeom prst="roundRect">
            <a:avLst>
              <a:gd name="adj" fmla="val 2667"/>
            </a:avLst>
          </a:prstGeom>
          <a:solidFill>
            <a:srgbClr val="F5F4F0"/>
          </a:solidFill>
          <a:ln w="9525">
            <a:solidFill>
              <a:srgbClr val="DFDDD6"/>
            </a:solidFill>
            <a:prstDash val="solid"/>
          </a:ln>
        </p:spPr>
        <p:txBody>
          <a:bodyPr/>
          <a:lstStyle/>
          <a:p>
            <a:endParaRPr lang="en-AU"/>
          </a:p>
        </p:txBody>
      </p:sp>
      <p:sp>
        <p:nvSpPr>
          <p:cNvPr id="23" name="Text 21"/>
          <p:cNvSpPr/>
          <p:nvPr/>
        </p:nvSpPr>
        <p:spPr>
          <a:xfrm>
            <a:off x="749808" y="4306824"/>
            <a:ext cx="3118104" cy="502920"/>
          </a:xfrm>
          <a:prstGeom prst="rect">
            <a:avLst/>
          </a:prstGeom>
          <a:noFill/>
          <a:ln/>
        </p:spPr>
        <p:txBody>
          <a:bodyPr wrap="square" lIns="0" tIns="0" rIns="0" bIns="0" rtlCol="0" anchor="ctr"/>
          <a:lstStyle/>
          <a:p>
            <a:pPr marL="0" indent="0">
              <a:buNone/>
            </a:pPr>
            <a:r>
              <a:rPr lang="en-US" sz="2600" b="1" dirty="0">
                <a:solidFill>
                  <a:srgbClr val="1F5FAE"/>
                </a:solidFill>
                <a:latin typeface="Segoe UI" pitchFamily="34" charset="0"/>
                <a:ea typeface="Segoe UI" pitchFamily="34" charset="-122"/>
                <a:cs typeface="Segoe UI" pitchFamily="34" charset="-120"/>
              </a:rPr>
              <a:t>4.7%</a:t>
            </a:r>
            <a:endParaRPr lang="en-US" sz="2600" dirty="0"/>
          </a:p>
        </p:txBody>
      </p:sp>
      <p:sp>
        <p:nvSpPr>
          <p:cNvPr id="24" name="Text 22"/>
          <p:cNvSpPr/>
          <p:nvPr/>
        </p:nvSpPr>
        <p:spPr>
          <a:xfrm>
            <a:off x="749808" y="4818888"/>
            <a:ext cx="3118104"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True annual voluntary attrition</a:t>
            </a:r>
            <a:endParaRPr lang="en-US" sz="1050" dirty="0"/>
          </a:p>
        </p:txBody>
      </p:sp>
      <p:sp>
        <p:nvSpPr>
          <p:cNvPr id="25" name="Text 23"/>
          <p:cNvSpPr/>
          <p:nvPr/>
        </p:nvSpPr>
        <p:spPr>
          <a:xfrm>
            <a:off x="749808" y="5129784"/>
            <a:ext cx="3118104" cy="310896"/>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1,133 voluntary exits over two years</a:t>
            </a:r>
            <a:endParaRPr lang="en-US" sz="900" dirty="0"/>
          </a:p>
        </p:txBody>
      </p:sp>
      <p:sp>
        <p:nvSpPr>
          <p:cNvPr id="26" name="Shape 24"/>
          <p:cNvSpPr/>
          <p:nvPr/>
        </p:nvSpPr>
        <p:spPr>
          <a:xfrm>
            <a:off x="4315968" y="4160520"/>
            <a:ext cx="3520440" cy="1371600"/>
          </a:xfrm>
          <a:prstGeom prst="roundRect">
            <a:avLst>
              <a:gd name="adj" fmla="val 2667"/>
            </a:avLst>
          </a:prstGeom>
          <a:solidFill>
            <a:srgbClr val="F5F4F0"/>
          </a:solidFill>
          <a:ln w="9525">
            <a:solidFill>
              <a:srgbClr val="DFDDD6"/>
            </a:solidFill>
            <a:prstDash val="solid"/>
          </a:ln>
        </p:spPr>
        <p:txBody>
          <a:bodyPr/>
          <a:lstStyle/>
          <a:p>
            <a:endParaRPr lang="en-AU"/>
          </a:p>
        </p:txBody>
      </p:sp>
      <p:sp>
        <p:nvSpPr>
          <p:cNvPr id="27" name="Text 25"/>
          <p:cNvSpPr/>
          <p:nvPr/>
        </p:nvSpPr>
        <p:spPr>
          <a:xfrm>
            <a:off x="4517136" y="4306824"/>
            <a:ext cx="3118104" cy="502920"/>
          </a:xfrm>
          <a:prstGeom prst="rect">
            <a:avLst/>
          </a:prstGeom>
          <a:noFill/>
          <a:ln/>
        </p:spPr>
        <p:txBody>
          <a:bodyPr wrap="square" lIns="0" tIns="0" rIns="0" bIns="0" rtlCol="0" anchor="ctr"/>
          <a:lstStyle/>
          <a:p>
            <a:pPr marL="0" indent="0">
              <a:buNone/>
            </a:pPr>
            <a:r>
              <a:rPr lang="en-US" sz="2600" b="1" dirty="0">
                <a:solidFill>
                  <a:srgbClr val="A8460F"/>
                </a:solidFill>
                <a:latin typeface="Segoe UI" pitchFamily="34" charset="0"/>
                <a:ea typeface="Segoe UI" pitchFamily="34" charset="-122"/>
                <a:cs typeface="Segoe UI" pitchFamily="34" charset="-120"/>
              </a:rPr>
              <a:t>10.4%</a:t>
            </a:r>
            <a:endParaRPr lang="en-US" sz="2600" dirty="0"/>
          </a:p>
        </p:txBody>
      </p:sp>
      <p:sp>
        <p:nvSpPr>
          <p:cNvPr id="28" name="Text 26"/>
          <p:cNvSpPr/>
          <p:nvPr/>
        </p:nvSpPr>
        <p:spPr>
          <a:xfrm>
            <a:off x="4517136" y="4818888"/>
            <a:ext cx="3118104"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What FY2026 guidance targets from</a:t>
            </a:r>
            <a:endParaRPr lang="en-US" sz="1050" dirty="0"/>
          </a:p>
        </p:txBody>
      </p:sp>
      <p:sp>
        <p:nvSpPr>
          <p:cNvPr id="29" name="Text 27"/>
          <p:cNvSpPr/>
          <p:nvPr/>
        </p:nvSpPr>
        <p:spPr>
          <a:xfrm>
            <a:off x="4517136" y="5129784"/>
            <a:ext cx="3118104" cy="310896"/>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the sub-9.5% goal is measured on this</a:t>
            </a:r>
            <a:endParaRPr lang="en-US" sz="900" dirty="0"/>
          </a:p>
        </p:txBody>
      </p:sp>
      <p:sp>
        <p:nvSpPr>
          <p:cNvPr id="30" name="Shape 28"/>
          <p:cNvSpPr/>
          <p:nvPr/>
        </p:nvSpPr>
        <p:spPr>
          <a:xfrm>
            <a:off x="8092440" y="4160520"/>
            <a:ext cx="3547872" cy="1371600"/>
          </a:xfrm>
          <a:prstGeom prst="roundRect">
            <a:avLst>
              <a:gd name="adj" fmla="val 2667"/>
            </a:avLst>
          </a:prstGeom>
          <a:solidFill>
            <a:srgbClr val="F5F4F0"/>
          </a:solidFill>
          <a:ln w="9525">
            <a:solidFill>
              <a:srgbClr val="DFDDD6"/>
            </a:solidFill>
            <a:prstDash val="solid"/>
          </a:ln>
        </p:spPr>
        <p:txBody>
          <a:bodyPr/>
          <a:lstStyle/>
          <a:p>
            <a:endParaRPr lang="en-AU"/>
          </a:p>
        </p:txBody>
      </p:sp>
      <p:sp>
        <p:nvSpPr>
          <p:cNvPr id="31" name="Text 29"/>
          <p:cNvSpPr/>
          <p:nvPr/>
        </p:nvSpPr>
        <p:spPr>
          <a:xfrm>
            <a:off x="8293608" y="4306824"/>
            <a:ext cx="3145536" cy="502920"/>
          </a:xfrm>
          <a:prstGeom prst="rect">
            <a:avLst/>
          </a:prstGeom>
          <a:noFill/>
          <a:ln/>
        </p:spPr>
        <p:txBody>
          <a:bodyPr wrap="square" lIns="0" tIns="0" rIns="0" bIns="0" rtlCol="0" anchor="ctr"/>
          <a:lstStyle/>
          <a:p>
            <a:pPr marL="0" indent="0">
              <a:buNone/>
            </a:pPr>
            <a:r>
              <a:rPr lang="en-US" sz="2600" b="1" dirty="0">
                <a:solidFill>
                  <a:srgbClr val="12100E"/>
                </a:solidFill>
                <a:latin typeface="Segoe UI" pitchFamily="34" charset="0"/>
                <a:ea typeface="Segoe UI" pitchFamily="34" charset="-122"/>
                <a:cs typeface="Segoe UI" pitchFamily="34" charset="-120"/>
              </a:rPr>
              <a:t>7 of 7</a:t>
            </a:r>
            <a:endParaRPr lang="en-US" sz="2600" dirty="0"/>
          </a:p>
        </p:txBody>
      </p:sp>
      <p:sp>
        <p:nvSpPr>
          <p:cNvPr id="32" name="Text 30"/>
          <p:cNvSpPr/>
          <p:nvPr/>
        </p:nvSpPr>
        <p:spPr>
          <a:xfrm>
            <a:off x="8293608" y="4818888"/>
            <a:ext cx="3145536"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departments reconcile exactly</a:t>
            </a:r>
            <a:endParaRPr lang="en-US" sz="1050" dirty="0"/>
          </a:p>
        </p:txBody>
      </p:sp>
      <p:sp>
        <p:nvSpPr>
          <p:cNvPr id="33" name="Text 31"/>
          <p:cNvSpPr/>
          <p:nvPr/>
        </p:nvSpPr>
        <p:spPr>
          <a:xfrm>
            <a:off x="8293608" y="5129784"/>
            <a:ext cx="3145536" cy="310896"/>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on the same formula, to the decimal</a:t>
            </a:r>
            <a:endParaRPr lang="en-US" sz="900" dirty="0"/>
          </a:p>
        </p:txBody>
      </p:sp>
      <p:sp>
        <p:nvSpPr>
          <p:cNvPr id="34" name="Shape 32"/>
          <p:cNvSpPr/>
          <p:nvPr/>
        </p:nvSpPr>
        <p:spPr>
          <a:xfrm>
            <a:off x="548640" y="5760720"/>
            <a:ext cx="27432" cy="457200"/>
          </a:xfrm>
          <a:prstGeom prst="rect">
            <a:avLst/>
          </a:prstGeom>
          <a:solidFill>
            <a:srgbClr val="C98A10"/>
          </a:solidFill>
          <a:ln/>
        </p:spPr>
        <p:txBody>
          <a:bodyPr/>
          <a:lstStyle/>
          <a:p>
            <a:endParaRPr lang="en-AU"/>
          </a:p>
        </p:txBody>
      </p:sp>
      <p:sp>
        <p:nvSpPr>
          <p:cNvPr id="35" name="Text 33"/>
          <p:cNvSpPr/>
          <p:nvPr/>
        </p:nvSpPr>
        <p:spPr>
          <a:xfrm>
            <a:off x="713232" y="5724144"/>
            <a:ext cx="10817352" cy="53035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What this means: the FY2026 target of sub-9.5% attrition is already met, twice over, and has been for both years in the data. A retention programme could succeed or fail without that number moving.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03</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Against the market, NovaCorp keeps its people well</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Which changes the question from how many leave, to which ones.</a:t>
            </a:r>
            <a:endParaRPr lang="en-US" sz="1250" dirty="0"/>
          </a:p>
        </p:txBody>
      </p:sp>
      <p:sp>
        <p:nvSpPr>
          <p:cNvPr id="7" name="Text 5"/>
          <p:cNvSpPr/>
          <p:nvPr/>
        </p:nvSpPr>
        <p:spPr>
          <a:xfrm>
            <a:off x="548640" y="1901952"/>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NovaCorp, corrected</a:t>
            </a:r>
            <a:endParaRPr lang="en-US" sz="1100" dirty="0"/>
          </a:p>
        </p:txBody>
      </p:sp>
      <p:sp>
        <p:nvSpPr>
          <p:cNvPr id="8" name="Shape 6"/>
          <p:cNvSpPr/>
          <p:nvPr/>
        </p:nvSpPr>
        <p:spPr>
          <a:xfrm>
            <a:off x="3108960" y="1956816"/>
            <a:ext cx="3383280" cy="201168"/>
          </a:xfrm>
          <a:prstGeom prst="rect">
            <a:avLst/>
          </a:prstGeom>
          <a:solidFill>
            <a:srgbClr val="F5F4F0"/>
          </a:solidFill>
          <a:ln/>
        </p:spPr>
        <p:txBody>
          <a:bodyPr/>
          <a:lstStyle/>
          <a:p>
            <a:endParaRPr lang="en-AU"/>
          </a:p>
        </p:txBody>
      </p:sp>
      <p:sp>
        <p:nvSpPr>
          <p:cNvPr id="9" name="Shape 7"/>
          <p:cNvSpPr/>
          <p:nvPr/>
        </p:nvSpPr>
        <p:spPr>
          <a:xfrm>
            <a:off x="3108960" y="1956816"/>
            <a:ext cx="993839" cy="201168"/>
          </a:xfrm>
          <a:prstGeom prst="rect">
            <a:avLst/>
          </a:prstGeom>
          <a:solidFill>
            <a:srgbClr val="2A78D6"/>
          </a:solidFill>
          <a:ln/>
        </p:spPr>
        <p:txBody>
          <a:bodyPr/>
          <a:lstStyle/>
          <a:p>
            <a:endParaRPr lang="en-AU"/>
          </a:p>
        </p:txBody>
      </p:sp>
      <p:sp>
        <p:nvSpPr>
          <p:cNvPr id="10" name="Text 8"/>
          <p:cNvSpPr/>
          <p:nvPr/>
        </p:nvSpPr>
        <p:spPr>
          <a:xfrm>
            <a:off x="6601968" y="1920240"/>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4.7%</a:t>
            </a:r>
            <a:endParaRPr lang="en-US" sz="1100" dirty="0"/>
          </a:p>
        </p:txBody>
      </p:sp>
      <p:sp>
        <p:nvSpPr>
          <p:cNvPr id="11" name="Text 9"/>
          <p:cNvSpPr/>
          <p:nvPr/>
        </p:nvSpPr>
        <p:spPr>
          <a:xfrm>
            <a:off x="548640" y="2679192"/>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ABS: financial services job mobility</a:t>
            </a:r>
            <a:endParaRPr lang="en-US" sz="1100" dirty="0"/>
          </a:p>
        </p:txBody>
      </p:sp>
      <p:sp>
        <p:nvSpPr>
          <p:cNvPr id="12" name="Shape 10"/>
          <p:cNvSpPr/>
          <p:nvPr/>
        </p:nvSpPr>
        <p:spPr>
          <a:xfrm>
            <a:off x="3108960" y="2734056"/>
            <a:ext cx="3383280" cy="201168"/>
          </a:xfrm>
          <a:prstGeom prst="rect">
            <a:avLst/>
          </a:prstGeom>
          <a:solidFill>
            <a:srgbClr val="F5F4F0"/>
          </a:solidFill>
          <a:ln/>
        </p:spPr>
        <p:txBody>
          <a:bodyPr/>
          <a:lstStyle/>
          <a:p>
            <a:endParaRPr lang="en-AU"/>
          </a:p>
        </p:txBody>
      </p:sp>
      <p:sp>
        <p:nvSpPr>
          <p:cNvPr id="13" name="Shape 11"/>
          <p:cNvSpPr/>
          <p:nvPr/>
        </p:nvSpPr>
        <p:spPr>
          <a:xfrm>
            <a:off x="3108960" y="2734056"/>
            <a:ext cx="1670495" cy="201168"/>
          </a:xfrm>
          <a:prstGeom prst="rect">
            <a:avLst/>
          </a:prstGeom>
          <a:solidFill>
            <a:srgbClr val="8A8781"/>
          </a:solidFill>
          <a:ln/>
        </p:spPr>
        <p:txBody>
          <a:bodyPr/>
          <a:lstStyle/>
          <a:p>
            <a:endParaRPr lang="en-AU"/>
          </a:p>
        </p:txBody>
      </p:sp>
      <p:sp>
        <p:nvSpPr>
          <p:cNvPr id="14" name="Text 12"/>
          <p:cNvSpPr/>
          <p:nvPr/>
        </p:nvSpPr>
        <p:spPr>
          <a:xfrm>
            <a:off x="6601968" y="2697480"/>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7.9%</a:t>
            </a:r>
            <a:endParaRPr lang="en-US" sz="1100" dirty="0"/>
          </a:p>
        </p:txBody>
      </p:sp>
      <p:sp>
        <p:nvSpPr>
          <p:cNvPr id="15" name="Text 13"/>
          <p:cNvSpPr/>
          <p:nvPr/>
        </p:nvSpPr>
        <p:spPr>
          <a:xfrm>
            <a:off x="548640" y="3456432"/>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AHRI: Australian organisational turnover</a:t>
            </a:r>
            <a:endParaRPr lang="en-US" sz="1100" dirty="0"/>
          </a:p>
        </p:txBody>
      </p:sp>
      <p:sp>
        <p:nvSpPr>
          <p:cNvPr id="16" name="Shape 14"/>
          <p:cNvSpPr/>
          <p:nvPr/>
        </p:nvSpPr>
        <p:spPr>
          <a:xfrm>
            <a:off x="3108960" y="3511296"/>
            <a:ext cx="3383280" cy="201168"/>
          </a:xfrm>
          <a:prstGeom prst="rect">
            <a:avLst/>
          </a:prstGeom>
          <a:solidFill>
            <a:srgbClr val="F5F4F0"/>
          </a:solidFill>
          <a:ln/>
        </p:spPr>
        <p:txBody>
          <a:bodyPr/>
          <a:lstStyle/>
          <a:p>
            <a:endParaRPr lang="en-AU"/>
          </a:p>
        </p:txBody>
      </p:sp>
      <p:sp>
        <p:nvSpPr>
          <p:cNvPr id="17" name="Shape 15"/>
          <p:cNvSpPr/>
          <p:nvPr/>
        </p:nvSpPr>
        <p:spPr>
          <a:xfrm>
            <a:off x="3108960" y="3511296"/>
            <a:ext cx="3214116" cy="201168"/>
          </a:xfrm>
          <a:prstGeom prst="rect">
            <a:avLst/>
          </a:prstGeom>
          <a:solidFill>
            <a:srgbClr val="8A8781"/>
          </a:solidFill>
          <a:ln/>
        </p:spPr>
        <p:txBody>
          <a:bodyPr/>
          <a:lstStyle/>
          <a:p>
            <a:endParaRPr lang="en-AU"/>
          </a:p>
        </p:txBody>
      </p:sp>
      <p:sp>
        <p:nvSpPr>
          <p:cNvPr id="18" name="Text 16"/>
          <p:cNvSpPr/>
          <p:nvPr/>
        </p:nvSpPr>
        <p:spPr>
          <a:xfrm>
            <a:off x="6601968" y="3474720"/>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15.2%</a:t>
            </a:r>
            <a:endParaRPr lang="en-US" sz="1100" dirty="0"/>
          </a:p>
        </p:txBody>
      </p:sp>
      <p:sp>
        <p:nvSpPr>
          <p:cNvPr id="19" name="Shape 17"/>
          <p:cNvSpPr/>
          <p:nvPr/>
        </p:nvSpPr>
        <p:spPr>
          <a:xfrm>
            <a:off x="7863840" y="1783080"/>
            <a:ext cx="3776472" cy="2377440"/>
          </a:xfrm>
          <a:prstGeom prst="roundRect">
            <a:avLst>
              <a:gd name="adj" fmla="val 1154"/>
            </a:avLst>
          </a:prstGeom>
          <a:solidFill>
            <a:srgbClr val="FFFFFF"/>
          </a:solidFill>
          <a:ln w="9525">
            <a:solidFill>
              <a:srgbClr val="DFDDD6"/>
            </a:solidFill>
            <a:prstDash val="solid"/>
          </a:ln>
        </p:spPr>
        <p:txBody>
          <a:bodyPr/>
          <a:lstStyle/>
          <a:p>
            <a:endParaRPr lang="en-AU"/>
          </a:p>
        </p:txBody>
      </p:sp>
      <p:sp>
        <p:nvSpPr>
          <p:cNvPr id="20" name="Text 18"/>
          <p:cNvSpPr/>
          <p:nvPr/>
        </p:nvSpPr>
        <p:spPr>
          <a:xfrm>
            <a:off x="8083296" y="1929384"/>
            <a:ext cx="333756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SO WHAT</a:t>
            </a:r>
            <a:endParaRPr lang="en-US" sz="900" dirty="0"/>
          </a:p>
        </p:txBody>
      </p:sp>
      <p:sp>
        <p:nvSpPr>
          <p:cNvPr id="21" name="Text 19"/>
          <p:cNvSpPr/>
          <p:nvPr/>
        </p:nvSpPr>
        <p:spPr>
          <a:xfrm>
            <a:off x="8083296" y="2240280"/>
            <a:ext cx="3337560" cy="17373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Volume is not the problem and should not be the target.</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The $42M is real, but it is not being driven by the number of leavers.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The question is who leaves, and who stays but disengages.</a:t>
            </a:r>
            <a:endParaRPr lang="en-US" sz="1150" dirty="0"/>
          </a:p>
        </p:txBody>
      </p:sp>
      <p:sp>
        <p:nvSpPr>
          <p:cNvPr id="22" name="Shape 20"/>
          <p:cNvSpPr/>
          <p:nvPr/>
        </p:nvSpPr>
        <p:spPr>
          <a:xfrm>
            <a:off x="548640" y="4663440"/>
            <a:ext cx="27432" cy="457200"/>
          </a:xfrm>
          <a:prstGeom prst="rect">
            <a:avLst/>
          </a:prstGeom>
          <a:solidFill>
            <a:srgbClr val="C98A10"/>
          </a:solidFill>
          <a:ln/>
        </p:spPr>
        <p:txBody>
          <a:bodyPr/>
          <a:lstStyle/>
          <a:p>
            <a:endParaRPr lang="en-AU"/>
          </a:p>
        </p:txBody>
      </p:sp>
      <p:sp>
        <p:nvSpPr>
          <p:cNvPr id="23" name="Text 21"/>
          <p:cNvSpPr/>
          <p:nvPr/>
        </p:nvSpPr>
        <p:spPr>
          <a:xfrm>
            <a:off x="713232" y="4626864"/>
            <a:ext cx="10817352" cy="53035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Sources: ABS Job Mobility, year to February 2026, Financial and Insurance Services. AHRI Quarterly Australian Work Outlook, December 2025 quarter. The two measure different things and are shown as context, not as a single scale.</a:t>
            </a:r>
            <a:endParaRPr lang="en-US" sz="1100" dirty="0"/>
          </a:p>
        </p:txBody>
      </p:sp>
      <p:sp>
        <p:nvSpPr>
          <p:cNvPr id="24" name="Shape 22"/>
          <p:cNvSpPr/>
          <p:nvPr/>
        </p:nvSpPr>
        <p:spPr>
          <a:xfrm>
            <a:off x="548640" y="5532120"/>
            <a:ext cx="27432" cy="457200"/>
          </a:xfrm>
          <a:prstGeom prst="rect">
            <a:avLst/>
          </a:prstGeom>
          <a:solidFill>
            <a:srgbClr val="C98A10"/>
          </a:solidFill>
          <a:ln/>
        </p:spPr>
        <p:txBody>
          <a:bodyPr/>
          <a:lstStyle/>
          <a:p>
            <a:endParaRPr lang="en-AU"/>
          </a:p>
        </p:txBody>
      </p:sp>
      <p:sp>
        <p:nvSpPr>
          <p:cNvPr id="25" name="Text 23"/>
          <p:cNvSpPr/>
          <p:nvPr/>
        </p:nvSpPr>
        <p:spPr>
          <a:xfrm>
            <a:off x="713232" y="5495544"/>
            <a:ext cx="10817352" cy="53035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Caveat: our figure is a floor. The attrition log covers roughly 60% of the departures the annual report claims for FY2025, so true attrition may be higher, though not enough to change the conclusion.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04</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The $42M is not too small. It is pointed at the wrong component.</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Finance's own cost assumptions, unchanged, applied to the people actually in the data.</a:t>
            </a:r>
            <a:endParaRPr lang="en-US" sz="1250" dirty="0"/>
          </a:p>
        </p:txBody>
      </p:sp>
      <p:sp>
        <p:nvSpPr>
          <p:cNvPr id="7" name="Text 5"/>
          <p:cNvSpPr/>
          <p:nvPr/>
        </p:nvSpPr>
        <p:spPr>
          <a:xfrm>
            <a:off x="3108960" y="1691640"/>
            <a:ext cx="7315200" cy="228600"/>
          </a:xfrm>
          <a:prstGeom prst="rect">
            <a:avLst/>
          </a:prstGeom>
          <a:noFill/>
          <a:ln/>
        </p:spPr>
        <p:txBody>
          <a:bodyPr wrap="square"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FINANCE'S ESTIMATE</a:t>
            </a:r>
            <a:r>
              <a:rPr lang="en-US" sz="900" b="1" kern="0" spc="100" dirty="0">
                <a:solidFill>
                  <a:srgbClr val="A8460F"/>
                </a:solidFill>
                <a:latin typeface="Consolas" pitchFamily="34" charset="0"/>
                <a:ea typeface="Consolas" pitchFamily="34" charset="-122"/>
                <a:cs typeface="Consolas" pitchFamily="34" charset="-120"/>
              </a:rPr>
              <a:t>        WHAT THE DATA SHOWS</a:t>
            </a:r>
            <a:endParaRPr lang="en-US" sz="900" dirty="0"/>
          </a:p>
        </p:txBody>
      </p:sp>
      <p:sp>
        <p:nvSpPr>
          <p:cNvPr id="8" name="Text 6"/>
          <p:cNvSpPr/>
          <p:nvPr/>
        </p:nvSpPr>
        <p:spPr>
          <a:xfrm>
            <a:off x="548640" y="2039112"/>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Regrettable attrition</a:t>
            </a:r>
            <a:endParaRPr lang="en-US" sz="1100" dirty="0"/>
          </a:p>
        </p:txBody>
      </p:sp>
      <p:sp>
        <p:nvSpPr>
          <p:cNvPr id="9" name="Text 7"/>
          <p:cNvSpPr/>
          <p:nvPr/>
        </p:nvSpPr>
        <p:spPr>
          <a:xfrm>
            <a:off x="548640" y="2240280"/>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76 exits a year</a:t>
            </a:r>
            <a:endParaRPr lang="en-US" sz="900" dirty="0"/>
          </a:p>
        </p:txBody>
      </p:sp>
      <p:sp>
        <p:nvSpPr>
          <p:cNvPr id="10" name="Shape 8"/>
          <p:cNvSpPr/>
          <p:nvPr/>
        </p:nvSpPr>
        <p:spPr>
          <a:xfrm>
            <a:off x="3108960" y="2093976"/>
            <a:ext cx="6126480" cy="201168"/>
          </a:xfrm>
          <a:prstGeom prst="rect">
            <a:avLst/>
          </a:prstGeom>
          <a:solidFill>
            <a:srgbClr val="F5F4F0"/>
          </a:solidFill>
          <a:ln/>
        </p:spPr>
        <p:txBody>
          <a:bodyPr/>
          <a:lstStyle/>
          <a:p>
            <a:endParaRPr lang="en-AU"/>
          </a:p>
        </p:txBody>
      </p:sp>
      <p:sp>
        <p:nvSpPr>
          <p:cNvPr id="11" name="Shape 9"/>
          <p:cNvSpPr/>
          <p:nvPr/>
        </p:nvSpPr>
        <p:spPr>
          <a:xfrm>
            <a:off x="3108960" y="2093976"/>
            <a:ext cx="2470355" cy="201168"/>
          </a:xfrm>
          <a:prstGeom prst="rect">
            <a:avLst/>
          </a:prstGeom>
          <a:solidFill>
            <a:srgbClr val="2A78D6"/>
          </a:solidFill>
          <a:ln/>
        </p:spPr>
        <p:txBody>
          <a:bodyPr/>
          <a:lstStyle/>
          <a:p>
            <a:endParaRPr lang="en-AU"/>
          </a:p>
        </p:txBody>
      </p:sp>
      <p:sp>
        <p:nvSpPr>
          <p:cNvPr id="12" name="Text 10"/>
          <p:cNvSpPr/>
          <p:nvPr/>
        </p:nvSpPr>
        <p:spPr>
          <a:xfrm>
            <a:off x="9345168" y="2057400"/>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$25.0M</a:t>
            </a:r>
            <a:endParaRPr lang="en-US" sz="1100" dirty="0"/>
          </a:p>
        </p:txBody>
      </p:sp>
      <p:sp>
        <p:nvSpPr>
          <p:cNvPr id="13" name="Text 11"/>
          <p:cNvSpPr/>
          <p:nvPr/>
        </p:nvSpPr>
        <p:spPr>
          <a:xfrm>
            <a:off x="548640" y="2386584"/>
            <a:ext cx="2468880" cy="219456"/>
          </a:xfrm>
          <a:prstGeom prst="rect">
            <a:avLst/>
          </a:prstGeom>
          <a:noFill/>
          <a:ln/>
        </p:spPr>
        <p:txBody>
          <a:bodyPr wrap="square" lIns="0" tIns="0" rIns="0" bIns="0" rtlCol="0" anchor="ctr"/>
          <a:lstStyle/>
          <a:p>
            <a:pPr marL="0" indent="0">
              <a:buNone/>
            </a:pPr>
            <a:endParaRPr lang="en-US" sz="1100" dirty="0"/>
          </a:p>
        </p:txBody>
      </p:sp>
      <p:sp>
        <p:nvSpPr>
          <p:cNvPr id="14" name="Shape 12"/>
          <p:cNvSpPr/>
          <p:nvPr/>
        </p:nvSpPr>
        <p:spPr>
          <a:xfrm>
            <a:off x="3108960" y="2441448"/>
            <a:ext cx="6126480" cy="201168"/>
          </a:xfrm>
          <a:prstGeom prst="rect">
            <a:avLst/>
          </a:prstGeom>
          <a:solidFill>
            <a:srgbClr val="F5F4F0"/>
          </a:solidFill>
          <a:ln/>
        </p:spPr>
        <p:txBody>
          <a:bodyPr/>
          <a:lstStyle/>
          <a:p>
            <a:endParaRPr lang="en-AU"/>
          </a:p>
        </p:txBody>
      </p:sp>
      <p:sp>
        <p:nvSpPr>
          <p:cNvPr id="15" name="Shape 13"/>
          <p:cNvSpPr/>
          <p:nvPr/>
        </p:nvSpPr>
        <p:spPr>
          <a:xfrm>
            <a:off x="3108960" y="2441448"/>
            <a:ext cx="1235177" cy="201168"/>
          </a:xfrm>
          <a:prstGeom prst="rect">
            <a:avLst/>
          </a:prstGeom>
          <a:solidFill>
            <a:srgbClr val="D9622F"/>
          </a:solidFill>
          <a:ln/>
        </p:spPr>
        <p:txBody>
          <a:bodyPr/>
          <a:lstStyle/>
          <a:p>
            <a:endParaRPr lang="en-AU"/>
          </a:p>
        </p:txBody>
      </p:sp>
      <p:sp>
        <p:nvSpPr>
          <p:cNvPr id="16" name="Text 14"/>
          <p:cNvSpPr/>
          <p:nvPr/>
        </p:nvSpPr>
        <p:spPr>
          <a:xfrm>
            <a:off x="9345168" y="2404872"/>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$12.5M</a:t>
            </a:r>
            <a:endParaRPr lang="en-US" sz="1100" dirty="0"/>
          </a:p>
        </p:txBody>
      </p:sp>
      <p:sp>
        <p:nvSpPr>
          <p:cNvPr id="17" name="Text 15"/>
          <p:cNvSpPr/>
          <p:nvPr/>
        </p:nvSpPr>
        <p:spPr>
          <a:xfrm>
            <a:off x="10607040" y="2203704"/>
            <a:ext cx="1005840" cy="310896"/>
          </a:xfrm>
          <a:prstGeom prst="rect">
            <a:avLst/>
          </a:prstGeom>
          <a:noFill/>
          <a:ln/>
        </p:spPr>
        <p:txBody>
          <a:bodyPr wrap="square" lIns="0" tIns="0" rIns="0" bIns="0" rtlCol="0" anchor="ctr"/>
          <a:lstStyle/>
          <a:p>
            <a:pPr marL="0" indent="0">
              <a:buNone/>
            </a:pPr>
            <a:r>
              <a:rPr lang="en-US" sz="1300" b="1" dirty="0">
                <a:solidFill>
                  <a:srgbClr val="1F5FAE"/>
                </a:solidFill>
                <a:latin typeface="Segoe UI" pitchFamily="34" charset="0"/>
                <a:ea typeface="Segoe UI" pitchFamily="34" charset="-122"/>
                <a:cs typeface="Segoe UI" pitchFamily="34" charset="-120"/>
              </a:rPr>
              <a:t>0.5x</a:t>
            </a:r>
            <a:endParaRPr lang="en-US" sz="1300" dirty="0"/>
          </a:p>
        </p:txBody>
      </p:sp>
      <p:sp>
        <p:nvSpPr>
          <p:cNvPr id="18" name="Text 16"/>
          <p:cNvSpPr/>
          <p:nvPr/>
        </p:nvSpPr>
        <p:spPr>
          <a:xfrm>
            <a:off x="548640" y="2953512"/>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Disengagement</a:t>
            </a:r>
            <a:endParaRPr lang="en-US" sz="1100" dirty="0"/>
          </a:p>
        </p:txBody>
      </p:sp>
      <p:sp>
        <p:nvSpPr>
          <p:cNvPr id="19" name="Text 17"/>
          <p:cNvSpPr/>
          <p:nvPr/>
        </p:nvSpPr>
        <p:spPr>
          <a:xfrm>
            <a:off x="548640" y="3154680"/>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3,219 people, today</a:t>
            </a:r>
            <a:endParaRPr lang="en-US" sz="900" dirty="0"/>
          </a:p>
        </p:txBody>
      </p:sp>
      <p:sp>
        <p:nvSpPr>
          <p:cNvPr id="20" name="Shape 18"/>
          <p:cNvSpPr/>
          <p:nvPr/>
        </p:nvSpPr>
        <p:spPr>
          <a:xfrm>
            <a:off x="3108960" y="3008376"/>
            <a:ext cx="6126480" cy="201168"/>
          </a:xfrm>
          <a:prstGeom prst="rect">
            <a:avLst/>
          </a:prstGeom>
          <a:solidFill>
            <a:srgbClr val="F5F4F0"/>
          </a:solidFill>
          <a:ln/>
        </p:spPr>
        <p:txBody>
          <a:bodyPr/>
          <a:lstStyle/>
          <a:p>
            <a:endParaRPr lang="en-AU"/>
          </a:p>
        </p:txBody>
      </p:sp>
      <p:sp>
        <p:nvSpPr>
          <p:cNvPr id="21" name="Shape 19"/>
          <p:cNvSpPr/>
          <p:nvPr/>
        </p:nvSpPr>
        <p:spPr>
          <a:xfrm>
            <a:off x="3108960" y="3008376"/>
            <a:ext cx="1482213" cy="201168"/>
          </a:xfrm>
          <a:prstGeom prst="rect">
            <a:avLst/>
          </a:prstGeom>
          <a:solidFill>
            <a:srgbClr val="2A78D6"/>
          </a:solidFill>
          <a:ln/>
        </p:spPr>
        <p:txBody>
          <a:bodyPr/>
          <a:lstStyle/>
          <a:p>
            <a:endParaRPr lang="en-AU"/>
          </a:p>
        </p:txBody>
      </p:sp>
      <p:sp>
        <p:nvSpPr>
          <p:cNvPr id="22" name="Text 20"/>
          <p:cNvSpPr/>
          <p:nvPr/>
        </p:nvSpPr>
        <p:spPr>
          <a:xfrm>
            <a:off x="9345168" y="2971800"/>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$15.0M</a:t>
            </a:r>
            <a:endParaRPr lang="en-US" sz="1100" dirty="0"/>
          </a:p>
        </p:txBody>
      </p:sp>
      <p:sp>
        <p:nvSpPr>
          <p:cNvPr id="23" name="Text 21"/>
          <p:cNvSpPr/>
          <p:nvPr/>
        </p:nvSpPr>
        <p:spPr>
          <a:xfrm>
            <a:off x="548640" y="3300984"/>
            <a:ext cx="2468880" cy="219456"/>
          </a:xfrm>
          <a:prstGeom prst="rect">
            <a:avLst/>
          </a:prstGeom>
          <a:noFill/>
          <a:ln/>
        </p:spPr>
        <p:txBody>
          <a:bodyPr wrap="square" lIns="0" tIns="0" rIns="0" bIns="0" rtlCol="0" anchor="ctr"/>
          <a:lstStyle/>
          <a:p>
            <a:pPr marL="0" indent="0">
              <a:buNone/>
            </a:pPr>
            <a:endParaRPr lang="en-US" sz="1100" dirty="0"/>
          </a:p>
        </p:txBody>
      </p:sp>
      <p:sp>
        <p:nvSpPr>
          <p:cNvPr id="24" name="Shape 22"/>
          <p:cNvSpPr/>
          <p:nvPr/>
        </p:nvSpPr>
        <p:spPr>
          <a:xfrm>
            <a:off x="3108960" y="3355848"/>
            <a:ext cx="6126480" cy="201168"/>
          </a:xfrm>
          <a:prstGeom prst="rect">
            <a:avLst/>
          </a:prstGeom>
          <a:solidFill>
            <a:srgbClr val="F5F4F0"/>
          </a:solidFill>
          <a:ln/>
        </p:spPr>
        <p:txBody>
          <a:bodyPr/>
          <a:lstStyle/>
          <a:p>
            <a:endParaRPr lang="en-AU"/>
          </a:p>
        </p:txBody>
      </p:sp>
      <p:sp>
        <p:nvSpPr>
          <p:cNvPr id="25" name="Shape 23"/>
          <p:cNvSpPr/>
          <p:nvPr/>
        </p:nvSpPr>
        <p:spPr>
          <a:xfrm>
            <a:off x="3108960" y="3355848"/>
            <a:ext cx="6106717" cy="201168"/>
          </a:xfrm>
          <a:prstGeom prst="rect">
            <a:avLst/>
          </a:prstGeom>
          <a:solidFill>
            <a:srgbClr val="D9622F"/>
          </a:solidFill>
          <a:ln/>
        </p:spPr>
        <p:txBody>
          <a:bodyPr/>
          <a:lstStyle/>
          <a:p>
            <a:endParaRPr lang="en-AU"/>
          </a:p>
        </p:txBody>
      </p:sp>
      <p:sp>
        <p:nvSpPr>
          <p:cNvPr id="26" name="Text 24"/>
          <p:cNvSpPr/>
          <p:nvPr/>
        </p:nvSpPr>
        <p:spPr>
          <a:xfrm>
            <a:off x="9345168" y="3319272"/>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$61.8M</a:t>
            </a:r>
            <a:endParaRPr lang="en-US" sz="1100" dirty="0"/>
          </a:p>
        </p:txBody>
      </p:sp>
      <p:sp>
        <p:nvSpPr>
          <p:cNvPr id="27" name="Text 25"/>
          <p:cNvSpPr/>
          <p:nvPr/>
        </p:nvSpPr>
        <p:spPr>
          <a:xfrm>
            <a:off x="10607040" y="3118104"/>
            <a:ext cx="1005840" cy="310896"/>
          </a:xfrm>
          <a:prstGeom prst="rect">
            <a:avLst/>
          </a:prstGeom>
          <a:noFill/>
          <a:ln/>
        </p:spPr>
        <p:txBody>
          <a:bodyPr wrap="square" lIns="0" tIns="0" rIns="0" bIns="0" rtlCol="0" anchor="ctr"/>
          <a:lstStyle/>
          <a:p>
            <a:pPr marL="0" indent="0">
              <a:buNone/>
            </a:pPr>
            <a:r>
              <a:rPr lang="en-US" sz="1300" b="1" dirty="0">
                <a:solidFill>
                  <a:srgbClr val="A8460F"/>
                </a:solidFill>
                <a:latin typeface="Segoe UI" pitchFamily="34" charset="0"/>
                <a:ea typeface="Segoe UI" pitchFamily="34" charset="-122"/>
                <a:cs typeface="Segoe UI" pitchFamily="34" charset="-120"/>
              </a:rPr>
              <a:t>4.1x</a:t>
            </a:r>
            <a:endParaRPr lang="en-US" sz="1300" dirty="0"/>
          </a:p>
        </p:txBody>
      </p:sp>
      <p:sp>
        <p:nvSpPr>
          <p:cNvPr id="28" name="Text 26"/>
          <p:cNvSpPr/>
          <p:nvPr/>
        </p:nvSpPr>
        <p:spPr>
          <a:xfrm>
            <a:off x="548640" y="3867912"/>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Hiring inefficiency</a:t>
            </a:r>
            <a:endParaRPr lang="en-US" sz="1100" dirty="0"/>
          </a:p>
        </p:txBody>
      </p:sp>
      <p:sp>
        <p:nvSpPr>
          <p:cNvPr id="29" name="Text 27"/>
          <p:cNvSpPr/>
          <p:nvPr/>
        </p:nvSpPr>
        <p:spPr>
          <a:xfrm>
            <a:off x="548640" y="4069080"/>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137 agency hires a year</a:t>
            </a:r>
            <a:endParaRPr lang="en-US" sz="900" dirty="0"/>
          </a:p>
        </p:txBody>
      </p:sp>
      <p:sp>
        <p:nvSpPr>
          <p:cNvPr id="30" name="Shape 28"/>
          <p:cNvSpPr/>
          <p:nvPr/>
        </p:nvSpPr>
        <p:spPr>
          <a:xfrm>
            <a:off x="3108960" y="3922776"/>
            <a:ext cx="6126480" cy="201168"/>
          </a:xfrm>
          <a:prstGeom prst="rect">
            <a:avLst/>
          </a:prstGeom>
          <a:solidFill>
            <a:srgbClr val="F5F4F0"/>
          </a:solidFill>
          <a:ln/>
        </p:spPr>
        <p:txBody>
          <a:bodyPr/>
          <a:lstStyle/>
          <a:p>
            <a:endParaRPr lang="en-AU"/>
          </a:p>
        </p:txBody>
      </p:sp>
      <p:sp>
        <p:nvSpPr>
          <p:cNvPr id="31" name="Shape 29"/>
          <p:cNvSpPr/>
          <p:nvPr/>
        </p:nvSpPr>
        <p:spPr>
          <a:xfrm>
            <a:off x="3108960" y="3922776"/>
            <a:ext cx="592885" cy="201168"/>
          </a:xfrm>
          <a:prstGeom prst="rect">
            <a:avLst/>
          </a:prstGeom>
          <a:solidFill>
            <a:srgbClr val="2A78D6"/>
          </a:solidFill>
          <a:ln/>
        </p:spPr>
        <p:txBody>
          <a:bodyPr/>
          <a:lstStyle/>
          <a:p>
            <a:endParaRPr lang="en-AU"/>
          </a:p>
        </p:txBody>
      </p:sp>
      <p:sp>
        <p:nvSpPr>
          <p:cNvPr id="32" name="Text 30"/>
          <p:cNvSpPr/>
          <p:nvPr/>
        </p:nvSpPr>
        <p:spPr>
          <a:xfrm>
            <a:off x="9345168" y="3886200"/>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$6.0M</a:t>
            </a:r>
            <a:endParaRPr lang="en-US" sz="1100" dirty="0"/>
          </a:p>
        </p:txBody>
      </p:sp>
      <p:sp>
        <p:nvSpPr>
          <p:cNvPr id="33" name="Text 31"/>
          <p:cNvSpPr/>
          <p:nvPr/>
        </p:nvSpPr>
        <p:spPr>
          <a:xfrm>
            <a:off x="548640" y="4215384"/>
            <a:ext cx="2468880" cy="219456"/>
          </a:xfrm>
          <a:prstGeom prst="rect">
            <a:avLst/>
          </a:prstGeom>
          <a:noFill/>
          <a:ln/>
        </p:spPr>
        <p:txBody>
          <a:bodyPr wrap="square" lIns="0" tIns="0" rIns="0" bIns="0" rtlCol="0" anchor="ctr"/>
          <a:lstStyle/>
          <a:p>
            <a:pPr marL="0" indent="0">
              <a:buNone/>
            </a:pPr>
            <a:endParaRPr lang="en-US" sz="1100" dirty="0"/>
          </a:p>
        </p:txBody>
      </p:sp>
      <p:sp>
        <p:nvSpPr>
          <p:cNvPr id="34" name="Shape 32"/>
          <p:cNvSpPr/>
          <p:nvPr/>
        </p:nvSpPr>
        <p:spPr>
          <a:xfrm>
            <a:off x="3108960" y="4270248"/>
            <a:ext cx="6126480" cy="201168"/>
          </a:xfrm>
          <a:prstGeom prst="rect">
            <a:avLst/>
          </a:prstGeom>
          <a:solidFill>
            <a:srgbClr val="F5F4F0"/>
          </a:solidFill>
          <a:ln/>
        </p:spPr>
        <p:txBody>
          <a:bodyPr/>
          <a:lstStyle/>
          <a:p>
            <a:endParaRPr lang="en-AU"/>
          </a:p>
        </p:txBody>
      </p:sp>
      <p:sp>
        <p:nvSpPr>
          <p:cNvPr id="35" name="Shape 33"/>
          <p:cNvSpPr/>
          <p:nvPr/>
        </p:nvSpPr>
        <p:spPr>
          <a:xfrm>
            <a:off x="3108960" y="4270248"/>
            <a:ext cx="237154" cy="201168"/>
          </a:xfrm>
          <a:prstGeom prst="rect">
            <a:avLst/>
          </a:prstGeom>
          <a:solidFill>
            <a:srgbClr val="D9622F"/>
          </a:solidFill>
          <a:ln/>
        </p:spPr>
        <p:txBody>
          <a:bodyPr/>
          <a:lstStyle/>
          <a:p>
            <a:endParaRPr lang="en-AU"/>
          </a:p>
        </p:txBody>
      </p:sp>
      <p:sp>
        <p:nvSpPr>
          <p:cNvPr id="36" name="Text 34"/>
          <p:cNvSpPr/>
          <p:nvPr/>
        </p:nvSpPr>
        <p:spPr>
          <a:xfrm>
            <a:off x="9345168" y="4233672"/>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$2.4M</a:t>
            </a:r>
            <a:endParaRPr lang="en-US" sz="1100" dirty="0"/>
          </a:p>
        </p:txBody>
      </p:sp>
      <p:sp>
        <p:nvSpPr>
          <p:cNvPr id="37" name="Text 35"/>
          <p:cNvSpPr/>
          <p:nvPr/>
        </p:nvSpPr>
        <p:spPr>
          <a:xfrm>
            <a:off x="10607040" y="4032504"/>
            <a:ext cx="1005840" cy="310896"/>
          </a:xfrm>
          <a:prstGeom prst="rect">
            <a:avLst/>
          </a:prstGeom>
          <a:noFill/>
          <a:ln/>
        </p:spPr>
        <p:txBody>
          <a:bodyPr wrap="square" lIns="0" tIns="0" rIns="0" bIns="0" rtlCol="0" anchor="ctr"/>
          <a:lstStyle/>
          <a:p>
            <a:pPr marL="0" indent="0">
              <a:buNone/>
            </a:pPr>
            <a:r>
              <a:rPr lang="en-US" sz="1300" b="1" dirty="0">
                <a:solidFill>
                  <a:srgbClr val="1F5FAE"/>
                </a:solidFill>
                <a:latin typeface="Segoe UI" pitchFamily="34" charset="0"/>
                <a:ea typeface="Segoe UI" pitchFamily="34" charset="-122"/>
                <a:cs typeface="Segoe UI" pitchFamily="34" charset="-120"/>
              </a:rPr>
              <a:t>0.4x</a:t>
            </a:r>
            <a:endParaRPr lang="en-US" sz="1300" dirty="0"/>
          </a:p>
        </p:txBody>
      </p:sp>
      <p:sp>
        <p:nvSpPr>
          <p:cNvPr id="38" name="Shape 36"/>
          <p:cNvSpPr/>
          <p:nvPr/>
        </p:nvSpPr>
        <p:spPr>
          <a:xfrm>
            <a:off x="548640" y="4937760"/>
            <a:ext cx="11091672" cy="10973"/>
          </a:xfrm>
          <a:prstGeom prst="rect">
            <a:avLst/>
          </a:prstGeom>
          <a:solidFill>
            <a:srgbClr val="DFDDD6"/>
          </a:solidFill>
          <a:ln/>
        </p:spPr>
        <p:txBody>
          <a:bodyPr/>
          <a:lstStyle/>
          <a:p>
            <a:endParaRPr lang="en-AU"/>
          </a:p>
        </p:txBody>
      </p:sp>
      <p:sp>
        <p:nvSpPr>
          <p:cNvPr id="39" name="Shape 37"/>
          <p:cNvSpPr/>
          <p:nvPr/>
        </p:nvSpPr>
        <p:spPr>
          <a:xfrm>
            <a:off x="548640" y="5074920"/>
            <a:ext cx="3520440" cy="1051560"/>
          </a:xfrm>
          <a:prstGeom prst="roundRect">
            <a:avLst>
              <a:gd name="adj" fmla="val 3478"/>
            </a:avLst>
          </a:prstGeom>
          <a:solidFill>
            <a:srgbClr val="F5F4F0"/>
          </a:solidFill>
          <a:ln w="9525">
            <a:solidFill>
              <a:srgbClr val="DFDDD6"/>
            </a:solidFill>
            <a:prstDash val="solid"/>
          </a:ln>
        </p:spPr>
        <p:txBody>
          <a:bodyPr/>
          <a:lstStyle/>
          <a:p>
            <a:endParaRPr lang="en-AU"/>
          </a:p>
        </p:txBody>
      </p:sp>
      <p:sp>
        <p:nvSpPr>
          <p:cNvPr id="40" name="Text 38"/>
          <p:cNvSpPr/>
          <p:nvPr/>
        </p:nvSpPr>
        <p:spPr>
          <a:xfrm>
            <a:off x="749808" y="5221224"/>
            <a:ext cx="3118104" cy="502920"/>
          </a:xfrm>
          <a:prstGeom prst="rect">
            <a:avLst/>
          </a:prstGeom>
          <a:noFill/>
          <a:ln/>
        </p:spPr>
        <p:txBody>
          <a:bodyPr wrap="square" lIns="0" tIns="0" rIns="0" bIns="0" rtlCol="0" anchor="ctr"/>
          <a:lstStyle/>
          <a:p>
            <a:pPr marL="0" indent="0">
              <a:buNone/>
            </a:pPr>
            <a:r>
              <a:rPr lang="en-US" sz="2600" b="1" dirty="0">
                <a:solidFill>
                  <a:srgbClr val="A8460F"/>
                </a:solidFill>
                <a:latin typeface="Segoe UI" pitchFamily="34" charset="0"/>
                <a:ea typeface="Segoe UI" pitchFamily="34" charset="-122"/>
                <a:cs typeface="Segoe UI" pitchFamily="34" charset="-120"/>
              </a:rPr>
              <a:t>$76.7M</a:t>
            </a:r>
            <a:endParaRPr lang="en-US" sz="2600" dirty="0"/>
          </a:p>
        </p:txBody>
      </p:sp>
      <p:sp>
        <p:nvSpPr>
          <p:cNvPr id="41" name="Text 39"/>
          <p:cNvSpPr/>
          <p:nvPr/>
        </p:nvSpPr>
        <p:spPr>
          <a:xfrm>
            <a:off x="749808" y="5733288"/>
            <a:ext cx="3118104"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total, on Finance's own arithmetic</a:t>
            </a:r>
            <a:endParaRPr lang="en-US" sz="1050" dirty="0"/>
          </a:p>
        </p:txBody>
      </p:sp>
      <p:sp>
        <p:nvSpPr>
          <p:cNvPr id="42" name="Shape 40"/>
          <p:cNvSpPr/>
          <p:nvPr/>
        </p:nvSpPr>
        <p:spPr>
          <a:xfrm>
            <a:off x="4315968" y="5074920"/>
            <a:ext cx="3520440" cy="1051560"/>
          </a:xfrm>
          <a:prstGeom prst="roundRect">
            <a:avLst>
              <a:gd name="adj" fmla="val 3478"/>
            </a:avLst>
          </a:prstGeom>
          <a:solidFill>
            <a:srgbClr val="F5F4F0"/>
          </a:solidFill>
          <a:ln w="9525">
            <a:solidFill>
              <a:srgbClr val="DFDDD6"/>
            </a:solidFill>
            <a:prstDash val="solid"/>
          </a:ln>
        </p:spPr>
        <p:txBody>
          <a:bodyPr/>
          <a:lstStyle/>
          <a:p>
            <a:endParaRPr lang="en-AU"/>
          </a:p>
        </p:txBody>
      </p:sp>
      <p:sp>
        <p:nvSpPr>
          <p:cNvPr id="43" name="Text 41"/>
          <p:cNvSpPr/>
          <p:nvPr/>
        </p:nvSpPr>
        <p:spPr>
          <a:xfrm>
            <a:off x="4517136" y="5221224"/>
            <a:ext cx="3118104" cy="502920"/>
          </a:xfrm>
          <a:prstGeom prst="rect">
            <a:avLst/>
          </a:prstGeom>
          <a:noFill/>
          <a:ln/>
        </p:spPr>
        <p:txBody>
          <a:bodyPr wrap="square" lIns="0" tIns="0" rIns="0" bIns="0" rtlCol="0" anchor="ctr"/>
          <a:lstStyle/>
          <a:p>
            <a:pPr marL="0" indent="0">
              <a:buNone/>
            </a:pPr>
            <a:r>
              <a:rPr lang="en-US" sz="2600" b="1" dirty="0">
                <a:solidFill>
                  <a:srgbClr val="A8460F"/>
                </a:solidFill>
                <a:latin typeface="Segoe UI" pitchFamily="34" charset="0"/>
                <a:ea typeface="Segoe UI" pitchFamily="34" charset="-122"/>
                <a:cs typeface="Segoe UI" pitchFamily="34" charset="-120"/>
              </a:rPr>
              <a:t>$61.8M</a:t>
            </a:r>
            <a:endParaRPr lang="en-US" sz="2600" dirty="0"/>
          </a:p>
        </p:txBody>
      </p:sp>
      <p:sp>
        <p:nvSpPr>
          <p:cNvPr id="44" name="Text 42"/>
          <p:cNvSpPr/>
          <p:nvPr/>
        </p:nvSpPr>
        <p:spPr>
          <a:xfrm>
            <a:off x="4517136" y="5733288"/>
            <a:ext cx="3118104"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sits in one component: disengagement</a:t>
            </a:r>
            <a:endParaRPr lang="en-US" sz="1050" dirty="0"/>
          </a:p>
        </p:txBody>
      </p:sp>
      <p:sp>
        <p:nvSpPr>
          <p:cNvPr id="45" name="Shape 43"/>
          <p:cNvSpPr/>
          <p:nvPr/>
        </p:nvSpPr>
        <p:spPr>
          <a:xfrm>
            <a:off x="8092440" y="5074920"/>
            <a:ext cx="3547872" cy="1051560"/>
          </a:xfrm>
          <a:prstGeom prst="roundRect">
            <a:avLst>
              <a:gd name="adj" fmla="val 3478"/>
            </a:avLst>
          </a:prstGeom>
          <a:solidFill>
            <a:srgbClr val="F5F4F0"/>
          </a:solidFill>
          <a:ln w="9525">
            <a:solidFill>
              <a:srgbClr val="DFDDD6"/>
            </a:solidFill>
            <a:prstDash val="solid"/>
          </a:ln>
        </p:spPr>
        <p:txBody>
          <a:bodyPr/>
          <a:lstStyle/>
          <a:p>
            <a:endParaRPr lang="en-AU"/>
          </a:p>
        </p:txBody>
      </p:sp>
      <p:sp>
        <p:nvSpPr>
          <p:cNvPr id="46" name="Text 44"/>
          <p:cNvSpPr/>
          <p:nvPr/>
        </p:nvSpPr>
        <p:spPr>
          <a:xfrm>
            <a:off x="8293608" y="5221224"/>
            <a:ext cx="3145536" cy="502920"/>
          </a:xfrm>
          <a:prstGeom prst="rect">
            <a:avLst/>
          </a:prstGeom>
          <a:noFill/>
          <a:ln/>
        </p:spPr>
        <p:txBody>
          <a:bodyPr wrap="square" lIns="0" tIns="0" rIns="0" bIns="0" rtlCol="0" anchor="ctr"/>
          <a:lstStyle/>
          <a:p>
            <a:pPr marL="0" indent="0">
              <a:buNone/>
            </a:pPr>
            <a:r>
              <a:rPr lang="en-US" sz="2600" b="1" dirty="0">
                <a:solidFill>
                  <a:srgbClr val="1F5FAE"/>
                </a:solidFill>
                <a:latin typeface="Segoe UI" pitchFamily="34" charset="0"/>
                <a:ea typeface="Segoe UI" pitchFamily="34" charset="-122"/>
                <a:cs typeface="Segoe UI" pitchFamily="34" charset="-120"/>
              </a:rPr>
              <a:t>2 of 3</a:t>
            </a:r>
            <a:endParaRPr lang="en-US" sz="2600" dirty="0"/>
          </a:p>
        </p:txBody>
      </p:sp>
      <p:sp>
        <p:nvSpPr>
          <p:cNvPr id="47" name="Text 45"/>
          <p:cNvSpPr/>
          <p:nvPr/>
        </p:nvSpPr>
        <p:spPr>
          <a:xfrm>
            <a:off x="8293608" y="5733288"/>
            <a:ext cx="3145536"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components come in below Finance's range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05</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3,219 people are disengaged and still here. That is the $61.8M.</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Finance's model assumes 625 to 781 people. The file holds five times that.</a:t>
            </a:r>
            <a:endParaRPr lang="en-US" sz="1250" dirty="0"/>
          </a:p>
        </p:txBody>
      </p:sp>
      <p:sp>
        <p:nvSpPr>
          <p:cNvPr id="7" name="Shape 5"/>
          <p:cNvSpPr/>
          <p:nvPr/>
        </p:nvSpPr>
        <p:spPr>
          <a:xfrm>
            <a:off x="548640" y="1691640"/>
            <a:ext cx="5486400" cy="2148840"/>
          </a:xfrm>
          <a:prstGeom prst="roundRect">
            <a:avLst>
              <a:gd name="adj" fmla="val 1277"/>
            </a:avLst>
          </a:prstGeom>
          <a:solidFill>
            <a:srgbClr val="FFFFFF"/>
          </a:solidFill>
          <a:ln w="9525">
            <a:solidFill>
              <a:srgbClr val="DFDDD6"/>
            </a:solidFill>
            <a:prstDash val="solid"/>
          </a:ln>
        </p:spPr>
        <p:txBody>
          <a:bodyPr/>
          <a:lstStyle/>
          <a:p>
            <a:endParaRPr lang="en-AU"/>
          </a:p>
        </p:txBody>
      </p:sp>
      <p:sp>
        <p:nvSpPr>
          <p:cNvPr id="8" name="Text 6"/>
          <p:cNvSpPr/>
          <p:nvPr/>
        </p:nvSpPr>
        <p:spPr>
          <a:xfrm>
            <a:off x="768096" y="1837944"/>
            <a:ext cx="5047488"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HOW WE DEFINE IT</a:t>
            </a:r>
            <a:endParaRPr lang="en-US" sz="900" dirty="0"/>
          </a:p>
        </p:txBody>
      </p:sp>
      <p:sp>
        <p:nvSpPr>
          <p:cNvPr id="9" name="Text 7"/>
          <p:cNvSpPr/>
          <p:nvPr/>
        </p:nvSpPr>
        <p:spPr>
          <a:xfrm>
            <a:off x="768096" y="2148840"/>
            <a:ext cx="5047488" cy="15087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Scored below 3 out of 5, averaged across the survey, in two or more waves they answered.</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Not a single bad week. A sustained pattern over at least two survey cycles.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These are people who have not resigned and are not planning to.</a:t>
            </a:r>
            <a:endParaRPr lang="en-US" sz="1150" dirty="0"/>
          </a:p>
        </p:txBody>
      </p:sp>
      <p:sp>
        <p:nvSpPr>
          <p:cNvPr id="10" name="Shape 8"/>
          <p:cNvSpPr/>
          <p:nvPr/>
        </p:nvSpPr>
        <p:spPr>
          <a:xfrm>
            <a:off x="6355080" y="1691640"/>
            <a:ext cx="5285232" cy="2148840"/>
          </a:xfrm>
          <a:prstGeom prst="roundRect">
            <a:avLst>
              <a:gd name="adj" fmla="val 1277"/>
            </a:avLst>
          </a:prstGeom>
          <a:solidFill>
            <a:srgbClr val="FFFFFF"/>
          </a:solidFill>
          <a:ln w="9525">
            <a:solidFill>
              <a:srgbClr val="DFDDD6"/>
            </a:solidFill>
            <a:prstDash val="solid"/>
          </a:ln>
        </p:spPr>
        <p:txBody>
          <a:bodyPr/>
          <a:lstStyle/>
          <a:p>
            <a:endParaRPr lang="en-AU"/>
          </a:p>
        </p:txBody>
      </p:sp>
      <p:sp>
        <p:nvSpPr>
          <p:cNvPr id="11" name="Text 9"/>
          <p:cNvSpPr/>
          <p:nvPr/>
        </p:nvSpPr>
        <p:spPr>
          <a:xfrm>
            <a:off x="6574536" y="1828800"/>
            <a:ext cx="484632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DOES THE ANSWER DEPEND ON WHERE WE DREW THE LINE?</a:t>
            </a:r>
            <a:endParaRPr lang="en-US" sz="900" dirty="0"/>
          </a:p>
        </p:txBody>
      </p:sp>
      <p:sp>
        <p:nvSpPr>
          <p:cNvPr id="12" name="Text 10"/>
          <p:cNvSpPr/>
          <p:nvPr/>
        </p:nvSpPr>
        <p:spPr>
          <a:xfrm>
            <a:off x="7818120" y="2121408"/>
            <a:ext cx="1188720" cy="201168"/>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1 low wave</a:t>
            </a:r>
            <a:endParaRPr lang="en-US" sz="850" dirty="0"/>
          </a:p>
        </p:txBody>
      </p:sp>
      <p:sp>
        <p:nvSpPr>
          <p:cNvPr id="13" name="Text 11"/>
          <p:cNvSpPr/>
          <p:nvPr/>
        </p:nvSpPr>
        <p:spPr>
          <a:xfrm>
            <a:off x="9025128" y="2121408"/>
            <a:ext cx="1188720" cy="201168"/>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2 low waves</a:t>
            </a:r>
            <a:endParaRPr lang="en-US" sz="850" dirty="0"/>
          </a:p>
        </p:txBody>
      </p:sp>
      <p:sp>
        <p:nvSpPr>
          <p:cNvPr id="14" name="Text 12"/>
          <p:cNvSpPr/>
          <p:nvPr/>
        </p:nvSpPr>
        <p:spPr>
          <a:xfrm>
            <a:off x="10232136" y="2121408"/>
            <a:ext cx="1188720" cy="201168"/>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3 low waves</a:t>
            </a:r>
            <a:endParaRPr lang="en-US" sz="850" dirty="0"/>
          </a:p>
        </p:txBody>
      </p:sp>
      <p:sp>
        <p:nvSpPr>
          <p:cNvPr id="15" name="Text 13"/>
          <p:cNvSpPr/>
          <p:nvPr/>
        </p:nvSpPr>
        <p:spPr>
          <a:xfrm>
            <a:off x="6574536" y="2359152"/>
            <a:ext cx="1188720" cy="237744"/>
          </a:xfrm>
          <a:prstGeom prst="rect">
            <a:avLst/>
          </a:prstGeom>
          <a:noFill/>
          <a:ln/>
        </p:spPr>
        <p:txBody>
          <a:bodyPr wrap="square" lIns="0" tIns="0" rIns="0" bIns="0" rtlCol="0" anchor="ctr"/>
          <a:lstStyle/>
          <a:p>
            <a:pPr marL="0" indent="0">
              <a:buNone/>
            </a:pPr>
            <a:r>
              <a:rPr lang="en-US" sz="850" dirty="0">
                <a:solidFill>
                  <a:srgbClr val="4A4845"/>
                </a:solidFill>
                <a:latin typeface="Segoe UI" pitchFamily="34" charset="0"/>
                <a:ea typeface="Segoe UI" pitchFamily="34" charset="-122"/>
                <a:cs typeface="Segoe UI" pitchFamily="34" charset="-120"/>
              </a:rPr>
              <a:t>score &lt; 2.50</a:t>
            </a:r>
            <a:endParaRPr lang="en-US" sz="850" dirty="0"/>
          </a:p>
        </p:txBody>
      </p:sp>
      <p:sp>
        <p:nvSpPr>
          <p:cNvPr id="16" name="Shape 14"/>
          <p:cNvSpPr/>
          <p:nvPr/>
        </p:nvSpPr>
        <p:spPr>
          <a:xfrm>
            <a:off x="7818120" y="2359152"/>
            <a:ext cx="1188720" cy="237744"/>
          </a:xfrm>
          <a:prstGeom prst="rect">
            <a:avLst/>
          </a:prstGeom>
          <a:solidFill>
            <a:srgbClr val="D9622F">
              <a:alpha val="13000"/>
            </a:srgbClr>
          </a:solidFill>
          <a:ln w="12700">
            <a:solidFill>
              <a:srgbClr val="FFFFFF"/>
            </a:solidFill>
            <a:prstDash val="solid"/>
          </a:ln>
        </p:spPr>
        <p:txBody>
          <a:bodyPr/>
          <a:lstStyle/>
          <a:p>
            <a:endParaRPr lang="en-AU"/>
          </a:p>
        </p:txBody>
      </p:sp>
      <p:sp>
        <p:nvSpPr>
          <p:cNvPr id="17" name="Text 15"/>
          <p:cNvSpPr/>
          <p:nvPr/>
        </p:nvSpPr>
        <p:spPr>
          <a:xfrm>
            <a:off x="7818120" y="2395728"/>
            <a:ext cx="1188720" cy="164592"/>
          </a:xfrm>
          <a:prstGeom prst="rect">
            <a:avLst/>
          </a:prstGeom>
          <a:noFill/>
          <a:ln/>
        </p:spPr>
        <p:txBody>
          <a:bodyPr wrap="square" lIns="0" tIns="0" rIns="0" bIns="0" rtlCol="0" anchor="ctr"/>
          <a:lstStyle/>
          <a:p>
            <a:pPr marL="0" indent="0" algn="ctr">
              <a:buNone/>
            </a:pPr>
            <a:r>
              <a:rPr lang="en-US" sz="950" dirty="0">
                <a:solidFill>
                  <a:srgbClr val="12100E"/>
                </a:solidFill>
                <a:latin typeface="Segoe UI" pitchFamily="34" charset="0"/>
                <a:ea typeface="Segoe UI" pitchFamily="34" charset="-122"/>
                <a:cs typeface="Segoe UI" pitchFamily="34" charset="-120"/>
              </a:rPr>
              <a:t>$28.1M</a:t>
            </a:r>
            <a:endParaRPr lang="en-US" sz="950" dirty="0"/>
          </a:p>
        </p:txBody>
      </p:sp>
      <p:sp>
        <p:nvSpPr>
          <p:cNvPr id="18" name="Shape 16"/>
          <p:cNvSpPr/>
          <p:nvPr/>
        </p:nvSpPr>
        <p:spPr>
          <a:xfrm>
            <a:off x="9025128" y="2359152"/>
            <a:ext cx="1188720" cy="237744"/>
          </a:xfrm>
          <a:prstGeom prst="rect">
            <a:avLst/>
          </a:prstGeom>
          <a:solidFill>
            <a:srgbClr val="D9622F">
              <a:alpha val="8000"/>
            </a:srgbClr>
          </a:solidFill>
          <a:ln w="12700">
            <a:solidFill>
              <a:srgbClr val="FFFFFF"/>
            </a:solidFill>
            <a:prstDash val="solid"/>
          </a:ln>
        </p:spPr>
        <p:txBody>
          <a:bodyPr/>
          <a:lstStyle/>
          <a:p>
            <a:endParaRPr lang="en-AU"/>
          </a:p>
        </p:txBody>
      </p:sp>
      <p:sp>
        <p:nvSpPr>
          <p:cNvPr id="19" name="Text 17"/>
          <p:cNvSpPr/>
          <p:nvPr/>
        </p:nvSpPr>
        <p:spPr>
          <a:xfrm>
            <a:off x="9025128" y="2395728"/>
            <a:ext cx="1188720" cy="164592"/>
          </a:xfrm>
          <a:prstGeom prst="rect">
            <a:avLst/>
          </a:prstGeom>
          <a:noFill/>
          <a:ln/>
        </p:spPr>
        <p:txBody>
          <a:bodyPr wrap="square" lIns="0" tIns="0" rIns="0" bIns="0" rtlCol="0" anchor="ctr"/>
          <a:lstStyle/>
          <a:p>
            <a:pPr marL="0" indent="0" algn="ctr">
              <a:buNone/>
            </a:pPr>
            <a:r>
              <a:rPr lang="en-US" sz="950" dirty="0">
                <a:solidFill>
                  <a:srgbClr val="12100E"/>
                </a:solidFill>
                <a:latin typeface="Segoe UI" pitchFamily="34" charset="0"/>
                <a:ea typeface="Segoe UI" pitchFamily="34" charset="-122"/>
                <a:cs typeface="Segoe UI" pitchFamily="34" charset="-120"/>
              </a:rPr>
              <a:t>$17.1M</a:t>
            </a:r>
            <a:endParaRPr lang="en-US" sz="950" dirty="0"/>
          </a:p>
        </p:txBody>
      </p:sp>
      <p:sp>
        <p:nvSpPr>
          <p:cNvPr id="20" name="Shape 18"/>
          <p:cNvSpPr/>
          <p:nvPr/>
        </p:nvSpPr>
        <p:spPr>
          <a:xfrm>
            <a:off x="10232136" y="2359152"/>
            <a:ext cx="1188720" cy="237744"/>
          </a:xfrm>
          <a:prstGeom prst="rect">
            <a:avLst/>
          </a:prstGeom>
          <a:solidFill>
            <a:srgbClr val="D9622F">
              <a:alpha val="5000"/>
            </a:srgbClr>
          </a:solidFill>
          <a:ln w="12700">
            <a:solidFill>
              <a:srgbClr val="FFFFFF"/>
            </a:solidFill>
            <a:prstDash val="solid"/>
          </a:ln>
        </p:spPr>
        <p:txBody>
          <a:bodyPr/>
          <a:lstStyle/>
          <a:p>
            <a:endParaRPr lang="en-AU"/>
          </a:p>
        </p:txBody>
      </p:sp>
      <p:sp>
        <p:nvSpPr>
          <p:cNvPr id="21" name="Text 19"/>
          <p:cNvSpPr/>
          <p:nvPr/>
        </p:nvSpPr>
        <p:spPr>
          <a:xfrm>
            <a:off x="10232136" y="2395728"/>
            <a:ext cx="1188720" cy="164592"/>
          </a:xfrm>
          <a:prstGeom prst="rect">
            <a:avLst/>
          </a:prstGeom>
          <a:noFill/>
          <a:ln/>
        </p:spPr>
        <p:txBody>
          <a:bodyPr wrap="square" lIns="0" tIns="0" rIns="0" bIns="0" rtlCol="0" anchor="ctr"/>
          <a:lstStyle/>
          <a:p>
            <a:pPr marL="0" indent="0" algn="ctr">
              <a:buNone/>
            </a:pPr>
            <a:r>
              <a:rPr lang="en-US" sz="950" dirty="0">
                <a:solidFill>
                  <a:srgbClr val="12100E"/>
                </a:solidFill>
                <a:latin typeface="Segoe UI" pitchFamily="34" charset="0"/>
                <a:ea typeface="Segoe UI" pitchFamily="34" charset="-122"/>
                <a:cs typeface="Segoe UI" pitchFamily="34" charset="-120"/>
              </a:rPr>
              <a:t>$10.9M</a:t>
            </a:r>
            <a:endParaRPr lang="en-US" sz="950" dirty="0"/>
          </a:p>
        </p:txBody>
      </p:sp>
      <p:sp>
        <p:nvSpPr>
          <p:cNvPr id="22" name="Text 20"/>
          <p:cNvSpPr/>
          <p:nvPr/>
        </p:nvSpPr>
        <p:spPr>
          <a:xfrm>
            <a:off x="6574536" y="2624328"/>
            <a:ext cx="1188720" cy="237744"/>
          </a:xfrm>
          <a:prstGeom prst="rect">
            <a:avLst/>
          </a:prstGeom>
          <a:noFill/>
          <a:ln/>
        </p:spPr>
        <p:txBody>
          <a:bodyPr wrap="square" lIns="0" tIns="0" rIns="0" bIns="0" rtlCol="0" anchor="ctr"/>
          <a:lstStyle/>
          <a:p>
            <a:pPr marL="0" indent="0">
              <a:buNone/>
            </a:pPr>
            <a:r>
              <a:rPr lang="en-US" sz="850" dirty="0">
                <a:solidFill>
                  <a:srgbClr val="4A4845"/>
                </a:solidFill>
                <a:latin typeface="Segoe UI" pitchFamily="34" charset="0"/>
                <a:ea typeface="Segoe UI" pitchFamily="34" charset="-122"/>
                <a:cs typeface="Segoe UI" pitchFamily="34" charset="-120"/>
              </a:rPr>
              <a:t>score &lt; 2.75</a:t>
            </a:r>
            <a:endParaRPr lang="en-US" sz="850" dirty="0"/>
          </a:p>
        </p:txBody>
      </p:sp>
      <p:sp>
        <p:nvSpPr>
          <p:cNvPr id="23" name="Shape 21"/>
          <p:cNvSpPr/>
          <p:nvPr/>
        </p:nvSpPr>
        <p:spPr>
          <a:xfrm>
            <a:off x="7818120" y="2624328"/>
            <a:ext cx="1188720" cy="237744"/>
          </a:xfrm>
          <a:prstGeom prst="rect">
            <a:avLst/>
          </a:prstGeom>
          <a:solidFill>
            <a:srgbClr val="D9622F">
              <a:alpha val="25000"/>
            </a:srgbClr>
          </a:solidFill>
          <a:ln w="12700">
            <a:solidFill>
              <a:srgbClr val="FFFFFF"/>
            </a:solidFill>
            <a:prstDash val="solid"/>
          </a:ln>
        </p:spPr>
        <p:txBody>
          <a:bodyPr/>
          <a:lstStyle/>
          <a:p>
            <a:endParaRPr lang="en-AU"/>
          </a:p>
        </p:txBody>
      </p:sp>
      <p:sp>
        <p:nvSpPr>
          <p:cNvPr id="24" name="Text 22"/>
          <p:cNvSpPr/>
          <p:nvPr/>
        </p:nvSpPr>
        <p:spPr>
          <a:xfrm>
            <a:off x="7818120" y="2660904"/>
            <a:ext cx="1188720" cy="164592"/>
          </a:xfrm>
          <a:prstGeom prst="rect">
            <a:avLst/>
          </a:prstGeom>
          <a:noFill/>
          <a:ln/>
        </p:spPr>
        <p:txBody>
          <a:bodyPr wrap="square" lIns="0" tIns="0" rIns="0" bIns="0" rtlCol="0" anchor="ctr"/>
          <a:lstStyle/>
          <a:p>
            <a:pPr marL="0" indent="0" algn="ctr">
              <a:buNone/>
            </a:pPr>
            <a:r>
              <a:rPr lang="en-US" sz="950" dirty="0">
                <a:solidFill>
                  <a:srgbClr val="12100E"/>
                </a:solidFill>
                <a:latin typeface="Segoe UI" pitchFamily="34" charset="0"/>
                <a:ea typeface="Segoe UI" pitchFamily="34" charset="-122"/>
                <a:cs typeface="Segoe UI" pitchFamily="34" charset="-120"/>
              </a:rPr>
              <a:t>$52.8M</a:t>
            </a:r>
            <a:endParaRPr lang="en-US" sz="950" dirty="0"/>
          </a:p>
        </p:txBody>
      </p:sp>
      <p:sp>
        <p:nvSpPr>
          <p:cNvPr id="25" name="Shape 23"/>
          <p:cNvSpPr/>
          <p:nvPr/>
        </p:nvSpPr>
        <p:spPr>
          <a:xfrm>
            <a:off x="9025128" y="2624328"/>
            <a:ext cx="1188720" cy="237744"/>
          </a:xfrm>
          <a:prstGeom prst="rect">
            <a:avLst/>
          </a:prstGeom>
          <a:solidFill>
            <a:srgbClr val="D9622F">
              <a:alpha val="16000"/>
            </a:srgbClr>
          </a:solidFill>
          <a:ln w="12700">
            <a:solidFill>
              <a:srgbClr val="FFFFFF"/>
            </a:solidFill>
            <a:prstDash val="solid"/>
          </a:ln>
        </p:spPr>
        <p:txBody>
          <a:bodyPr/>
          <a:lstStyle/>
          <a:p>
            <a:endParaRPr lang="en-AU"/>
          </a:p>
        </p:txBody>
      </p:sp>
      <p:sp>
        <p:nvSpPr>
          <p:cNvPr id="26" name="Text 24"/>
          <p:cNvSpPr/>
          <p:nvPr/>
        </p:nvSpPr>
        <p:spPr>
          <a:xfrm>
            <a:off x="9025128" y="2660904"/>
            <a:ext cx="1188720" cy="164592"/>
          </a:xfrm>
          <a:prstGeom prst="rect">
            <a:avLst/>
          </a:prstGeom>
          <a:noFill/>
          <a:ln/>
        </p:spPr>
        <p:txBody>
          <a:bodyPr wrap="square" lIns="0" tIns="0" rIns="0" bIns="0" rtlCol="0" anchor="ctr"/>
          <a:lstStyle/>
          <a:p>
            <a:pPr marL="0" indent="0" algn="ctr">
              <a:buNone/>
            </a:pPr>
            <a:r>
              <a:rPr lang="en-US" sz="950" dirty="0">
                <a:solidFill>
                  <a:srgbClr val="12100E"/>
                </a:solidFill>
                <a:latin typeface="Segoe UI" pitchFamily="34" charset="0"/>
                <a:ea typeface="Segoe UI" pitchFamily="34" charset="-122"/>
                <a:cs typeface="Segoe UI" pitchFamily="34" charset="-120"/>
              </a:rPr>
              <a:t>$34.2M</a:t>
            </a:r>
            <a:endParaRPr lang="en-US" sz="950" dirty="0"/>
          </a:p>
        </p:txBody>
      </p:sp>
      <p:sp>
        <p:nvSpPr>
          <p:cNvPr id="27" name="Shape 25"/>
          <p:cNvSpPr/>
          <p:nvPr/>
        </p:nvSpPr>
        <p:spPr>
          <a:xfrm>
            <a:off x="10232136" y="2624328"/>
            <a:ext cx="1188720" cy="237744"/>
          </a:xfrm>
          <a:prstGeom prst="rect">
            <a:avLst/>
          </a:prstGeom>
          <a:solidFill>
            <a:srgbClr val="D9622F">
              <a:alpha val="11000"/>
            </a:srgbClr>
          </a:solidFill>
          <a:ln w="12700">
            <a:solidFill>
              <a:srgbClr val="FFFFFF"/>
            </a:solidFill>
            <a:prstDash val="solid"/>
          </a:ln>
        </p:spPr>
        <p:txBody>
          <a:bodyPr/>
          <a:lstStyle/>
          <a:p>
            <a:endParaRPr lang="en-AU"/>
          </a:p>
        </p:txBody>
      </p:sp>
      <p:sp>
        <p:nvSpPr>
          <p:cNvPr id="28" name="Text 26"/>
          <p:cNvSpPr/>
          <p:nvPr/>
        </p:nvSpPr>
        <p:spPr>
          <a:xfrm>
            <a:off x="10232136" y="2660904"/>
            <a:ext cx="1188720" cy="164592"/>
          </a:xfrm>
          <a:prstGeom prst="rect">
            <a:avLst/>
          </a:prstGeom>
          <a:noFill/>
          <a:ln/>
        </p:spPr>
        <p:txBody>
          <a:bodyPr wrap="square" lIns="0" tIns="0" rIns="0" bIns="0" rtlCol="0" anchor="ctr"/>
          <a:lstStyle/>
          <a:p>
            <a:pPr marL="0" indent="0" algn="ctr">
              <a:buNone/>
            </a:pPr>
            <a:r>
              <a:rPr lang="en-US" sz="950" dirty="0">
                <a:solidFill>
                  <a:srgbClr val="12100E"/>
                </a:solidFill>
                <a:latin typeface="Segoe UI" pitchFamily="34" charset="0"/>
                <a:ea typeface="Segoe UI" pitchFamily="34" charset="-122"/>
                <a:cs typeface="Segoe UI" pitchFamily="34" charset="-120"/>
              </a:rPr>
              <a:t>$23.2M</a:t>
            </a:r>
            <a:endParaRPr lang="en-US" sz="950" dirty="0"/>
          </a:p>
        </p:txBody>
      </p:sp>
      <p:sp>
        <p:nvSpPr>
          <p:cNvPr id="29" name="Text 27"/>
          <p:cNvSpPr/>
          <p:nvPr/>
        </p:nvSpPr>
        <p:spPr>
          <a:xfrm>
            <a:off x="6574536" y="2889504"/>
            <a:ext cx="1188720" cy="237744"/>
          </a:xfrm>
          <a:prstGeom prst="rect">
            <a:avLst/>
          </a:prstGeom>
          <a:noFill/>
          <a:ln/>
        </p:spPr>
        <p:txBody>
          <a:bodyPr wrap="square" lIns="0" tIns="0" rIns="0" bIns="0" rtlCol="0" anchor="ctr"/>
          <a:lstStyle/>
          <a:p>
            <a:pPr marL="0" indent="0">
              <a:buNone/>
            </a:pPr>
            <a:r>
              <a:rPr lang="en-US" sz="850" b="1" dirty="0">
                <a:solidFill>
                  <a:srgbClr val="12100E"/>
                </a:solidFill>
                <a:latin typeface="Segoe UI" pitchFamily="34" charset="0"/>
                <a:ea typeface="Segoe UI" pitchFamily="34" charset="-122"/>
                <a:cs typeface="Segoe UI" pitchFamily="34" charset="-120"/>
              </a:rPr>
              <a:t>score &lt; 3.00</a:t>
            </a:r>
            <a:endParaRPr lang="en-US" sz="850" dirty="0"/>
          </a:p>
        </p:txBody>
      </p:sp>
      <p:sp>
        <p:nvSpPr>
          <p:cNvPr id="30" name="Shape 28"/>
          <p:cNvSpPr/>
          <p:nvPr/>
        </p:nvSpPr>
        <p:spPr>
          <a:xfrm>
            <a:off x="7818120" y="2889504"/>
            <a:ext cx="1188720" cy="237744"/>
          </a:xfrm>
          <a:prstGeom prst="rect">
            <a:avLst/>
          </a:prstGeom>
          <a:solidFill>
            <a:srgbClr val="D9622F">
              <a:alpha val="41000"/>
            </a:srgbClr>
          </a:solidFill>
          <a:ln w="12700">
            <a:solidFill>
              <a:srgbClr val="FFFFFF"/>
            </a:solidFill>
            <a:prstDash val="solid"/>
          </a:ln>
        </p:spPr>
        <p:txBody>
          <a:bodyPr/>
          <a:lstStyle/>
          <a:p>
            <a:endParaRPr lang="en-AU"/>
          </a:p>
        </p:txBody>
      </p:sp>
      <p:sp>
        <p:nvSpPr>
          <p:cNvPr id="31" name="Text 29"/>
          <p:cNvSpPr/>
          <p:nvPr/>
        </p:nvSpPr>
        <p:spPr>
          <a:xfrm>
            <a:off x="7818120" y="2926080"/>
            <a:ext cx="1188720" cy="164592"/>
          </a:xfrm>
          <a:prstGeom prst="rect">
            <a:avLst/>
          </a:prstGeom>
          <a:noFill/>
          <a:ln/>
        </p:spPr>
        <p:txBody>
          <a:bodyPr wrap="square" lIns="0" tIns="0" rIns="0" bIns="0" rtlCol="0" anchor="ctr"/>
          <a:lstStyle/>
          <a:p>
            <a:pPr marL="0" indent="0" algn="ctr">
              <a:buNone/>
            </a:pPr>
            <a:r>
              <a:rPr lang="en-US" sz="950" dirty="0">
                <a:solidFill>
                  <a:srgbClr val="12100E"/>
                </a:solidFill>
                <a:latin typeface="Segoe UI" pitchFamily="34" charset="0"/>
                <a:ea typeface="Segoe UI" pitchFamily="34" charset="-122"/>
                <a:cs typeface="Segoe UI" pitchFamily="34" charset="-120"/>
              </a:rPr>
              <a:t>$87.7M</a:t>
            </a:r>
            <a:endParaRPr lang="en-US" sz="950" dirty="0"/>
          </a:p>
        </p:txBody>
      </p:sp>
      <p:sp>
        <p:nvSpPr>
          <p:cNvPr id="32" name="Shape 30"/>
          <p:cNvSpPr/>
          <p:nvPr/>
        </p:nvSpPr>
        <p:spPr>
          <a:xfrm>
            <a:off x="9025128" y="2889504"/>
            <a:ext cx="1188720" cy="237744"/>
          </a:xfrm>
          <a:prstGeom prst="rect">
            <a:avLst/>
          </a:prstGeom>
          <a:solidFill>
            <a:srgbClr val="D9622F">
              <a:alpha val="29000"/>
            </a:srgbClr>
          </a:solidFill>
          <a:ln w="15875">
            <a:solidFill>
              <a:srgbClr val="12100E"/>
            </a:solidFill>
            <a:prstDash val="solid"/>
          </a:ln>
        </p:spPr>
        <p:txBody>
          <a:bodyPr/>
          <a:lstStyle/>
          <a:p>
            <a:endParaRPr lang="en-AU"/>
          </a:p>
        </p:txBody>
      </p:sp>
      <p:sp>
        <p:nvSpPr>
          <p:cNvPr id="33" name="Text 31"/>
          <p:cNvSpPr/>
          <p:nvPr/>
        </p:nvSpPr>
        <p:spPr>
          <a:xfrm>
            <a:off x="9025128" y="2926080"/>
            <a:ext cx="1188720" cy="164592"/>
          </a:xfrm>
          <a:prstGeom prst="rect">
            <a:avLst/>
          </a:prstGeom>
          <a:noFill/>
          <a:ln/>
        </p:spPr>
        <p:txBody>
          <a:bodyPr wrap="square" lIns="0" tIns="0" rIns="0" bIns="0" rtlCol="0" anchor="ctr"/>
          <a:lstStyle/>
          <a:p>
            <a:pPr marL="0" indent="0" algn="ctr">
              <a:buNone/>
            </a:pPr>
            <a:r>
              <a:rPr lang="en-US" sz="950" b="1" dirty="0">
                <a:solidFill>
                  <a:srgbClr val="12100E"/>
                </a:solidFill>
                <a:latin typeface="Segoe UI" pitchFamily="34" charset="0"/>
                <a:ea typeface="Segoe UI" pitchFamily="34" charset="-122"/>
                <a:cs typeface="Segoe UI" pitchFamily="34" charset="-120"/>
              </a:rPr>
              <a:t>$61.8M</a:t>
            </a:r>
            <a:endParaRPr lang="en-US" sz="950" dirty="0"/>
          </a:p>
        </p:txBody>
      </p:sp>
      <p:sp>
        <p:nvSpPr>
          <p:cNvPr id="34" name="Shape 32"/>
          <p:cNvSpPr/>
          <p:nvPr/>
        </p:nvSpPr>
        <p:spPr>
          <a:xfrm>
            <a:off x="10232136" y="2889504"/>
            <a:ext cx="1188720" cy="237744"/>
          </a:xfrm>
          <a:prstGeom prst="rect">
            <a:avLst/>
          </a:prstGeom>
          <a:solidFill>
            <a:srgbClr val="D9622F">
              <a:alpha val="21000"/>
            </a:srgbClr>
          </a:solidFill>
          <a:ln w="12700">
            <a:solidFill>
              <a:srgbClr val="FFFFFF"/>
            </a:solidFill>
            <a:prstDash val="solid"/>
          </a:ln>
        </p:spPr>
        <p:txBody>
          <a:bodyPr/>
          <a:lstStyle/>
          <a:p>
            <a:endParaRPr lang="en-AU"/>
          </a:p>
        </p:txBody>
      </p:sp>
      <p:sp>
        <p:nvSpPr>
          <p:cNvPr id="35" name="Text 33"/>
          <p:cNvSpPr/>
          <p:nvPr/>
        </p:nvSpPr>
        <p:spPr>
          <a:xfrm>
            <a:off x="10232136" y="2926080"/>
            <a:ext cx="1188720" cy="164592"/>
          </a:xfrm>
          <a:prstGeom prst="rect">
            <a:avLst/>
          </a:prstGeom>
          <a:noFill/>
          <a:ln/>
        </p:spPr>
        <p:txBody>
          <a:bodyPr wrap="square" lIns="0" tIns="0" rIns="0" bIns="0" rtlCol="0" anchor="ctr"/>
          <a:lstStyle/>
          <a:p>
            <a:pPr marL="0" indent="0" algn="ctr">
              <a:buNone/>
            </a:pPr>
            <a:r>
              <a:rPr lang="en-US" sz="950" dirty="0">
                <a:solidFill>
                  <a:srgbClr val="12100E"/>
                </a:solidFill>
                <a:latin typeface="Segoe UI" pitchFamily="34" charset="0"/>
                <a:ea typeface="Segoe UI" pitchFamily="34" charset="-122"/>
                <a:cs typeface="Segoe UI" pitchFamily="34" charset="-120"/>
              </a:rPr>
              <a:t>$44.3M</a:t>
            </a:r>
            <a:endParaRPr lang="en-US" sz="950" dirty="0"/>
          </a:p>
        </p:txBody>
      </p:sp>
      <p:sp>
        <p:nvSpPr>
          <p:cNvPr id="36" name="Text 34"/>
          <p:cNvSpPr/>
          <p:nvPr/>
        </p:nvSpPr>
        <p:spPr>
          <a:xfrm>
            <a:off x="6574536" y="3154680"/>
            <a:ext cx="1188720" cy="237744"/>
          </a:xfrm>
          <a:prstGeom prst="rect">
            <a:avLst/>
          </a:prstGeom>
          <a:noFill/>
          <a:ln/>
        </p:spPr>
        <p:txBody>
          <a:bodyPr wrap="square" lIns="0" tIns="0" rIns="0" bIns="0" rtlCol="0" anchor="ctr"/>
          <a:lstStyle/>
          <a:p>
            <a:pPr marL="0" indent="0">
              <a:buNone/>
            </a:pPr>
            <a:r>
              <a:rPr lang="en-US" sz="850" dirty="0">
                <a:solidFill>
                  <a:srgbClr val="4A4845"/>
                </a:solidFill>
                <a:latin typeface="Segoe UI" pitchFamily="34" charset="0"/>
                <a:ea typeface="Segoe UI" pitchFamily="34" charset="-122"/>
                <a:cs typeface="Segoe UI" pitchFamily="34" charset="-120"/>
              </a:rPr>
              <a:t>score &lt; 3.25</a:t>
            </a:r>
            <a:endParaRPr lang="en-US" sz="850" dirty="0"/>
          </a:p>
        </p:txBody>
      </p:sp>
      <p:sp>
        <p:nvSpPr>
          <p:cNvPr id="37" name="Shape 35"/>
          <p:cNvSpPr/>
          <p:nvPr/>
        </p:nvSpPr>
        <p:spPr>
          <a:xfrm>
            <a:off x="7818120" y="3154680"/>
            <a:ext cx="1188720" cy="237744"/>
          </a:xfrm>
          <a:prstGeom prst="rect">
            <a:avLst/>
          </a:prstGeom>
          <a:solidFill>
            <a:srgbClr val="D9622F">
              <a:alpha val="60000"/>
            </a:srgbClr>
          </a:solidFill>
          <a:ln w="12700">
            <a:solidFill>
              <a:srgbClr val="FFFFFF"/>
            </a:solidFill>
            <a:prstDash val="solid"/>
          </a:ln>
        </p:spPr>
        <p:txBody>
          <a:bodyPr/>
          <a:lstStyle/>
          <a:p>
            <a:endParaRPr lang="en-AU"/>
          </a:p>
        </p:txBody>
      </p:sp>
      <p:sp>
        <p:nvSpPr>
          <p:cNvPr id="38" name="Text 36"/>
          <p:cNvSpPr/>
          <p:nvPr/>
        </p:nvSpPr>
        <p:spPr>
          <a:xfrm>
            <a:off x="7818120" y="3191256"/>
            <a:ext cx="1188720" cy="164592"/>
          </a:xfrm>
          <a:prstGeom prst="rect">
            <a:avLst/>
          </a:prstGeom>
          <a:noFill/>
          <a:ln/>
        </p:spPr>
        <p:txBody>
          <a:bodyPr wrap="square" lIns="0" tIns="0" rIns="0" bIns="0" rtlCol="0" anchor="ctr"/>
          <a:lstStyle/>
          <a:p>
            <a:pPr marL="0" indent="0" algn="ctr">
              <a:buNone/>
            </a:pPr>
            <a:r>
              <a:rPr lang="en-US" sz="950" dirty="0">
                <a:solidFill>
                  <a:srgbClr val="FFFFFF"/>
                </a:solidFill>
                <a:latin typeface="Segoe UI" pitchFamily="34" charset="0"/>
                <a:ea typeface="Segoe UI" pitchFamily="34" charset="-122"/>
                <a:cs typeface="Segoe UI" pitchFamily="34" charset="-120"/>
              </a:rPr>
              <a:t>$126.8M</a:t>
            </a:r>
            <a:endParaRPr lang="en-US" sz="950" dirty="0"/>
          </a:p>
        </p:txBody>
      </p:sp>
      <p:sp>
        <p:nvSpPr>
          <p:cNvPr id="39" name="Shape 37"/>
          <p:cNvSpPr/>
          <p:nvPr/>
        </p:nvSpPr>
        <p:spPr>
          <a:xfrm>
            <a:off x="9025128" y="3154680"/>
            <a:ext cx="1188720" cy="237744"/>
          </a:xfrm>
          <a:prstGeom prst="rect">
            <a:avLst/>
          </a:prstGeom>
          <a:solidFill>
            <a:srgbClr val="D9622F">
              <a:alpha val="45000"/>
            </a:srgbClr>
          </a:solidFill>
          <a:ln w="12700">
            <a:solidFill>
              <a:srgbClr val="FFFFFF"/>
            </a:solidFill>
            <a:prstDash val="solid"/>
          </a:ln>
        </p:spPr>
        <p:txBody>
          <a:bodyPr/>
          <a:lstStyle/>
          <a:p>
            <a:endParaRPr lang="en-AU"/>
          </a:p>
        </p:txBody>
      </p:sp>
      <p:sp>
        <p:nvSpPr>
          <p:cNvPr id="40" name="Text 38"/>
          <p:cNvSpPr/>
          <p:nvPr/>
        </p:nvSpPr>
        <p:spPr>
          <a:xfrm>
            <a:off x="9025128" y="3191256"/>
            <a:ext cx="1188720" cy="164592"/>
          </a:xfrm>
          <a:prstGeom prst="rect">
            <a:avLst/>
          </a:prstGeom>
          <a:noFill/>
          <a:ln/>
        </p:spPr>
        <p:txBody>
          <a:bodyPr wrap="square" lIns="0" tIns="0" rIns="0" bIns="0" rtlCol="0" anchor="ctr"/>
          <a:lstStyle/>
          <a:p>
            <a:pPr marL="0" indent="0" algn="ctr">
              <a:buNone/>
            </a:pPr>
            <a:r>
              <a:rPr lang="en-US" sz="950" dirty="0">
                <a:solidFill>
                  <a:srgbClr val="FFFFFF"/>
                </a:solidFill>
                <a:latin typeface="Segoe UI" pitchFamily="34" charset="0"/>
                <a:ea typeface="Segoe UI" pitchFamily="34" charset="-122"/>
                <a:cs typeface="Segoe UI" pitchFamily="34" charset="-120"/>
              </a:rPr>
              <a:t>$95.4M</a:t>
            </a:r>
            <a:endParaRPr lang="en-US" sz="950" dirty="0"/>
          </a:p>
        </p:txBody>
      </p:sp>
      <p:sp>
        <p:nvSpPr>
          <p:cNvPr id="41" name="Shape 39"/>
          <p:cNvSpPr/>
          <p:nvPr/>
        </p:nvSpPr>
        <p:spPr>
          <a:xfrm>
            <a:off x="10232136" y="3154680"/>
            <a:ext cx="1188720" cy="237744"/>
          </a:xfrm>
          <a:prstGeom prst="rect">
            <a:avLst/>
          </a:prstGeom>
          <a:solidFill>
            <a:srgbClr val="D9622F">
              <a:alpha val="34000"/>
            </a:srgbClr>
          </a:solidFill>
          <a:ln w="12700">
            <a:solidFill>
              <a:srgbClr val="FFFFFF"/>
            </a:solidFill>
            <a:prstDash val="solid"/>
          </a:ln>
        </p:spPr>
        <p:txBody>
          <a:bodyPr/>
          <a:lstStyle/>
          <a:p>
            <a:endParaRPr lang="en-AU"/>
          </a:p>
        </p:txBody>
      </p:sp>
      <p:sp>
        <p:nvSpPr>
          <p:cNvPr id="42" name="Text 40"/>
          <p:cNvSpPr/>
          <p:nvPr/>
        </p:nvSpPr>
        <p:spPr>
          <a:xfrm>
            <a:off x="10232136" y="3191256"/>
            <a:ext cx="1188720" cy="164592"/>
          </a:xfrm>
          <a:prstGeom prst="rect">
            <a:avLst/>
          </a:prstGeom>
          <a:noFill/>
          <a:ln/>
        </p:spPr>
        <p:txBody>
          <a:bodyPr wrap="square" lIns="0" tIns="0" rIns="0" bIns="0" rtlCol="0" anchor="ctr"/>
          <a:lstStyle/>
          <a:p>
            <a:pPr marL="0" indent="0" algn="ctr">
              <a:buNone/>
            </a:pPr>
            <a:r>
              <a:rPr lang="en-US" sz="950" dirty="0">
                <a:solidFill>
                  <a:srgbClr val="12100E"/>
                </a:solidFill>
                <a:latin typeface="Segoe UI" pitchFamily="34" charset="0"/>
                <a:ea typeface="Segoe UI" pitchFamily="34" charset="-122"/>
                <a:cs typeface="Segoe UI" pitchFamily="34" charset="-120"/>
              </a:rPr>
              <a:t>$71.8M</a:t>
            </a:r>
            <a:endParaRPr lang="en-US" sz="950" dirty="0"/>
          </a:p>
        </p:txBody>
      </p:sp>
      <p:sp>
        <p:nvSpPr>
          <p:cNvPr id="43" name="Text 41"/>
          <p:cNvSpPr/>
          <p:nvPr/>
        </p:nvSpPr>
        <p:spPr>
          <a:xfrm>
            <a:off x="6574536" y="3419856"/>
            <a:ext cx="1188720" cy="237744"/>
          </a:xfrm>
          <a:prstGeom prst="rect">
            <a:avLst/>
          </a:prstGeom>
          <a:noFill/>
          <a:ln/>
        </p:spPr>
        <p:txBody>
          <a:bodyPr wrap="square" lIns="0" tIns="0" rIns="0" bIns="0" rtlCol="0" anchor="ctr"/>
          <a:lstStyle/>
          <a:p>
            <a:pPr marL="0" indent="0">
              <a:buNone/>
            </a:pPr>
            <a:r>
              <a:rPr lang="en-US" sz="850" dirty="0">
                <a:solidFill>
                  <a:srgbClr val="4A4845"/>
                </a:solidFill>
                <a:latin typeface="Segoe UI" pitchFamily="34" charset="0"/>
                <a:ea typeface="Segoe UI" pitchFamily="34" charset="-122"/>
                <a:cs typeface="Segoe UI" pitchFamily="34" charset="-120"/>
              </a:rPr>
              <a:t>score &lt; 3.50</a:t>
            </a:r>
            <a:endParaRPr lang="en-US" sz="850" dirty="0"/>
          </a:p>
        </p:txBody>
      </p:sp>
      <p:sp>
        <p:nvSpPr>
          <p:cNvPr id="44" name="Shape 42"/>
          <p:cNvSpPr/>
          <p:nvPr/>
        </p:nvSpPr>
        <p:spPr>
          <a:xfrm>
            <a:off x="7818120" y="3419856"/>
            <a:ext cx="1188720" cy="237744"/>
          </a:xfrm>
          <a:prstGeom prst="rect">
            <a:avLst/>
          </a:prstGeom>
          <a:solidFill>
            <a:srgbClr val="D9622F">
              <a:alpha val="78000"/>
            </a:srgbClr>
          </a:solidFill>
          <a:ln w="12700">
            <a:solidFill>
              <a:srgbClr val="FFFFFF"/>
            </a:solidFill>
            <a:prstDash val="solid"/>
          </a:ln>
        </p:spPr>
        <p:txBody>
          <a:bodyPr/>
          <a:lstStyle/>
          <a:p>
            <a:endParaRPr lang="en-AU"/>
          </a:p>
        </p:txBody>
      </p:sp>
      <p:sp>
        <p:nvSpPr>
          <p:cNvPr id="45" name="Text 43"/>
          <p:cNvSpPr/>
          <p:nvPr/>
        </p:nvSpPr>
        <p:spPr>
          <a:xfrm>
            <a:off x="7818120" y="3456432"/>
            <a:ext cx="1188720" cy="164592"/>
          </a:xfrm>
          <a:prstGeom prst="rect">
            <a:avLst/>
          </a:prstGeom>
          <a:noFill/>
          <a:ln/>
        </p:spPr>
        <p:txBody>
          <a:bodyPr wrap="square" lIns="0" tIns="0" rIns="0" bIns="0" rtlCol="0" anchor="ctr"/>
          <a:lstStyle/>
          <a:p>
            <a:pPr marL="0" indent="0" algn="ctr">
              <a:buNone/>
            </a:pPr>
            <a:r>
              <a:rPr lang="en-US" sz="950" dirty="0">
                <a:solidFill>
                  <a:srgbClr val="FFFFFF"/>
                </a:solidFill>
                <a:latin typeface="Segoe UI" pitchFamily="34" charset="0"/>
                <a:ea typeface="Segoe UI" pitchFamily="34" charset="-122"/>
                <a:cs typeface="Segoe UI" pitchFamily="34" charset="-120"/>
              </a:rPr>
              <a:t>$165.3M</a:t>
            </a:r>
            <a:endParaRPr lang="en-US" sz="950" dirty="0"/>
          </a:p>
        </p:txBody>
      </p:sp>
      <p:sp>
        <p:nvSpPr>
          <p:cNvPr id="46" name="Shape 44"/>
          <p:cNvSpPr/>
          <p:nvPr/>
        </p:nvSpPr>
        <p:spPr>
          <a:xfrm>
            <a:off x="9025128" y="3419856"/>
            <a:ext cx="1188720" cy="237744"/>
          </a:xfrm>
          <a:prstGeom prst="rect">
            <a:avLst/>
          </a:prstGeom>
          <a:solidFill>
            <a:srgbClr val="D9622F">
              <a:alpha val="62000"/>
            </a:srgbClr>
          </a:solidFill>
          <a:ln w="12700">
            <a:solidFill>
              <a:srgbClr val="FFFFFF"/>
            </a:solidFill>
            <a:prstDash val="solid"/>
          </a:ln>
        </p:spPr>
        <p:txBody>
          <a:bodyPr/>
          <a:lstStyle/>
          <a:p>
            <a:endParaRPr lang="en-AU"/>
          </a:p>
        </p:txBody>
      </p:sp>
      <p:sp>
        <p:nvSpPr>
          <p:cNvPr id="47" name="Text 45"/>
          <p:cNvSpPr/>
          <p:nvPr/>
        </p:nvSpPr>
        <p:spPr>
          <a:xfrm>
            <a:off x="9025128" y="3456432"/>
            <a:ext cx="1188720" cy="164592"/>
          </a:xfrm>
          <a:prstGeom prst="rect">
            <a:avLst/>
          </a:prstGeom>
          <a:noFill/>
          <a:ln/>
        </p:spPr>
        <p:txBody>
          <a:bodyPr wrap="square" lIns="0" tIns="0" rIns="0" bIns="0" rtlCol="0" anchor="ctr"/>
          <a:lstStyle/>
          <a:p>
            <a:pPr marL="0" indent="0" algn="ctr">
              <a:buNone/>
            </a:pPr>
            <a:r>
              <a:rPr lang="en-US" sz="950" dirty="0">
                <a:solidFill>
                  <a:srgbClr val="FFFFFF"/>
                </a:solidFill>
                <a:latin typeface="Segoe UI" pitchFamily="34" charset="0"/>
                <a:ea typeface="Segoe UI" pitchFamily="34" charset="-122"/>
                <a:cs typeface="Segoe UI" pitchFamily="34" charset="-120"/>
              </a:rPr>
              <a:t>$131.2M</a:t>
            </a:r>
            <a:endParaRPr lang="en-US" sz="950" dirty="0"/>
          </a:p>
        </p:txBody>
      </p:sp>
      <p:sp>
        <p:nvSpPr>
          <p:cNvPr id="48" name="Shape 46"/>
          <p:cNvSpPr/>
          <p:nvPr/>
        </p:nvSpPr>
        <p:spPr>
          <a:xfrm>
            <a:off x="10232136" y="3419856"/>
            <a:ext cx="1188720" cy="237744"/>
          </a:xfrm>
          <a:prstGeom prst="rect">
            <a:avLst/>
          </a:prstGeom>
          <a:solidFill>
            <a:srgbClr val="D9622F">
              <a:alpha val="49000"/>
            </a:srgbClr>
          </a:solidFill>
          <a:ln w="12700">
            <a:solidFill>
              <a:srgbClr val="FFFFFF"/>
            </a:solidFill>
            <a:prstDash val="solid"/>
          </a:ln>
        </p:spPr>
        <p:txBody>
          <a:bodyPr/>
          <a:lstStyle/>
          <a:p>
            <a:endParaRPr lang="en-AU"/>
          </a:p>
        </p:txBody>
      </p:sp>
      <p:sp>
        <p:nvSpPr>
          <p:cNvPr id="49" name="Text 47"/>
          <p:cNvSpPr/>
          <p:nvPr/>
        </p:nvSpPr>
        <p:spPr>
          <a:xfrm>
            <a:off x="10232136" y="3456432"/>
            <a:ext cx="1188720" cy="164592"/>
          </a:xfrm>
          <a:prstGeom prst="rect">
            <a:avLst/>
          </a:prstGeom>
          <a:noFill/>
          <a:ln/>
        </p:spPr>
        <p:txBody>
          <a:bodyPr wrap="square" lIns="0" tIns="0" rIns="0" bIns="0" rtlCol="0" anchor="ctr"/>
          <a:lstStyle/>
          <a:p>
            <a:pPr marL="0" indent="0" algn="ctr">
              <a:buNone/>
            </a:pPr>
            <a:r>
              <a:rPr lang="en-US" sz="950" dirty="0">
                <a:solidFill>
                  <a:srgbClr val="FFFFFF"/>
                </a:solidFill>
                <a:latin typeface="Segoe UI" pitchFamily="34" charset="0"/>
                <a:ea typeface="Segoe UI" pitchFamily="34" charset="-122"/>
                <a:cs typeface="Segoe UI" pitchFamily="34" charset="-120"/>
              </a:rPr>
              <a:t>$104.0M</a:t>
            </a:r>
            <a:endParaRPr lang="en-US" sz="950" dirty="0"/>
          </a:p>
        </p:txBody>
      </p:sp>
      <p:sp>
        <p:nvSpPr>
          <p:cNvPr id="50" name="Text 48"/>
          <p:cNvSpPr/>
          <p:nvPr/>
        </p:nvSpPr>
        <p:spPr>
          <a:xfrm>
            <a:off x="6574536" y="3675888"/>
            <a:ext cx="4846320" cy="201168"/>
          </a:xfrm>
          <a:prstGeom prst="rect">
            <a:avLst/>
          </a:prstGeom>
          <a:noFill/>
          <a:ln/>
        </p:spPr>
        <p:txBody>
          <a:bodyPr wrap="square" lIns="0" tIns="0" rIns="0" bIns="0" rtlCol="0" anchor="ctr"/>
          <a:lstStyle/>
          <a:p>
            <a:pPr marL="0" indent="0">
              <a:buNone/>
            </a:pPr>
            <a:r>
              <a:rPr lang="en-US" sz="850" i="1" dirty="0">
                <a:solidFill>
                  <a:srgbClr val="8A8781"/>
                </a:solidFill>
                <a:latin typeface="Segoe UI" pitchFamily="34" charset="0"/>
                <a:ea typeface="Segoe UI" pitchFamily="34" charset="-122"/>
                <a:cs typeface="Segoe UI" pitchFamily="34" charset="-120"/>
              </a:rPr>
              <a:t>Boxed cell is the definition we used. 14 of 15 land above Finance's $12 to 15M.</a:t>
            </a:r>
            <a:endParaRPr lang="en-US" sz="850" dirty="0"/>
          </a:p>
        </p:txBody>
      </p:sp>
      <p:sp>
        <p:nvSpPr>
          <p:cNvPr id="51" name="Text 49"/>
          <p:cNvSpPr/>
          <p:nvPr/>
        </p:nvSpPr>
        <p:spPr>
          <a:xfrm>
            <a:off x="548640" y="4279392"/>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Retail Banking</a:t>
            </a:r>
            <a:endParaRPr lang="en-US" sz="1100" dirty="0"/>
          </a:p>
        </p:txBody>
      </p:sp>
      <p:sp>
        <p:nvSpPr>
          <p:cNvPr id="52" name="Shape 50"/>
          <p:cNvSpPr/>
          <p:nvPr/>
        </p:nvSpPr>
        <p:spPr>
          <a:xfrm>
            <a:off x="3108960" y="4334256"/>
            <a:ext cx="2468880" cy="201168"/>
          </a:xfrm>
          <a:prstGeom prst="rect">
            <a:avLst/>
          </a:prstGeom>
          <a:solidFill>
            <a:srgbClr val="F5F4F0"/>
          </a:solidFill>
          <a:ln/>
        </p:spPr>
        <p:txBody>
          <a:bodyPr/>
          <a:lstStyle/>
          <a:p>
            <a:endParaRPr lang="en-AU"/>
          </a:p>
        </p:txBody>
      </p:sp>
      <p:sp>
        <p:nvSpPr>
          <p:cNvPr id="53" name="Shape 51"/>
          <p:cNvSpPr/>
          <p:nvPr/>
        </p:nvSpPr>
        <p:spPr>
          <a:xfrm>
            <a:off x="3108960" y="4334256"/>
            <a:ext cx="2411906" cy="201168"/>
          </a:xfrm>
          <a:prstGeom prst="rect">
            <a:avLst/>
          </a:prstGeom>
          <a:solidFill>
            <a:srgbClr val="D9622F"/>
          </a:solidFill>
          <a:ln/>
        </p:spPr>
        <p:txBody>
          <a:bodyPr/>
          <a:lstStyle/>
          <a:p>
            <a:endParaRPr lang="en-AU"/>
          </a:p>
        </p:txBody>
      </p:sp>
      <p:sp>
        <p:nvSpPr>
          <p:cNvPr id="54" name="Text 52"/>
          <p:cNvSpPr/>
          <p:nvPr/>
        </p:nvSpPr>
        <p:spPr>
          <a:xfrm>
            <a:off x="5687568" y="4297680"/>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$12.7M</a:t>
            </a:r>
            <a:endParaRPr lang="en-US" sz="1100" dirty="0"/>
          </a:p>
        </p:txBody>
      </p:sp>
      <p:sp>
        <p:nvSpPr>
          <p:cNvPr id="55" name="Text 53"/>
          <p:cNvSpPr/>
          <p:nvPr/>
        </p:nvSpPr>
        <p:spPr>
          <a:xfrm>
            <a:off x="548640" y="4663440"/>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Risk &amp; Compliance</a:t>
            </a:r>
            <a:endParaRPr lang="en-US" sz="1100" dirty="0"/>
          </a:p>
        </p:txBody>
      </p:sp>
      <p:sp>
        <p:nvSpPr>
          <p:cNvPr id="56" name="Shape 54"/>
          <p:cNvSpPr/>
          <p:nvPr/>
        </p:nvSpPr>
        <p:spPr>
          <a:xfrm>
            <a:off x="3108960" y="4718304"/>
            <a:ext cx="2468880" cy="201168"/>
          </a:xfrm>
          <a:prstGeom prst="rect">
            <a:avLst/>
          </a:prstGeom>
          <a:solidFill>
            <a:srgbClr val="F5F4F0"/>
          </a:solidFill>
          <a:ln/>
        </p:spPr>
        <p:txBody>
          <a:bodyPr/>
          <a:lstStyle/>
          <a:p>
            <a:endParaRPr lang="en-AU"/>
          </a:p>
        </p:txBody>
      </p:sp>
      <p:sp>
        <p:nvSpPr>
          <p:cNvPr id="57" name="Shape 55"/>
          <p:cNvSpPr/>
          <p:nvPr/>
        </p:nvSpPr>
        <p:spPr>
          <a:xfrm>
            <a:off x="3108960" y="4718304"/>
            <a:ext cx="1842164" cy="201168"/>
          </a:xfrm>
          <a:prstGeom prst="rect">
            <a:avLst/>
          </a:prstGeom>
          <a:solidFill>
            <a:srgbClr val="D9622F"/>
          </a:solidFill>
          <a:ln/>
        </p:spPr>
        <p:txBody>
          <a:bodyPr/>
          <a:lstStyle/>
          <a:p>
            <a:endParaRPr lang="en-AU"/>
          </a:p>
        </p:txBody>
      </p:sp>
      <p:sp>
        <p:nvSpPr>
          <p:cNvPr id="58" name="Text 56"/>
          <p:cNvSpPr/>
          <p:nvPr/>
        </p:nvSpPr>
        <p:spPr>
          <a:xfrm>
            <a:off x="5687568" y="4681728"/>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$9.7M</a:t>
            </a:r>
            <a:endParaRPr lang="en-US" sz="1100" dirty="0"/>
          </a:p>
        </p:txBody>
      </p:sp>
      <p:sp>
        <p:nvSpPr>
          <p:cNvPr id="59" name="Text 57"/>
          <p:cNvSpPr/>
          <p:nvPr/>
        </p:nvSpPr>
        <p:spPr>
          <a:xfrm>
            <a:off x="548640" y="5047488"/>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Insurance</a:t>
            </a:r>
            <a:endParaRPr lang="en-US" sz="1100" dirty="0"/>
          </a:p>
        </p:txBody>
      </p:sp>
      <p:sp>
        <p:nvSpPr>
          <p:cNvPr id="60" name="Shape 58"/>
          <p:cNvSpPr/>
          <p:nvPr/>
        </p:nvSpPr>
        <p:spPr>
          <a:xfrm>
            <a:off x="3108960" y="5102352"/>
            <a:ext cx="2468880" cy="201168"/>
          </a:xfrm>
          <a:prstGeom prst="rect">
            <a:avLst/>
          </a:prstGeom>
          <a:solidFill>
            <a:srgbClr val="F5F4F0"/>
          </a:solidFill>
          <a:ln/>
        </p:spPr>
        <p:txBody>
          <a:bodyPr/>
          <a:lstStyle/>
          <a:p>
            <a:endParaRPr lang="en-AU"/>
          </a:p>
        </p:txBody>
      </p:sp>
      <p:sp>
        <p:nvSpPr>
          <p:cNvPr id="61" name="Shape 59"/>
          <p:cNvSpPr/>
          <p:nvPr/>
        </p:nvSpPr>
        <p:spPr>
          <a:xfrm>
            <a:off x="3108960" y="5102352"/>
            <a:ext cx="1747207" cy="201168"/>
          </a:xfrm>
          <a:prstGeom prst="rect">
            <a:avLst/>
          </a:prstGeom>
          <a:solidFill>
            <a:srgbClr val="D9622F"/>
          </a:solidFill>
          <a:ln/>
        </p:spPr>
        <p:txBody>
          <a:bodyPr/>
          <a:lstStyle/>
          <a:p>
            <a:endParaRPr lang="en-AU"/>
          </a:p>
        </p:txBody>
      </p:sp>
      <p:sp>
        <p:nvSpPr>
          <p:cNvPr id="62" name="Text 60"/>
          <p:cNvSpPr/>
          <p:nvPr/>
        </p:nvSpPr>
        <p:spPr>
          <a:xfrm>
            <a:off x="5687568" y="5065776"/>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$9.2M</a:t>
            </a:r>
            <a:endParaRPr lang="en-US" sz="1100" dirty="0"/>
          </a:p>
        </p:txBody>
      </p:sp>
      <p:sp>
        <p:nvSpPr>
          <p:cNvPr id="63" name="Text 61"/>
          <p:cNvSpPr/>
          <p:nvPr/>
        </p:nvSpPr>
        <p:spPr>
          <a:xfrm>
            <a:off x="548640" y="5431536"/>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Corporate Operations</a:t>
            </a:r>
            <a:endParaRPr lang="en-US" sz="1100" dirty="0"/>
          </a:p>
        </p:txBody>
      </p:sp>
      <p:sp>
        <p:nvSpPr>
          <p:cNvPr id="64" name="Shape 62"/>
          <p:cNvSpPr/>
          <p:nvPr/>
        </p:nvSpPr>
        <p:spPr>
          <a:xfrm>
            <a:off x="3108960" y="5486400"/>
            <a:ext cx="2468880" cy="201168"/>
          </a:xfrm>
          <a:prstGeom prst="rect">
            <a:avLst/>
          </a:prstGeom>
          <a:solidFill>
            <a:srgbClr val="F5F4F0"/>
          </a:solidFill>
          <a:ln/>
        </p:spPr>
        <p:txBody>
          <a:bodyPr/>
          <a:lstStyle/>
          <a:p>
            <a:endParaRPr lang="en-AU"/>
          </a:p>
        </p:txBody>
      </p:sp>
      <p:sp>
        <p:nvSpPr>
          <p:cNvPr id="65" name="Shape 63"/>
          <p:cNvSpPr/>
          <p:nvPr/>
        </p:nvSpPr>
        <p:spPr>
          <a:xfrm>
            <a:off x="3108960" y="5486400"/>
            <a:ext cx="1633259" cy="201168"/>
          </a:xfrm>
          <a:prstGeom prst="rect">
            <a:avLst/>
          </a:prstGeom>
          <a:solidFill>
            <a:srgbClr val="D9622F"/>
          </a:solidFill>
          <a:ln/>
        </p:spPr>
        <p:txBody>
          <a:bodyPr/>
          <a:lstStyle/>
          <a:p>
            <a:endParaRPr lang="en-AU"/>
          </a:p>
        </p:txBody>
      </p:sp>
      <p:sp>
        <p:nvSpPr>
          <p:cNvPr id="66" name="Text 64"/>
          <p:cNvSpPr/>
          <p:nvPr/>
        </p:nvSpPr>
        <p:spPr>
          <a:xfrm>
            <a:off x="5687568" y="5449824"/>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$8.6M</a:t>
            </a:r>
            <a:endParaRPr lang="en-US" sz="1100" dirty="0"/>
          </a:p>
        </p:txBody>
      </p:sp>
      <p:sp>
        <p:nvSpPr>
          <p:cNvPr id="67" name="Text 65"/>
          <p:cNvSpPr/>
          <p:nvPr/>
        </p:nvSpPr>
        <p:spPr>
          <a:xfrm>
            <a:off x="548640" y="5815584"/>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Technology</a:t>
            </a:r>
            <a:endParaRPr lang="en-US" sz="1100" dirty="0"/>
          </a:p>
        </p:txBody>
      </p:sp>
      <p:sp>
        <p:nvSpPr>
          <p:cNvPr id="68" name="Shape 66"/>
          <p:cNvSpPr/>
          <p:nvPr/>
        </p:nvSpPr>
        <p:spPr>
          <a:xfrm>
            <a:off x="3108960" y="5870448"/>
            <a:ext cx="2468880" cy="201168"/>
          </a:xfrm>
          <a:prstGeom prst="rect">
            <a:avLst/>
          </a:prstGeom>
          <a:solidFill>
            <a:srgbClr val="F5F4F0"/>
          </a:solidFill>
          <a:ln/>
        </p:spPr>
        <p:txBody>
          <a:bodyPr/>
          <a:lstStyle/>
          <a:p>
            <a:endParaRPr lang="en-AU"/>
          </a:p>
        </p:txBody>
      </p:sp>
      <p:sp>
        <p:nvSpPr>
          <p:cNvPr id="69" name="Shape 67"/>
          <p:cNvSpPr/>
          <p:nvPr/>
        </p:nvSpPr>
        <p:spPr>
          <a:xfrm>
            <a:off x="3108960" y="5870448"/>
            <a:ext cx="759655" cy="201168"/>
          </a:xfrm>
          <a:prstGeom prst="rect">
            <a:avLst/>
          </a:prstGeom>
          <a:solidFill>
            <a:srgbClr val="D9622F"/>
          </a:solidFill>
          <a:ln/>
        </p:spPr>
        <p:txBody>
          <a:bodyPr/>
          <a:lstStyle/>
          <a:p>
            <a:endParaRPr lang="en-AU"/>
          </a:p>
        </p:txBody>
      </p:sp>
      <p:sp>
        <p:nvSpPr>
          <p:cNvPr id="70" name="Text 68"/>
          <p:cNvSpPr/>
          <p:nvPr/>
        </p:nvSpPr>
        <p:spPr>
          <a:xfrm>
            <a:off x="5687568" y="5833872"/>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$4.0M</a:t>
            </a:r>
            <a:endParaRPr lang="en-US" sz="1100" dirty="0"/>
          </a:p>
        </p:txBody>
      </p:sp>
      <p:sp>
        <p:nvSpPr>
          <p:cNvPr id="71" name="Text 69"/>
          <p:cNvSpPr/>
          <p:nvPr/>
        </p:nvSpPr>
        <p:spPr>
          <a:xfrm>
            <a:off x="548640" y="3977640"/>
            <a:ext cx="5486400" cy="228600"/>
          </a:xfrm>
          <a:prstGeom prst="rect">
            <a:avLst/>
          </a:prstGeom>
          <a:noFill/>
          <a:ln/>
        </p:spPr>
        <p:txBody>
          <a:bodyPr wrap="square" rtlCol="0" anchor="ctr"/>
          <a:lstStyle/>
          <a:p>
            <a:pPr marL="0" indent="0">
              <a:buNone/>
            </a:pPr>
            <a:r>
              <a:rPr lang="en-US" sz="900" b="1" kern="0" spc="100" dirty="0">
                <a:solidFill>
                  <a:srgbClr val="8A8781"/>
                </a:solidFill>
                <a:latin typeface="Consolas" pitchFamily="34" charset="0"/>
                <a:ea typeface="Consolas" pitchFamily="34" charset="-122"/>
                <a:cs typeface="Consolas" pitchFamily="34" charset="-120"/>
              </a:rPr>
              <a:t>WHERE THE DISENGAGEMENT COST SITS</a:t>
            </a:r>
            <a:endParaRPr lang="en-US" sz="900" dirty="0"/>
          </a:p>
        </p:txBody>
      </p:sp>
      <p:sp>
        <p:nvSpPr>
          <p:cNvPr id="72" name="Shape 70"/>
          <p:cNvSpPr/>
          <p:nvPr/>
        </p:nvSpPr>
        <p:spPr>
          <a:xfrm>
            <a:off x="6949440" y="3977640"/>
            <a:ext cx="4690872" cy="2103120"/>
          </a:xfrm>
          <a:prstGeom prst="roundRect">
            <a:avLst>
              <a:gd name="adj" fmla="val 1304"/>
            </a:avLst>
          </a:prstGeom>
          <a:solidFill>
            <a:srgbClr val="FFFFFF"/>
          </a:solidFill>
          <a:ln w="9525">
            <a:solidFill>
              <a:srgbClr val="DFDDD6"/>
            </a:solidFill>
            <a:prstDash val="solid"/>
          </a:ln>
        </p:spPr>
        <p:txBody>
          <a:bodyPr/>
          <a:lstStyle/>
          <a:p>
            <a:endParaRPr lang="en-AU"/>
          </a:p>
        </p:txBody>
      </p:sp>
      <p:sp>
        <p:nvSpPr>
          <p:cNvPr id="73" name="Text 71"/>
          <p:cNvSpPr/>
          <p:nvPr/>
        </p:nvSpPr>
        <p:spPr>
          <a:xfrm>
            <a:off x="7168896" y="4123944"/>
            <a:ext cx="425196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WHY THIS IS THE PRIORITY</a:t>
            </a:r>
            <a:endParaRPr lang="en-US" sz="900" dirty="0"/>
          </a:p>
        </p:txBody>
      </p:sp>
      <p:sp>
        <p:nvSpPr>
          <p:cNvPr id="74" name="Text 72"/>
          <p:cNvSpPr/>
          <p:nvPr/>
        </p:nvSpPr>
        <p:spPr>
          <a:xfrm>
            <a:off x="7168896" y="4434840"/>
            <a:ext cx="4251960" cy="14630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It is the only component larger than Finance assumed.</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It is measured every survey wave, so progress is visible in months.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Nobody currently owns it, because the people involved are not leaving.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06</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What drives disengagement: how people rate their manager</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The strongest relationship in the survey, by a wide margin.</a:t>
            </a:r>
            <a:endParaRPr lang="en-US" sz="1250" dirty="0"/>
          </a:p>
        </p:txBody>
      </p:sp>
      <p:sp>
        <p:nvSpPr>
          <p:cNvPr id="7" name="Text 5"/>
          <p:cNvSpPr/>
          <p:nvPr/>
        </p:nvSpPr>
        <p:spPr>
          <a:xfrm>
            <a:off x="548640" y="1810512"/>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Manager rated 4.0 and above</a:t>
            </a:r>
            <a:endParaRPr lang="en-US" sz="1100" dirty="0"/>
          </a:p>
        </p:txBody>
      </p:sp>
      <p:sp>
        <p:nvSpPr>
          <p:cNvPr id="8" name="Text 6"/>
          <p:cNvSpPr/>
          <p:nvPr/>
        </p:nvSpPr>
        <p:spPr>
          <a:xfrm>
            <a:off x="548640" y="2011680"/>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2,874 employees</a:t>
            </a:r>
            <a:endParaRPr lang="en-US" sz="900" dirty="0"/>
          </a:p>
        </p:txBody>
      </p:sp>
      <p:sp>
        <p:nvSpPr>
          <p:cNvPr id="9" name="Shape 7"/>
          <p:cNvSpPr/>
          <p:nvPr/>
        </p:nvSpPr>
        <p:spPr>
          <a:xfrm>
            <a:off x="3108960" y="1865376"/>
            <a:ext cx="3108960" cy="201168"/>
          </a:xfrm>
          <a:prstGeom prst="rect">
            <a:avLst/>
          </a:prstGeom>
          <a:solidFill>
            <a:srgbClr val="F5F4F0"/>
          </a:solidFill>
          <a:ln/>
        </p:spPr>
        <p:txBody>
          <a:bodyPr/>
          <a:lstStyle/>
          <a:p>
            <a:endParaRPr lang="en-AU"/>
          </a:p>
        </p:txBody>
      </p:sp>
      <p:sp>
        <p:nvSpPr>
          <p:cNvPr id="10" name="Shape 8"/>
          <p:cNvSpPr/>
          <p:nvPr/>
        </p:nvSpPr>
        <p:spPr>
          <a:xfrm>
            <a:off x="3108960" y="1865376"/>
            <a:ext cx="194310" cy="201168"/>
          </a:xfrm>
          <a:prstGeom prst="rect">
            <a:avLst/>
          </a:prstGeom>
          <a:solidFill>
            <a:srgbClr val="2A78D6"/>
          </a:solidFill>
          <a:ln/>
        </p:spPr>
        <p:txBody>
          <a:bodyPr/>
          <a:lstStyle/>
          <a:p>
            <a:endParaRPr lang="en-AU"/>
          </a:p>
        </p:txBody>
      </p:sp>
      <p:sp>
        <p:nvSpPr>
          <p:cNvPr id="11" name="Text 9"/>
          <p:cNvSpPr/>
          <p:nvPr/>
        </p:nvSpPr>
        <p:spPr>
          <a:xfrm>
            <a:off x="6327648" y="1828800"/>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4.5%</a:t>
            </a:r>
            <a:endParaRPr lang="en-US" sz="1100" dirty="0"/>
          </a:p>
        </p:txBody>
      </p:sp>
      <p:sp>
        <p:nvSpPr>
          <p:cNvPr id="12" name="Text 10"/>
          <p:cNvSpPr/>
          <p:nvPr/>
        </p:nvSpPr>
        <p:spPr>
          <a:xfrm>
            <a:off x="548640" y="2377440"/>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Manager rated 3.5 to 4.0</a:t>
            </a:r>
            <a:endParaRPr lang="en-US" sz="1100" dirty="0"/>
          </a:p>
        </p:txBody>
      </p:sp>
      <p:sp>
        <p:nvSpPr>
          <p:cNvPr id="13" name="Text 11"/>
          <p:cNvSpPr/>
          <p:nvPr/>
        </p:nvSpPr>
        <p:spPr>
          <a:xfrm>
            <a:off x="548640" y="2578608"/>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2,235 employees</a:t>
            </a:r>
            <a:endParaRPr lang="en-US" sz="900" dirty="0"/>
          </a:p>
        </p:txBody>
      </p:sp>
      <p:sp>
        <p:nvSpPr>
          <p:cNvPr id="14" name="Shape 12"/>
          <p:cNvSpPr/>
          <p:nvPr/>
        </p:nvSpPr>
        <p:spPr>
          <a:xfrm>
            <a:off x="3108960" y="2432304"/>
            <a:ext cx="3108960" cy="201168"/>
          </a:xfrm>
          <a:prstGeom prst="rect">
            <a:avLst/>
          </a:prstGeom>
          <a:solidFill>
            <a:srgbClr val="F5F4F0"/>
          </a:solidFill>
          <a:ln/>
        </p:spPr>
        <p:txBody>
          <a:bodyPr/>
          <a:lstStyle/>
          <a:p>
            <a:endParaRPr lang="en-AU"/>
          </a:p>
        </p:txBody>
      </p:sp>
      <p:sp>
        <p:nvSpPr>
          <p:cNvPr id="15" name="Shape 13"/>
          <p:cNvSpPr/>
          <p:nvPr/>
        </p:nvSpPr>
        <p:spPr>
          <a:xfrm>
            <a:off x="3108960" y="2432304"/>
            <a:ext cx="634746" cy="201168"/>
          </a:xfrm>
          <a:prstGeom prst="rect">
            <a:avLst/>
          </a:prstGeom>
          <a:solidFill>
            <a:srgbClr val="8A8781"/>
          </a:solidFill>
          <a:ln/>
        </p:spPr>
        <p:txBody>
          <a:bodyPr/>
          <a:lstStyle/>
          <a:p>
            <a:endParaRPr lang="en-AU"/>
          </a:p>
        </p:txBody>
      </p:sp>
      <p:sp>
        <p:nvSpPr>
          <p:cNvPr id="16" name="Text 14"/>
          <p:cNvSpPr/>
          <p:nvPr/>
        </p:nvSpPr>
        <p:spPr>
          <a:xfrm>
            <a:off x="6327648" y="2395728"/>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14.7%</a:t>
            </a:r>
            <a:endParaRPr lang="en-US" sz="1100" dirty="0"/>
          </a:p>
        </p:txBody>
      </p:sp>
      <p:sp>
        <p:nvSpPr>
          <p:cNvPr id="17" name="Text 15"/>
          <p:cNvSpPr/>
          <p:nvPr/>
        </p:nvSpPr>
        <p:spPr>
          <a:xfrm>
            <a:off x="548640" y="2944368"/>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Manager rated 3.0 to 3.5</a:t>
            </a:r>
            <a:endParaRPr lang="en-US" sz="1100" dirty="0"/>
          </a:p>
        </p:txBody>
      </p:sp>
      <p:sp>
        <p:nvSpPr>
          <p:cNvPr id="18" name="Text 16"/>
          <p:cNvSpPr/>
          <p:nvPr/>
        </p:nvSpPr>
        <p:spPr>
          <a:xfrm>
            <a:off x="548640" y="3145536"/>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2,256 employees</a:t>
            </a:r>
            <a:endParaRPr lang="en-US" sz="900" dirty="0"/>
          </a:p>
        </p:txBody>
      </p:sp>
      <p:sp>
        <p:nvSpPr>
          <p:cNvPr id="19" name="Shape 17"/>
          <p:cNvSpPr/>
          <p:nvPr/>
        </p:nvSpPr>
        <p:spPr>
          <a:xfrm>
            <a:off x="3108960" y="2999232"/>
            <a:ext cx="3108960" cy="201168"/>
          </a:xfrm>
          <a:prstGeom prst="rect">
            <a:avLst/>
          </a:prstGeom>
          <a:solidFill>
            <a:srgbClr val="F5F4F0"/>
          </a:solidFill>
          <a:ln/>
        </p:spPr>
        <p:txBody>
          <a:bodyPr/>
          <a:lstStyle/>
          <a:p>
            <a:endParaRPr lang="en-AU"/>
          </a:p>
        </p:txBody>
      </p:sp>
      <p:sp>
        <p:nvSpPr>
          <p:cNvPr id="20" name="Shape 18"/>
          <p:cNvSpPr/>
          <p:nvPr/>
        </p:nvSpPr>
        <p:spPr>
          <a:xfrm>
            <a:off x="3108960" y="2999232"/>
            <a:ext cx="1165860" cy="201168"/>
          </a:xfrm>
          <a:prstGeom prst="rect">
            <a:avLst/>
          </a:prstGeom>
          <a:solidFill>
            <a:srgbClr val="8A8781"/>
          </a:solidFill>
          <a:ln/>
        </p:spPr>
        <p:txBody>
          <a:bodyPr/>
          <a:lstStyle/>
          <a:p>
            <a:endParaRPr lang="en-AU"/>
          </a:p>
        </p:txBody>
      </p:sp>
      <p:sp>
        <p:nvSpPr>
          <p:cNvPr id="21" name="Text 19"/>
          <p:cNvSpPr/>
          <p:nvPr/>
        </p:nvSpPr>
        <p:spPr>
          <a:xfrm>
            <a:off x="6327648" y="2962656"/>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27.0%</a:t>
            </a:r>
            <a:endParaRPr lang="en-US" sz="1100" dirty="0"/>
          </a:p>
        </p:txBody>
      </p:sp>
      <p:sp>
        <p:nvSpPr>
          <p:cNvPr id="22" name="Text 20"/>
          <p:cNvSpPr/>
          <p:nvPr/>
        </p:nvSpPr>
        <p:spPr>
          <a:xfrm>
            <a:off x="548640" y="3511296"/>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Manager rated 2.5 to 3.0</a:t>
            </a:r>
            <a:endParaRPr lang="en-US" sz="1100" dirty="0"/>
          </a:p>
        </p:txBody>
      </p:sp>
      <p:sp>
        <p:nvSpPr>
          <p:cNvPr id="23" name="Text 21"/>
          <p:cNvSpPr/>
          <p:nvPr/>
        </p:nvSpPr>
        <p:spPr>
          <a:xfrm>
            <a:off x="548640" y="3712464"/>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1,912 employees</a:t>
            </a:r>
            <a:endParaRPr lang="en-US" sz="900" dirty="0"/>
          </a:p>
        </p:txBody>
      </p:sp>
      <p:sp>
        <p:nvSpPr>
          <p:cNvPr id="24" name="Shape 22"/>
          <p:cNvSpPr/>
          <p:nvPr/>
        </p:nvSpPr>
        <p:spPr>
          <a:xfrm>
            <a:off x="3108960" y="3566160"/>
            <a:ext cx="3108960" cy="201168"/>
          </a:xfrm>
          <a:prstGeom prst="rect">
            <a:avLst/>
          </a:prstGeom>
          <a:solidFill>
            <a:srgbClr val="F5F4F0"/>
          </a:solidFill>
          <a:ln/>
        </p:spPr>
        <p:txBody>
          <a:bodyPr/>
          <a:lstStyle/>
          <a:p>
            <a:endParaRPr lang="en-AU"/>
          </a:p>
        </p:txBody>
      </p:sp>
      <p:sp>
        <p:nvSpPr>
          <p:cNvPr id="25" name="Shape 23"/>
          <p:cNvSpPr/>
          <p:nvPr/>
        </p:nvSpPr>
        <p:spPr>
          <a:xfrm>
            <a:off x="3108960" y="3566160"/>
            <a:ext cx="1943100" cy="201168"/>
          </a:xfrm>
          <a:prstGeom prst="rect">
            <a:avLst/>
          </a:prstGeom>
          <a:solidFill>
            <a:srgbClr val="D9622F"/>
          </a:solidFill>
          <a:ln/>
        </p:spPr>
        <p:txBody>
          <a:bodyPr/>
          <a:lstStyle/>
          <a:p>
            <a:endParaRPr lang="en-AU"/>
          </a:p>
        </p:txBody>
      </p:sp>
      <p:sp>
        <p:nvSpPr>
          <p:cNvPr id="26" name="Text 24"/>
          <p:cNvSpPr/>
          <p:nvPr/>
        </p:nvSpPr>
        <p:spPr>
          <a:xfrm>
            <a:off x="6327648" y="3529584"/>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45.0%</a:t>
            </a:r>
            <a:endParaRPr lang="en-US" sz="1100" dirty="0"/>
          </a:p>
        </p:txBody>
      </p:sp>
      <p:sp>
        <p:nvSpPr>
          <p:cNvPr id="27" name="Text 25"/>
          <p:cNvSpPr/>
          <p:nvPr/>
        </p:nvSpPr>
        <p:spPr>
          <a:xfrm>
            <a:off x="548640" y="4078224"/>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Manager rated Below 2.5</a:t>
            </a:r>
            <a:endParaRPr lang="en-US" sz="1100" dirty="0"/>
          </a:p>
        </p:txBody>
      </p:sp>
      <p:sp>
        <p:nvSpPr>
          <p:cNvPr id="28" name="Text 26"/>
          <p:cNvSpPr/>
          <p:nvPr/>
        </p:nvSpPr>
        <p:spPr>
          <a:xfrm>
            <a:off x="548640" y="4279392"/>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1,880 employees</a:t>
            </a:r>
            <a:endParaRPr lang="en-US" sz="900" dirty="0"/>
          </a:p>
        </p:txBody>
      </p:sp>
      <p:sp>
        <p:nvSpPr>
          <p:cNvPr id="29" name="Shape 27"/>
          <p:cNvSpPr/>
          <p:nvPr/>
        </p:nvSpPr>
        <p:spPr>
          <a:xfrm>
            <a:off x="3108960" y="4133088"/>
            <a:ext cx="3108960" cy="201168"/>
          </a:xfrm>
          <a:prstGeom prst="rect">
            <a:avLst/>
          </a:prstGeom>
          <a:solidFill>
            <a:srgbClr val="F5F4F0"/>
          </a:solidFill>
          <a:ln/>
        </p:spPr>
        <p:txBody>
          <a:bodyPr/>
          <a:lstStyle/>
          <a:p>
            <a:endParaRPr lang="en-AU"/>
          </a:p>
        </p:txBody>
      </p:sp>
      <p:sp>
        <p:nvSpPr>
          <p:cNvPr id="30" name="Shape 28"/>
          <p:cNvSpPr/>
          <p:nvPr/>
        </p:nvSpPr>
        <p:spPr>
          <a:xfrm>
            <a:off x="3108960" y="4133088"/>
            <a:ext cx="2970784" cy="201168"/>
          </a:xfrm>
          <a:prstGeom prst="rect">
            <a:avLst/>
          </a:prstGeom>
          <a:solidFill>
            <a:srgbClr val="D9622F"/>
          </a:solidFill>
          <a:ln/>
        </p:spPr>
        <p:txBody>
          <a:bodyPr/>
          <a:lstStyle/>
          <a:p>
            <a:endParaRPr lang="en-AU"/>
          </a:p>
        </p:txBody>
      </p:sp>
      <p:sp>
        <p:nvSpPr>
          <p:cNvPr id="31" name="Text 29"/>
          <p:cNvSpPr/>
          <p:nvPr/>
        </p:nvSpPr>
        <p:spPr>
          <a:xfrm>
            <a:off x="6327648" y="4096512"/>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68.8%</a:t>
            </a:r>
            <a:endParaRPr lang="en-US" sz="1100" dirty="0"/>
          </a:p>
        </p:txBody>
      </p:sp>
      <p:sp>
        <p:nvSpPr>
          <p:cNvPr id="32" name="Text 30"/>
          <p:cNvSpPr/>
          <p:nvPr/>
        </p:nvSpPr>
        <p:spPr>
          <a:xfrm>
            <a:off x="3108960" y="4709160"/>
            <a:ext cx="3657600" cy="228600"/>
          </a:xfrm>
          <a:prstGeom prst="rect">
            <a:avLst/>
          </a:prstGeom>
          <a:noFill/>
          <a:ln/>
        </p:spPr>
        <p:txBody>
          <a:bodyPr wrap="square"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 persistently disengaged</a:t>
            </a:r>
            <a:endParaRPr lang="en-US" sz="900" dirty="0"/>
          </a:p>
        </p:txBody>
      </p:sp>
      <p:sp>
        <p:nvSpPr>
          <p:cNvPr id="33" name="Shape 31"/>
          <p:cNvSpPr/>
          <p:nvPr/>
        </p:nvSpPr>
        <p:spPr>
          <a:xfrm>
            <a:off x="7589520" y="1783080"/>
            <a:ext cx="4050792" cy="1737360"/>
          </a:xfrm>
          <a:prstGeom prst="roundRect">
            <a:avLst>
              <a:gd name="adj" fmla="val 1579"/>
            </a:avLst>
          </a:prstGeom>
          <a:solidFill>
            <a:srgbClr val="EEF3FB"/>
          </a:solidFill>
          <a:ln w="9525">
            <a:solidFill>
              <a:srgbClr val="2A78D6"/>
            </a:solidFill>
            <a:prstDash val="solid"/>
          </a:ln>
        </p:spPr>
        <p:txBody>
          <a:bodyPr/>
          <a:lstStyle/>
          <a:p>
            <a:endParaRPr lang="en-AU"/>
          </a:p>
        </p:txBody>
      </p:sp>
      <p:sp>
        <p:nvSpPr>
          <p:cNvPr id="34" name="Text 32"/>
          <p:cNvSpPr/>
          <p:nvPr/>
        </p:nvSpPr>
        <p:spPr>
          <a:xfrm>
            <a:off x="7808976" y="1929384"/>
            <a:ext cx="361188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WHAT THIS SUPPORTS</a:t>
            </a:r>
            <a:endParaRPr lang="en-US" sz="900" dirty="0"/>
          </a:p>
        </p:txBody>
      </p:sp>
      <p:sp>
        <p:nvSpPr>
          <p:cNvPr id="35" name="Text 33"/>
          <p:cNvSpPr/>
          <p:nvPr/>
        </p:nvSpPr>
        <p:spPr>
          <a:xfrm>
            <a:off x="7808976" y="2240280"/>
            <a:ext cx="3611880" cy="10972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15.5x difference across the scale, on 11,157 employees.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It falls at every step, so this is not an artefact of where we cut.</a:t>
            </a:r>
            <a:endParaRPr lang="en-US" sz="1150" dirty="0"/>
          </a:p>
        </p:txBody>
      </p:sp>
      <p:sp>
        <p:nvSpPr>
          <p:cNvPr id="36" name="Shape 34"/>
          <p:cNvSpPr/>
          <p:nvPr/>
        </p:nvSpPr>
        <p:spPr>
          <a:xfrm>
            <a:off x="7589520" y="3657600"/>
            <a:ext cx="4050792" cy="2103120"/>
          </a:xfrm>
          <a:prstGeom prst="roundRect">
            <a:avLst>
              <a:gd name="adj" fmla="val 1304"/>
            </a:avLst>
          </a:prstGeom>
          <a:solidFill>
            <a:srgbClr val="F5F4F0"/>
          </a:solidFill>
          <a:ln w="9525">
            <a:solidFill>
              <a:srgbClr val="C98A10"/>
            </a:solidFill>
            <a:prstDash val="solid"/>
          </a:ln>
        </p:spPr>
        <p:txBody>
          <a:bodyPr/>
          <a:lstStyle/>
          <a:p>
            <a:endParaRPr lang="en-AU"/>
          </a:p>
        </p:txBody>
      </p:sp>
      <p:sp>
        <p:nvSpPr>
          <p:cNvPr id="37" name="Text 35"/>
          <p:cNvSpPr/>
          <p:nvPr/>
        </p:nvSpPr>
        <p:spPr>
          <a:xfrm>
            <a:off x="7808976" y="3803904"/>
            <a:ext cx="361188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WHAT IT DOES NOT SUPPORT</a:t>
            </a:r>
            <a:endParaRPr lang="en-US" sz="900" dirty="0"/>
          </a:p>
        </p:txBody>
      </p:sp>
      <p:sp>
        <p:nvSpPr>
          <p:cNvPr id="38" name="Text 36"/>
          <p:cNvSpPr/>
          <p:nvPr/>
        </p:nvSpPr>
        <p:spPr>
          <a:xfrm>
            <a:off x="7808976" y="4114800"/>
            <a:ext cx="3611880" cy="1463040"/>
          </a:xfrm>
          <a:prstGeom prst="rect">
            <a:avLst/>
          </a:prstGeom>
          <a:noFill/>
          <a:ln/>
        </p:spPr>
        <p:txBody>
          <a:bodyPr wrap="square" lIns="0" tIns="0" rIns="0" bIns="0" rtlCol="0" anchor="t"/>
          <a:lstStyle/>
          <a:p>
            <a:pPr marL="342900" indent="-342900">
              <a:spcAft>
                <a:spcPts val="700"/>
              </a:spcAft>
              <a:buSzPct val="100000"/>
              <a:buChar char="•"/>
            </a:pPr>
            <a:r>
              <a:rPr lang="en-US" sz="1150" b="1" dirty="0">
                <a:solidFill>
                  <a:srgbClr val="12100E"/>
                </a:solidFill>
                <a:latin typeface="Segoe UI" pitchFamily="34" charset="0"/>
                <a:ea typeface="Segoe UI" pitchFamily="34" charset="-122"/>
                <a:cs typeface="Segoe UI" pitchFamily="34" charset="-120"/>
              </a:rPr>
              <a:t>It does not show poor managers cause people to leave.</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Manager rating against actual departures: effectively zero correlation.</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So this is a productivity case, not a retention case. We should not sell it as one.</a:t>
            </a:r>
            <a:endParaRPr lang="en-US" sz="1150" dirty="0"/>
          </a:p>
        </p:txBody>
      </p:sp>
      <p:sp>
        <p:nvSpPr>
          <p:cNvPr id="39" name="Shape 37"/>
          <p:cNvSpPr/>
          <p:nvPr/>
        </p:nvSpPr>
        <p:spPr>
          <a:xfrm>
            <a:off x="548640" y="5989320"/>
            <a:ext cx="27432" cy="457200"/>
          </a:xfrm>
          <a:prstGeom prst="rect">
            <a:avLst/>
          </a:prstGeom>
          <a:solidFill>
            <a:srgbClr val="C98A10"/>
          </a:solidFill>
          <a:ln/>
        </p:spPr>
        <p:txBody>
          <a:bodyPr/>
          <a:lstStyle/>
          <a:p>
            <a:endParaRPr lang="en-AU"/>
          </a:p>
        </p:txBody>
      </p:sp>
      <p:sp>
        <p:nvSpPr>
          <p:cNvPr id="40" name="Text 38"/>
          <p:cNvSpPr/>
          <p:nvPr/>
        </p:nvSpPr>
        <p:spPr>
          <a:xfrm>
            <a:off x="713232" y="5952744"/>
            <a:ext cx="10817352" cy="53035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Two limits we are not glossing over: both measures come from the same survey response, and team size, workload and resourcing are not held constant. A poorly rated manager may be running an under-resourced team. That is why we recommend a diagnostic, not a performance action.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07</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You can see people leaving a year before they go</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The signal is already in the engagement platform, and nobody is reading it.</a:t>
            </a:r>
            <a:endParaRPr lang="en-US" sz="1250" dirty="0"/>
          </a:p>
        </p:txBody>
      </p:sp>
      <p:sp>
        <p:nvSpPr>
          <p:cNvPr id="7" name="Text 5"/>
          <p:cNvSpPr/>
          <p:nvPr/>
        </p:nvSpPr>
        <p:spPr>
          <a:xfrm>
            <a:off x="548640" y="1901952"/>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Low engagement score</a:t>
            </a:r>
            <a:endParaRPr lang="en-US" sz="1100" dirty="0"/>
          </a:p>
        </p:txBody>
      </p:sp>
      <p:sp>
        <p:nvSpPr>
          <p:cNvPr id="8" name="Text 6"/>
          <p:cNvSpPr/>
          <p:nvPr/>
        </p:nvSpPr>
        <p:spPr>
          <a:xfrm>
            <a:off x="548640" y="2103120"/>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what HR watches today</a:t>
            </a:r>
            <a:endParaRPr lang="en-US" sz="900" dirty="0"/>
          </a:p>
        </p:txBody>
      </p:sp>
      <p:sp>
        <p:nvSpPr>
          <p:cNvPr id="9" name="Shape 7"/>
          <p:cNvSpPr/>
          <p:nvPr/>
        </p:nvSpPr>
        <p:spPr>
          <a:xfrm>
            <a:off x="3108960" y="1956816"/>
            <a:ext cx="3749040" cy="201168"/>
          </a:xfrm>
          <a:prstGeom prst="rect">
            <a:avLst/>
          </a:prstGeom>
          <a:solidFill>
            <a:srgbClr val="F5F4F0"/>
          </a:solidFill>
          <a:ln/>
        </p:spPr>
        <p:txBody>
          <a:bodyPr/>
          <a:lstStyle/>
          <a:p>
            <a:endParaRPr lang="en-AU"/>
          </a:p>
        </p:txBody>
      </p:sp>
      <p:sp>
        <p:nvSpPr>
          <p:cNvPr id="10" name="Shape 8"/>
          <p:cNvSpPr/>
          <p:nvPr/>
        </p:nvSpPr>
        <p:spPr>
          <a:xfrm>
            <a:off x="3108960" y="1956816"/>
            <a:ext cx="1687068" cy="201168"/>
          </a:xfrm>
          <a:prstGeom prst="rect">
            <a:avLst/>
          </a:prstGeom>
          <a:solidFill>
            <a:srgbClr val="8A8781"/>
          </a:solidFill>
          <a:ln/>
        </p:spPr>
        <p:txBody>
          <a:bodyPr/>
          <a:lstStyle/>
          <a:p>
            <a:endParaRPr lang="en-AU"/>
          </a:p>
        </p:txBody>
      </p:sp>
      <p:sp>
        <p:nvSpPr>
          <p:cNvPr id="11" name="Text 9"/>
          <p:cNvSpPr/>
          <p:nvPr/>
        </p:nvSpPr>
        <p:spPr>
          <a:xfrm>
            <a:off x="6967728" y="1920240"/>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6.3%</a:t>
            </a:r>
            <a:endParaRPr lang="en-US" sz="1100" dirty="0"/>
          </a:p>
        </p:txBody>
      </p:sp>
      <p:sp>
        <p:nvSpPr>
          <p:cNvPr id="12" name="Text 10"/>
          <p:cNvSpPr/>
          <p:nvPr/>
        </p:nvSpPr>
        <p:spPr>
          <a:xfrm>
            <a:off x="7635240" y="1901952"/>
            <a:ext cx="914400" cy="274320"/>
          </a:xfrm>
          <a:prstGeom prst="rect">
            <a:avLst/>
          </a:prstGeom>
          <a:noFill/>
          <a:ln/>
        </p:spPr>
        <p:txBody>
          <a:bodyPr wrap="square" lIns="0" tIns="0" rIns="0" bIns="0" rtlCol="0" anchor="ctr"/>
          <a:lstStyle/>
          <a:p>
            <a:pPr marL="0" indent="0">
              <a:buNone/>
            </a:pPr>
            <a:r>
              <a:rPr lang="en-US" sz="1300" b="1" dirty="0">
                <a:solidFill>
                  <a:srgbClr val="8A8781"/>
                </a:solidFill>
                <a:latin typeface="Segoe UI" pitchFamily="34" charset="0"/>
                <a:ea typeface="Segoe UI" pitchFamily="34" charset="-122"/>
                <a:cs typeface="Segoe UI" pitchFamily="34" charset="-120"/>
              </a:rPr>
              <a:t>1.07x</a:t>
            </a:r>
            <a:endParaRPr lang="en-US" sz="1300" dirty="0"/>
          </a:p>
        </p:txBody>
      </p:sp>
      <p:sp>
        <p:nvSpPr>
          <p:cNvPr id="13" name="Text 11"/>
          <p:cNvSpPr/>
          <p:nvPr/>
        </p:nvSpPr>
        <p:spPr>
          <a:xfrm>
            <a:off x="548640" y="2615184"/>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Declining score</a:t>
            </a:r>
            <a:endParaRPr lang="en-US" sz="1100" dirty="0"/>
          </a:p>
        </p:txBody>
      </p:sp>
      <p:sp>
        <p:nvSpPr>
          <p:cNvPr id="14" name="Text 12"/>
          <p:cNvSpPr/>
          <p:nvPr/>
        </p:nvSpPr>
        <p:spPr>
          <a:xfrm>
            <a:off x="548640" y="2816352"/>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needs two waves of history</a:t>
            </a:r>
            <a:endParaRPr lang="en-US" sz="900" dirty="0"/>
          </a:p>
        </p:txBody>
      </p:sp>
      <p:sp>
        <p:nvSpPr>
          <p:cNvPr id="15" name="Shape 13"/>
          <p:cNvSpPr/>
          <p:nvPr/>
        </p:nvSpPr>
        <p:spPr>
          <a:xfrm>
            <a:off x="3108960" y="2670048"/>
            <a:ext cx="3749040" cy="201168"/>
          </a:xfrm>
          <a:prstGeom prst="rect">
            <a:avLst/>
          </a:prstGeom>
          <a:solidFill>
            <a:srgbClr val="F5F4F0"/>
          </a:solidFill>
          <a:ln/>
        </p:spPr>
        <p:txBody>
          <a:bodyPr/>
          <a:lstStyle/>
          <a:p>
            <a:endParaRPr lang="en-AU"/>
          </a:p>
        </p:txBody>
      </p:sp>
      <p:sp>
        <p:nvSpPr>
          <p:cNvPr id="16" name="Shape 14"/>
          <p:cNvSpPr/>
          <p:nvPr/>
        </p:nvSpPr>
        <p:spPr>
          <a:xfrm>
            <a:off x="3108960" y="2670048"/>
            <a:ext cx="2142309" cy="201168"/>
          </a:xfrm>
          <a:prstGeom prst="rect">
            <a:avLst/>
          </a:prstGeom>
          <a:solidFill>
            <a:srgbClr val="8A8781"/>
          </a:solidFill>
          <a:ln/>
        </p:spPr>
        <p:txBody>
          <a:bodyPr/>
          <a:lstStyle/>
          <a:p>
            <a:endParaRPr lang="en-AU"/>
          </a:p>
        </p:txBody>
      </p:sp>
      <p:sp>
        <p:nvSpPr>
          <p:cNvPr id="17" name="Text 15"/>
          <p:cNvSpPr/>
          <p:nvPr/>
        </p:nvSpPr>
        <p:spPr>
          <a:xfrm>
            <a:off x="6967728" y="2633472"/>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8.0%</a:t>
            </a:r>
            <a:endParaRPr lang="en-US" sz="1100" dirty="0"/>
          </a:p>
        </p:txBody>
      </p:sp>
      <p:sp>
        <p:nvSpPr>
          <p:cNvPr id="18" name="Text 16"/>
          <p:cNvSpPr/>
          <p:nvPr/>
        </p:nvSpPr>
        <p:spPr>
          <a:xfrm>
            <a:off x="7635240" y="2615184"/>
            <a:ext cx="914400" cy="274320"/>
          </a:xfrm>
          <a:prstGeom prst="rect">
            <a:avLst/>
          </a:prstGeom>
          <a:noFill/>
          <a:ln/>
        </p:spPr>
        <p:txBody>
          <a:bodyPr wrap="square" lIns="0" tIns="0" rIns="0" bIns="0" rtlCol="0" anchor="ctr"/>
          <a:lstStyle/>
          <a:p>
            <a:pPr marL="0" indent="0">
              <a:buNone/>
            </a:pPr>
            <a:r>
              <a:rPr lang="en-US" sz="1300" b="1" dirty="0">
                <a:solidFill>
                  <a:srgbClr val="8A8781"/>
                </a:solidFill>
                <a:latin typeface="Segoe UI" pitchFamily="34" charset="0"/>
                <a:ea typeface="Segoe UI" pitchFamily="34" charset="-122"/>
                <a:cs typeface="Segoe UI" pitchFamily="34" charset="-120"/>
              </a:rPr>
              <a:t>1.36x</a:t>
            </a:r>
            <a:endParaRPr lang="en-US" sz="1300" dirty="0"/>
          </a:p>
        </p:txBody>
      </p:sp>
      <p:sp>
        <p:nvSpPr>
          <p:cNvPr id="19" name="Text 17"/>
          <p:cNvSpPr/>
          <p:nvPr/>
        </p:nvSpPr>
        <p:spPr>
          <a:xfrm>
            <a:off x="548640" y="3328416"/>
            <a:ext cx="2468880" cy="219456"/>
          </a:xfrm>
          <a:prstGeom prst="rect">
            <a:avLst/>
          </a:prstGeom>
          <a:noFill/>
          <a:ln/>
        </p:spPr>
        <p:txBody>
          <a:bodyPr wrap="square" lIns="0" tIns="0" rIns="0" bIns="0" rtlCol="0" anchor="ctr"/>
          <a:lstStyle/>
          <a:p>
            <a:pPr marL="0" indent="0">
              <a:buNone/>
            </a:pPr>
            <a:r>
              <a:rPr lang="en-US" sz="1100" dirty="0">
                <a:solidFill>
                  <a:srgbClr val="12100E"/>
                </a:solidFill>
                <a:latin typeface="Segoe UI" pitchFamily="34" charset="0"/>
                <a:ea typeface="Segoe UI" pitchFamily="34" charset="-122"/>
                <a:cs typeface="Segoe UI" pitchFamily="34" charset="-120"/>
              </a:rPr>
              <a:t>Stopped answering the survey</a:t>
            </a:r>
            <a:endParaRPr lang="en-US" sz="1100" dirty="0"/>
          </a:p>
        </p:txBody>
      </p:sp>
      <p:sp>
        <p:nvSpPr>
          <p:cNvPr id="20" name="Text 18"/>
          <p:cNvSpPr/>
          <p:nvPr/>
        </p:nvSpPr>
        <p:spPr>
          <a:xfrm>
            <a:off x="548640" y="3529584"/>
            <a:ext cx="2468880" cy="201168"/>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known the day the wave closes</a:t>
            </a:r>
            <a:endParaRPr lang="en-US" sz="900" dirty="0"/>
          </a:p>
        </p:txBody>
      </p:sp>
      <p:sp>
        <p:nvSpPr>
          <p:cNvPr id="21" name="Shape 19"/>
          <p:cNvSpPr/>
          <p:nvPr/>
        </p:nvSpPr>
        <p:spPr>
          <a:xfrm>
            <a:off x="3108960" y="3383280"/>
            <a:ext cx="3749040" cy="201168"/>
          </a:xfrm>
          <a:prstGeom prst="rect">
            <a:avLst/>
          </a:prstGeom>
          <a:solidFill>
            <a:srgbClr val="F5F4F0"/>
          </a:solidFill>
          <a:ln/>
        </p:spPr>
        <p:txBody>
          <a:bodyPr/>
          <a:lstStyle/>
          <a:p>
            <a:endParaRPr lang="en-AU"/>
          </a:p>
        </p:txBody>
      </p:sp>
      <p:sp>
        <p:nvSpPr>
          <p:cNvPr id="22" name="Shape 20"/>
          <p:cNvSpPr/>
          <p:nvPr/>
        </p:nvSpPr>
        <p:spPr>
          <a:xfrm>
            <a:off x="3108960" y="3383280"/>
            <a:ext cx="3400915" cy="201168"/>
          </a:xfrm>
          <a:prstGeom prst="rect">
            <a:avLst/>
          </a:prstGeom>
          <a:solidFill>
            <a:srgbClr val="D9622F"/>
          </a:solidFill>
          <a:ln/>
        </p:spPr>
        <p:txBody>
          <a:bodyPr/>
          <a:lstStyle/>
          <a:p>
            <a:endParaRPr lang="en-AU"/>
          </a:p>
        </p:txBody>
      </p:sp>
      <p:sp>
        <p:nvSpPr>
          <p:cNvPr id="23" name="Text 21"/>
          <p:cNvSpPr/>
          <p:nvPr/>
        </p:nvSpPr>
        <p:spPr>
          <a:xfrm>
            <a:off x="6967728" y="3346704"/>
            <a:ext cx="914400" cy="274320"/>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12.7%</a:t>
            </a:r>
            <a:endParaRPr lang="en-US" sz="1100" dirty="0"/>
          </a:p>
        </p:txBody>
      </p:sp>
      <p:sp>
        <p:nvSpPr>
          <p:cNvPr id="24" name="Text 22"/>
          <p:cNvSpPr/>
          <p:nvPr/>
        </p:nvSpPr>
        <p:spPr>
          <a:xfrm>
            <a:off x="7635240" y="3328416"/>
            <a:ext cx="914400" cy="274320"/>
          </a:xfrm>
          <a:prstGeom prst="rect">
            <a:avLst/>
          </a:prstGeom>
          <a:noFill/>
          <a:ln/>
        </p:spPr>
        <p:txBody>
          <a:bodyPr wrap="square" lIns="0" tIns="0" rIns="0" bIns="0" rtlCol="0" anchor="ctr"/>
          <a:lstStyle/>
          <a:p>
            <a:pPr marL="0" indent="0">
              <a:buNone/>
            </a:pPr>
            <a:r>
              <a:rPr lang="en-US" sz="1300" b="1" dirty="0">
                <a:solidFill>
                  <a:srgbClr val="A8460F"/>
                </a:solidFill>
                <a:latin typeface="Segoe UI" pitchFamily="34" charset="0"/>
                <a:ea typeface="Segoe UI" pitchFamily="34" charset="-122"/>
                <a:cs typeface="Segoe UI" pitchFamily="34" charset="-120"/>
              </a:rPr>
              <a:t>2.16x</a:t>
            </a:r>
            <a:endParaRPr lang="en-US" sz="1300" dirty="0"/>
          </a:p>
        </p:txBody>
      </p:sp>
      <p:sp>
        <p:nvSpPr>
          <p:cNvPr id="25" name="Text 23"/>
          <p:cNvSpPr/>
          <p:nvPr/>
        </p:nvSpPr>
        <p:spPr>
          <a:xfrm>
            <a:off x="3108960" y="4114800"/>
            <a:ext cx="4572000" cy="228600"/>
          </a:xfrm>
          <a:prstGeom prst="rect">
            <a:avLst/>
          </a:prstGeom>
          <a:noFill/>
          <a:ln/>
        </p:spPr>
        <p:txBody>
          <a:bodyPr wrap="square"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annual departure rate, against a 5.9% baseline</a:t>
            </a:r>
            <a:endParaRPr lang="en-US" sz="900" dirty="0"/>
          </a:p>
        </p:txBody>
      </p:sp>
      <p:sp>
        <p:nvSpPr>
          <p:cNvPr id="26" name="Shape 24"/>
          <p:cNvSpPr/>
          <p:nvPr/>
        </p:nvSpPr>
        <p:spPr>
          <a:xfrm>
            <a:off x="8778240" y="1783080"/>
            <a:ext cx="2862072" cy="2468880"/>
          </a:xfrm>
          <a:prstGeom prst="roundRect">
            <a:avLst>
              <a:gd name="adj" fmla="val 1111"/>
            </a:avLst>
          </a:prstGeom>
          <a:solidFill>
            <a:srgbClr val="FFFFFF"/>
          </a:solidFill>
          <a:ln w="9525">
            <a:solidFill>
              <a:srgbClr val="DFDDD6"/>
            </a:solidFill>
            <a:prstDash val="solid"/>
          </a:ln>
        </p:spPr>
        <p:txBody>
          <a:bodyPr/>
          <a:lstStyle/>
          <a:p>
            <a:endParaRPr lang="en-AU"/>
          </a:p>
        </p:txBody>
      </p:sp>
      <p:sp>
        <p:nvSpPr>
          <p:cNvPr id="27" name="Text 25"/>
          <p:cNvSpPr/>
          <p:nvPr/>
        </p:nvSpPr>
        <p:spPr>
          <a:xfrm>
            <a:off x="8997696" y="1929384"/>
            <a:ext cx="242316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WHY IT WINS</a:t>
            </a:r>
            <a:endParaRPr lang="en-US" sz="900" dirty="0"/>
          </a:p>
        </p:txBody>
      </p:sp>
      <p:sp>
        <p:nvSpPr>
          <p:cNvPr id="28" name="Text 26"/>
          <p:cNvSpPr/>
          <p:nvPr/>
        </p:nvSpPr>
        <p:spPr>
          <a:xfrm>
            <a:off x="8997696" y="2240280"/>
            <a:ext cx="2423160" cy="18288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Twice as predictive as the score.</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Arrives sooner: no scoring cycle needed.</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Covers the people who have no score at all.</a:t>
            </a:r>
            <a:endParaRPr lang="en-US" sz="1150" dirty="0"/>
          </a:p>
        </p:txBody>
      </p:sp>
      <p:sp>
        <p:nvSpPr>
          <p:cNvPr id="29" name="Text 27"/>
          <p:cNvSpPr/>
          <p:nvPr/>
        </p:nvSpPr>
        <p:spPr>
          <a:xfrm>
            <a:off x="548640" y="4480560"/>
            <a:ext cx="5486400" cy="219456"/>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THE GAP OPENS EARLY AND NEVER CLOSES</a:t>
            </a:r>
            <a:endParaRPr lang="en-US" sz="900" dirty="0"/>
          </a:p>
        </p:txBody>
      </p:sp>
      <p:graphicFrame>
        <p:nvGraphicFramePr>
          <p:cNvPr id="30" name="Chart 0"/>
          <p:cNvGraphicFramePr/>
          <p:nvPr/>
        </p:nvGraphicFramePr>
        <p:xfrm>
          <a:off x="457200" y="4681728"/>
          <a:ext cx="5669280" cy="1371600"/>
        </p:xfrm>
        <a:graphic>
          <a:graphicData uri="http://schemas.openxmlformats.org/drawingml/2006/chart">
            <c:chart xmlns:c="http://schemas.openxmlformats.org/drawingml/2006/chart" xmlns:r="http://schemas.openxmlformats.org/officeDocument/2006/relationships" r:id="rId3"/>
          </a:graphicData>
        </a:graphic>
      </p:graphicFrame>
      <p:sp>
        <p:nvSpPr>
          <p:cNvPr id="31" name="Text 28"/>
          <p:cNvSpPr/>
          <p:nvPr/>
        </p:nvSpPr>
        <p:spPr>
          <a:xfrm>
            <a:off x="548640" y="6053328"/>
            <a:ext cx="5486400" cy="182880"/>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months before the person left</a:t>
            </a:r>
            <a:endParaRPr lang="en-US" sz="850" dirty="0"/>
          </a:p>
        </p:txBody>
      </p:sp>
      <p:sp>
        <p:nvSpPr>
          <p:cNvPr id="32" name="Shape 29"/>
          <p:cNvSpPr/>
          <p:nvPr/>
        </p:nvSpPr>
        <p:spPr>
          <a:xfrm>
            <a:off x="6355080" y="4617720"/>
            <a:ext cx="5285232" cy="1417320"/>
          </a:xfrm>
          <a:prstGeom prst="roundRect">
            <a:avLst>
              <a:gd name="adj" fmla="val 1935"/>
            </a:avLst>
          </a:prstGeom>
          <a:solidFill>
            <a:srgbClr val="F5F4F0"/>
          </a:solidFill>
          <a:ln w="9525">
            <a:solidFill>
              <a:srgbClr val="C98A10"/>
            </a:solidFill>
            <a:prstDash val="solid"/>
          </a:ln>
        </p:spPr>
        <p:txBody>
          <a:bodyPr/>
          <a:lstStyle/>
          <a:p>
            <a:endParaRPr lang="en-AU"/>
          </a:p>
        </p:txBody>
      </p:sp>
      <p:sp>
        <p:nvSpPr>
          <p:cNvPr id="33" name="Text 30"/>
          <p:cNvSpPr/>
          <p:nvPr/>
        </p:nvSpPr>
        <p:spPr>
          <a:xfrm>
            <a:off x="6574536" y="4764024"/>
            <a:ext cx="484632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WHAT IT CANNOT SEE</a:t>
            </a:r>
            <a:endParaRPr lang="en-US" sz="900" dirty="0"/>
          </a:p>
        </p:txBody>
      </p:sp>
      <p:sp>
        <p:nvSpPr>
          <p:cNvPr id="34" name="Text 31"/>
          <p:cNvSpPr/>
          <p:nvPr/>
        </p:nvSpPr>
        <p:spPr>
          <a:xfrm>
            <a:off x="6574536" y="5074920"/>
            <a:ext cx="4846320" cy="777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New starters. The method needs three survey waves, which excludes most people hired in the last year.</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That is the group with the highest non-response and the highest attrition.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08</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One risk has a deadline: 1,014 people in Entity_C</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Measured fairly against earlier acquisitions, Entity_C is following the expensive path.</a:t>
            </a:r>
            <a:endParaRPr lang="en-US" sz="1250" dirty="0"/>
          </a:p>
        </p:txBody>
      </p:sp>
      <p:graphicFrame>
        <p:nvGraphicFramePr>
          <p:cNvPr id="7" name="Chart 0"/>
          <p:cNvGraphicFramePr/>
          <p:nvPr/>
        </p:nvGraphicFramePr>
        <p:xfrm>
          <a:off x="411480" y="1645920"/>
          <a:ext cx="74066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548640" y="4517136"/>
            <a:ext cx="7223760" cy="201168"/>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months since joining   |   % of each cohort that had left by that point</a:t>
            </a:r>
            <a:endParaRPr lang="en-US" sz="850" dirty="0"/>
          </a:p>
        </p:txBody>
      </p:sp>
      <p:sp>
        <p:nvSpPr>
          <p:cNvPr id="9" name="Shape 6"/>
          <p:cNvSpPr/>
          <p:nvPr/>
        </p:nvSpPr>
        <p:spPr>
          <a:xfrm>
            <a:off x="8001000" y="1691640"/>
            <a:ext cx="3639312" cy="3017520"/>
          </a:xfrm>
          <a:prstGeom prst="roundRect">
            <a:avLst>
              <a:gd name="adj" fmla="val 909"/>
            </a:avLst>
          </a:prstGeom>
          <a:solidFill>
            <a:srgbClr val="FFFFFF"/>
          </a:solidFill>
          <a:ln w="9525">
            <a:solidFill>
              <a:srgbClr val="DFDDD6"/>
            </a:solidFill>
            <a:prstDash val="solid"/>
          </a:ln>
        </p:spPr>
        <p:txBody>
          <a:bodyPr/>
          <a:lstStyle/>
          <a:p>
            <a:endParaRPr lang="en-AU"/>
          </a:p>
        </p:txBody>
      </p:sp>
      <p:sp>
        <p:nvSpPr>
          <p:cNvPr id="10" name="Text 7"/>
          <p:cNvSpPr/>
          <p:nvPr/>
        </p:nvSpPr>
        <p:spPr>
          <a:xfrm>
            <a:off x="8220456" y="1837944"/>
            <a:ext cx="320040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WHY MEASURE AT SIX MONTHS</a:t>
            </a:r>
            <a:endParaRPr lang="en-US" sz="900" dirty="0"/>
          </a:p>
        </p:txBody>
      </p:sp>
      <p:sp>
        <p:nvSpPr>
          <p:cNvPr id="11" name="Text 8"/>
          <p:cNvSpPr/>
          <p:nvPr/>
        </p:nvSpPr>
        <p:spPr>
          <a:xfrm>
            <a:off x="8220456" y="2148840"/>
            <a:ext cx="3200400" cy="23774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Entity_C only joined eight months ago, so a raw comparison would make it look worse than it is.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Measuring every cohort at the same point removes that unfairness.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It is the only horizon all three can support.</a:t>
            </a:r>
            <a:endParaRPr lang="en-US" sz="1150" dirty="0"/>
          </a:p>
        </p:txBody>
      </p:sp>
      <p:sp>
        <p:nvSpPr>
          <p:cNvPr id="12" name="Shape 9"/>
          <p:cNvSpPr/>
          <p:nvPr/>
        </p:nvSpPr>
        <p:spPr>
          <a:xfrm>
            <a:off x="548640" y="4846320"/>
            <a:ext cx="3520440" cy="1234440"/>
          </a:xfrm>
          <a:prstGeom prst="roundRect">
            <a:avLst>
              <a:gd name="adj" fmla="val 2963"/>
            </a:avLst>
          </a:prstGeom>
          <a:solidFill>
            <a:srgbClr val="F5F4F0"/>
          </a:solidFill>
          <a:ln w="9525">
            <a:solidFill>
              <a:srgbClr val="DFDDD6"/>
            </a:solidFill>
            <a:prstDash val="solid"/>
          </a:ln>
        </p:spPr>
        <p:txBody>
          <a:bodyPr/>
          <a:lstStyle/>
          <a:p>
            <a:endParaRPr lang="en-AU"/>
          </a:p>
        </p:txBody>
      </p:sp>
      <p:sp>
        <p:nvSpPr>
          <p:cNvPr id="13" name="Text 10"/>
          <p:cNvSpPr/>
          <p:nvPr/>
        </p:nvSpPr>
        <p:spPr>
          <a:xfrm>
            <a:off x="749808" y="4992624"/>
            <a:ext cx="3118104" cy="502920"/>
          </a:xfrm>
          <a:prstGeom prst="rect">
            <a:avLst/>
          </a:prstGeom>
          <a:noFill/>
          <a:ln/>
        </p:spPr>
        <p:txBody>
          <a:bodyPr wrap="square" lIns="0" tIns="0" rIns="0" bIns="0" rtlCol="0" anchor="ctr"/>
          <a:lstStyle/>
          <a:p>
            <a:pPr marL="0" indent="0">
              <a:buNone/>
            </a:pPr>
            <a:r>
              <a:rPr lang="en-US" sz="2600" b="1" dirty="0">
                <a:solidFill>
                  <a:srgbClr val="1F5FAE"/>
                </a:solidFill>
                <a:latin typeface="Segoe UI" pitchFamily="34" charset="0"/>
                <a:ea typeface="Segoe UI" pitchFamily="34" charset="-122"/>
                <a:cs typeface="Segoe UI" pitchFamily="34" charset="-120"/>
              </a:rPr>
              <a:t>43</a:t>
            </a:r>
            <a:endParaRPr lang="en-US" sz="2600" dirty="0"/>
          </a:p>
        </p:txBody>
      </p:sp>
      <p:sp>
        <p:nvSpPr>
          <p:cNvPr id="14" name="Text 11"/>
          <p:cNvSpPr/>
          <p:nvPr/>
        </p:nvSpPr>
        <p:spPr>
          <a:xfrm>
            <a:off x="749808" y="5504688"/>
            <a:ext cx="3118104"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if Entity_C follows Entity_A</a:t>
            </a:r>
            <a:endParaRPr lang="en-US" sz="1050" dirty="0"/>
          </a:p>
        </p:txBody>
      </p:sp>
      <p:sp>
        <p:nvSpPr>
          <p:cNvPr id="15" name="Text 12"/>
          <p:cNvSpPr/>
          <p:nvPr/>
        </p:nvSpPr>
        <p:spPr>
          <a:xfrm>
            <a:off x="749808" y="5678424"/>
            <a:ext cx="3118104" cy="310896"/>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$7.0M replacement cost</a:t>
            </a:r>
            <a:endParaRPr lang="en-US" sz="900" dirty="0"/>
          </a:p>
        </p:txBody>
      </p:sp>
      <p:sp>
        <p:nvSpPr>
          <p:cNvPr id="16" name="Shape 13"/>
          <p:cNvSpPr/>
          <p:nvPr/>
        </p:nvSpPr>
        <p:spPr>
          <a:xfrm>
            <a:off x="4315968" y="4846320"/>
            <a:ext cx="3520440" cy="1234440"/>
          </a:xfrm>
          <a:prstGeom prst="roundRect">
            <a:avLst>
              <a:gd name="adj" fmla="val 2963"/>
            </a:avLst>
          </a:prstGeom>
          <a:solidFill>
            <a:srgbClr val="F5F4F0"/>
          </a:solidFill>
          <a:ln w="9525">
            <a:solidFill>
              <a:srgbClr val="DFDDD6"/>
            </a:solidFill>
            <a:prstDash val="solid"/>
          </a:ln>
        </p:spPr>
        <p:txBody>
          <a:bodyPr/>
          <a:lstStyle/>
          <a:p>
            <a:endParaRPr lang="en-AU"/>
          </a:p>
        </p:txBody>
      </p:sp>
      <p:sp>
        <p:nvSpPr>
          <p:cNvPr id="17" name="Text 14"/>
          <p:cNvSpPr/>
          <p:nvPr/>
        </p:nvSpPr>
        <p:spPr>
          <a:xfrm>
            <a:off x="4517136" y="4992624"/>
            <a:ext cx="3118104" cy="502920"/>
          </a:xfrm>
          <a:prstGeom prst="rect">
            <a:avLst/>
          </a:prstGeom>
          <a:noFill/>
          <a:ln/>
        </p:spPr>
        <p:txBody>
          <a:bodyPr wrap="square" lIns="0" tIns="0" rIns="0" bIns="0" rtlCol="0" anchor="ctr"/>
          <a:lstStyle/>
          <a:p>
            <a:pPr marL="0" indent="0">
              <a:buNone/>
            </a:pPr>
            <a:r>
              <a:rPr lang="en-US" sz="2600" b="1" dirty="0">
                <a:solidFill>
                  <a:srgbClr val="A82525"/>
                </a:solidFill>
                <a:latin typeface="Segoe UI" pitchFamily="34" charset="0"/>
                <a:ea typeface="Segoe UI" pitchFamily="34" charset="-122"/>
                <a:cs typeface="Segoe UI" pitchFamily="34" charset="-120"/>
              </a:rPr>
              <a:t>157</a:t>
            </a:r>
            <a:endParaRPr lang="en-US" sz="2600" dirty="0"/>
          </a:p>
        </p:txBody>
      </p:sp>
      <p:sp>
        <p:nvSpPr>
          <p:cNvPr id="18" name="Text 15"/>
          <p:cNvSpPr/>
          <p:nvPr/>
        </p:nvSpPr>
        <p:spPr>
          <a:xfrm>
            <a:off x="4517136" y="5504688"/>
            <a:ext cx="3118104"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if it follows Entity_B</a:t>
            </a:r>
            <a:endParaRPr lang="en-US" sz="1050" dirty="0"/>
          </a:p>
        </p:txBody>
      </p:sp>
      <p:sp>
        <p:nvSpPr>
          <p:cNvPr id="19" name="Text 16"/>
          <p:cNvSpPr/>
          <p:nvPr/>
        </p:nvSpPr>
        <p:spPr>
          <a:xfrm>
            <a:off x="4517136" y="5678424"/>
            <a:ext cx="3118104" cy="310896"/>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$25.6M replacement cost</a:t>
            </a:r>
            <a:endParaRPr lang="en-US" sz="900" dirty="0"/>
          </a:p>
        </p:txBody>
      </p:sp>
      <p:sp>
        <p:nvSpPr>
          <p:cNvPr id="20" name="Shape 17"/>
          <p:cNvSpPr/>
          <p:nvPr/>
        </p:nvSpPr>
        <p:spPr>
          <a:xfrm>
            <a:off x="8092440" y="4846320"/>
            <a:ext cx="3547872" cy="1234440"/>
          </a:xfrm>
          <a:prstGeom prst="roundRect">
            <a:avLst>
              <a:gd name="adj" fmla="val 2963"/>
            </a:avLst>
          </a:prstGeom>
          <a:solidFill>
            <a:srgbClr val="F5F4F0"/>
          </a:solidFill>
          <a:ln w="9525">
            <a:solidFill>
              <a:srgbClr val="DFDDD6"/>
            </a:solidFill>
            <a:prstDash val="solid"/>
          </a:ln>
        </p:spPr>
        <p:txBody>
          <a:bodyPr/>
          <a:lstStyle/>
          <a:p>
            <a:endParaRPr lang="en-AU"/>
          </a:p>
        </p:txBody>
      </p:sp>
      <p:sp>
        <p:nvSpPr>
          <p:cNvPr id="21" name="Text 18"/>
          <p:cNvSpPr/>
          <p:nvPr/>
        </p:nvSpPr>
        <p:spPr>
          <a:xfrm>
            <a:off x="8293608" y="4992624"/>
            <a:ext cx="3145536" cy="502920"/>
          </a:xfrm>
          <a:prstGeom prst="rect">
            <a:avLst/>
          </a:prstGeom>
          <a:noFill/>
          <a:ln/>
        </p:spPr>
        <p:txBody>
          <a:bodyPr wrap="square" lIns="0" tIns="0" rIns="0" bIns="0" rtlCol="0" anchor="ctr"/>
          <a:lstStyle/>
          <a:p>
            <a:pPr marL="0" indent="0">
              <a:buNone/>
            </a:pPr>
            <a:r>
              <a:rPr lang="en-US" sz="2600" b="1" dirty="0">
                <a:solidFill>
                  <a:srgbClr val="12100E"/>
                </a:solidFill>
                <a:latin typeface="Segoe UI" pitchFamily="34" charset="0"/>
                <a:ea typeface="Segoe UI" pitchFamily="34" charset="-122"/>
                <a:cs typeface="Segoe UI" pitchFamily="34" charset="-120"/>
              </a:rPr>
              <a:t>$18.6M</a:t>
            </a:r>
            <a:endParaRPr lang="en-US" sz="2600" dirty="0"/>
          </a:p>
        </p:txBody>
      </p:sp>
      <p:sp>
        <p:nvSpPr>
          <p:cNvPr id="22" name="Text 19"/>
          <p:cNvSpPr/>
          <p:nvPr/>
        </p:nvSpPr>
        <p:spPr>
          <a:xfrm>
            <a:off x="8293608" y="5504688"/>
            <a:ext cx="3145536"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between the two paths</a:t>
            </a:r>
            <a:endParaRPr lang="en-US" sz="1050" dirty="0"/>
          </a:p>
        </p:txBody>
      </p:sp>
      <p:sp>
        <p:nvSpPr>
          <p:cNvPr id="23" name="Text 20"/>
          <p:cNvSpPr/>
          <p:nvPr/>
        </p:nvSpPr>
        <p:spPr>
          <a:xfrm>
            <a:off x="8293608" y="5678424"/>
            <a:ext cx="3145536" cy="310896"/>
          </a:xfrm>
          <a:prstGeom prst="rect">
            <a:avLst/>
          </a:prstGeom>
          <a:noFill/>
          <a:ln/>
        </p:spPr>
        <p:txBody>
          <a:bodyPr wrap="square" lIns="0" tIns="0" rIns="0" bIns="0" rtlCol="0" anchor="ctr"/>
          <a:lstStyle/>
          <a:p>
            <a:pPr marL="0" indent="0">
              <a:buNone/>
            </a:pPr>
            <a:r>
              <a:rPr lang="en-US" sz="900" dirty="0">
                <a:solidFill>
                  <a:srgbClr val="8A8781"/>
                </a:solidFill>
                <a:latin typeface="Segoe UI" pitchFamily="34" charset="0"/>
                <a:ea typeface="Segoe UI" pitchFamily="34" charset="-122"/>
                <a:cs typeface="Segoe UI" pitchFamily="34" charset="-120"/>
              </a:rPr>
              <a:t>the window is still open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09</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Two things we expected to find, and did not</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Reporting these matters as much as the findings. Both would have cost money to chase.</a:t>
            </a:r>
            <a:endParaRPr lang="en-US" sz="1250" dirty="0"/>
          </a:p>
        </p:txBody>
      </p:sp>
      <p:sp>
        <p:nvSpPr>
          <p:cNvPr id="7" name="Shape 5"/>
          <p:cNvSpPr/>
          <p:nvPr/>
        </p:nvSpPr>
        <p:spPr>
          <a:xfrm>
            <a:off x="548640" y="1737360"/>
            <a:ext cx="5486400" cy="3840480"/>
          </a:xfrm>
          <a:prstGeom prst="roundRect">
            <a:avLst>
              <a:gd name="adj" fmla="val 714"/>
            </a:avLst>
          </a:prstGeom>
          <a:solidFill>
            <a:srgbClr val="F5F4F0"/>
          </a:solidFill>
          <a:ln w="9525">
            <a:solidFill>
              <a:srgbClr val="C98A10"/>
            </a:solidFill>
            <a:prstDash val="solid"/>
          </a:ln>
        </p:spPr>
        <p:txBody>
          <a:bodyPr/>
          <a:lstStyle/>
          <a:p>
            <a:endParaRPr lang="en-AU"/>
          </a:p>
        </p:txBody>
      </p:sp>
      <p:sp>
        <p:nvSpPr>
          <p:cNvPr id="8" name="Text 6"/>
          <p:cNvSpPr/>
          <p:nvPr/>
        </p:nvSpPr>
        <p:spPr>
          <a:xfrm>
            <a:off x="768096" y="1883664"/>
            <a:ext cx="502920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THE REGULATION DID NOT DRIVE PEOPLE OUT</a:t>
            </a:r>
            <a:endParaRPr lang="en-US" sz="900" dirty="0"/>
          </a:p>
        </p:txBody>
      </p:sp>
      <p:sp>
        <p:nvSpPr>
          <p:cNvPr id="9" name="Text 7"/>
          <p:cNvSpPr/>
          <p:nvPr/>
        </p:nvSpPr>
        <p:spPr>
          <a:xfrm>
            <a:off x="768096" y="2139696"/>
            <a:ext cx="5029200" cy="274320"/>
          </a:xfrm>
          <a:prstGeom prst="rect">
            <a:avLst/>
          </a:prstGeom>
          <a:noFill/>
          <a:ln/>
        </p:spPr>
        <p:txBody>
          <a:bodyPr wrap="square" lIns="0" tIns="0" rIns="0" bIns="0" rtlCol="0" anchor="ctr"/>
          <a:lstStyle/>
          <a:p>
            <a:pPr marL="0" indent="0">
              <a:buNone/>
            </a:pPr>
            <a:r>
              <a:rPr lang="en-US" sz="1000" dirty="0">
                <a:solidFill>
                  <a:srgbClr val="4A4845"/>
                </a:solidFill>
                <a:latin typeface="Segoe UI" pitchFamily="34" charset="0"/>
                <a:ea typeface="Segoe UI" pitchFamily="34" charset="-122"/>
                <a:cs typeface="Segoe UI" pitchFamily="34" charset="-120"/>
              </a:rPr>
              <a:t>Change in exits per 1,000 regulated employees, attributable to the regulation.</a:t>
            </a:r>
            <a:endParaRPr lang="en-US" sz="1000" dirty="0"/>
          </a:p>
        </p:txBody>
      </p:sp>
      <p:sp>
        <p:nvSpPr>
          <p:cNvPr id="10" name="Shape 8"/>
          <p:cNvSpPr/>
          <p:nvPr/>
        </p:nvSpPr>
        <p:spPr>
          <a:xfrm>
            <a:off x="2395728" y="2606040"/>
            <a:ext cx="7315" cy="1417320"/>
          </a:xfrm>
          <a:prstGeom prst="rect">
            <a:avLst/>
          </a:prstGeom>
          <a:solidFill>
            <a:srgbClr val="DFDDD6"/>
          </a:solidFill>
          <a:ln/>
        </p:spPr>
        <p:txBody>
          <a:bodyPr/>
          <a:lstStyle/>
          <a:p>
            <a:endParaRPr lang="en-AU"/>
          </a:p>
        </p:txBody>
      </p:sp>
      <p:sp>
        <p:nvSpPr>
          <p:cNvPr id="11" name="Text 9"/>
          <p:cNvSpPr/>
          <p:nvPr/>
        </p:nvSpPr>
        <p:spPr>
          <a:xfrm>
            <a:off x="2121408" y="4041648"/>
            <a:ext cx="548640" cy="201168"/>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-30</a:t>
            </a:r>
            <a:endParaRPr lang="en-US" sz="850" dirty="0"/>
          </a:p>
        </p:txBody>
      </p:sp>
      <p:sp>
        <p:nvSpPr>
          <p:cNvPr id="12" name="Shape 10"/>
          <p:cNvSpPr/>
          <p:nvPr/>
        </p:nvSpPr>
        <p:spPr>
          <a:xfrm>
            <a:off x="3241548" y="2606040"/>
            <a:ext cx="7315" cy="1417320"/>
          </a:xfrm>
          <a:prstGeom prst="rect">
            <a:avLst/>
          </a:prstGeom>
          <a:solidFill>
            <a:srgbClr val="DFDDD6"/>
          </a:solidFill>
          <a:ln/>
        </p:spPr>
        <p:txBody>
          <a:bodyPr/>
          <a:lstStyle/>
          <a:p>
            <a:endParaRPr lang="en-AU"/>
          </a:p>
        </p:txBody>
      </p:sp>
      <p:sp>
        <p:nvSpPr>
          <p:cNvPr id="13" name="Text 11"/>
          <p:cNvSpPr/>
          <p:nvPr/>
        </p:nvSpPr>
        <p:spPr>
          <a:xfrm>
            <a:off x="2967228" y="4041648"/>
            <a:ext cx="548640" cy="201168"/>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-15</a:t>
            </a:r>
            <a:endParaRPr lang="en-US" sz="850" dirty="0"/>
          </a:p>
        </p:txBody>
      </p:sp>
      <p:sp>
        <p:nvSpPr>
          <p:cNvPr id="14" name="Shape 12"/>
          <p:cNvSpPr/>
          <p:nvPr/>
        </p:nvSpPr>
        <p:spPr>
          <a:xfrm>
            <a:off x="4087368" y="2606040"/>
            <a:ext cx="7315" cy="1417320"/>
          </a:xfrm>
          <a:prstGeom prst="rect">
            <a:avLst/>
          </a:prstGeom>
          <a:solidFill>
            <a:srgbClr val="8A8781"/>
          </a:solidFill>
          <a:ln/>
        </p:spPr>
        <p:txBody>
          <a:bodyPr/>
          <a:lstStyle/>
          <a:p>
            <a:endParaRPr lang="en-AU"/>
          </a:p>
        </p:txBody>
      </p:sp>
      <p:sp>
        <p:nvSpPr>
          <p:cNvPr id="15" name="Text 13"/>
          <p:cNvSpPr/>
          <p:nvPr/>
        </p:nvSpPr>
        <p:spPr>
          <a:xfrm>
            <a:off x="3813048" y="4041648"/>
            <a:ext cx="548640" cy="201168"/>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0</a:t>
            </a:r>
            <a:endParaRPr lang="en-US" sz="850" dirty="0"/>
          </a:p>
        </p:txBody>
      </p:sp>
      <p:sp>
        <p:nvSpPr>
          <p:cNvPr id="16" name="Shape 14"/>
          <p:cNvSpPr/>
          <p:nvPr/>
        </p:nvSpPr>
        <p:spPr>
          <a:xfrm>
            <a:off x="4933188" y="2606040"/>
            <a:ext cx="7315" cy="1417320"/>
          </a:xfrm>
          <a:prstGeom prst="rect">
            <a:avLst/>
          </a:prstGeom>
          <a:solidFill>
            <a:srgbClr val="DFDDD6"/>
          </a:solidFill>
          <a:ln/>
        </p:spPr>
        <p:txBody>
          <a:bodyPr/>
          <a:lstStyle/>
          <a:p>
            <a:endParaRPr lang="en-AU"/>
          </a:p>
        </p:txBody>
      </p:sp>
      <p:sp>
        <p:nvSpPr>
          <p:cNvPr id="17" name="Text 15"/>
          <p:cNvSpPr/>
          <p:nvPr/>
        </p:nvSpPr>
        <p:spPr>
          <a:xfrm>
            <a:off x="4658868" y="4041648"/>
            <a:ext cx="548640" cy="201168"/>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+15</a:t>
            </a:r>
            <a:endParaRPr lang="en-US" sz="850" dirty="0"/>
          </a:p>
        </p:txBody>
      </p:sp>
      <p:sp>
        <p:nvSpPr>
          <p:cNvPr id="18" name="Shape 16"/>
          <p:cNvSpPr/>
          <p:nvPr/>
        </p:nvSpPr>
        <p:spPr>
          <a:xfrm>
            <a:off x="5779008" y="2606040"/>
            <a:ext cx="7315" cy="1417320"/>
          </a:xfrm>
          <a:prstGeom prst="rect">
            <a:avLst/>
          </a:prstGeom>
          <a:solidFill>
            <a:srgbClr val="DFDDD6"/>
          </a:solidFill>
          <a:ln/>
        </p:spPr>
        <p:txBody>
          <a:bodyPr/>
          <a:lstStyle/>
          <a:p>
            <a:endParaRPr lang="en-AU"/>
          </a:p>
        </p:txBody>
      </p:sp>
      <p:sp>
        <p:nvSpPr>
          <p:cNvPr id="19" name="Text 17"/>
          <p:cNvSpPr/>
          <p:nvPr/>
        </p:nvSpPr>
        <p:spPr>
          <a:xfrm>
            <a:off x="5504688" y="4041648"/>
            <a:ext cx="548640" cy="201168"/>
          </a:xfrm>
          <a:prstGeom prst="rect">
            <a:avLst/>
          </a:prstGeom>
          <a:noFill/>
          <a:ln/>
        </p:spPr>
        <p:txBody>
          <a:bodyPr wrap="square" lIns="0" tIns="0" rIns="0" bIns="0" rtlCol="0" anchor="ctr"/>
          <a:lstStyle/>
          <a:p>
            <a:pPr marL="0" indent="0" algn="ctr">
              <a:buNone/>
            </a:pPr>
            <a:r>
              <a:rPr lang="en-US" sz="850" dirty="0">
                <a:solidFill>
                  <a:srgbClr val="8A8781"/>
                </a:solidFill>
                <a:latin typeface="Segoe UI" pitchFamily="34" charset="0"/>
                <a:ea typeface="Segoe UI" pitchFamily="34" charset="-122"/>
                <a:cs typeface="Segoe UI" pitchFamily="34" charset="-120"/>
              </a:rPr>
              <a:t>+30</a:t>
            </a:r>
            <a:endParaRPr lang="en-US" sz="850" dirty="0"/>
          </a:p>
        </p:txBody>
      </p:sp>
      <p:sp>
        <p:nvSpPr>
          <p:cNvPr id="20" name="Text 18"/>
          <p:cNvSpPr/>
          <p:nvPr/>
        </p:nvSpPr>
        <p:spPr>
          <a:xfrm>
            <a:off x="3630168" y="4224528"/>
            <a:ext cx="914400" cy="182880"/>
          </a:xfrm>
          <a:prstGeom prst="rect">
            <a:avLst/>
          </a:prstGeom>
          <a:noFill/>
          <a:ln/>
        </p:spPr>
        <p:txBody>
          <a:bodyPr wrap="square" lIns="0" tIns="0" rIns="0" bIns="0" rtlCol="0" anchor="ctr"/>
          <a:lstStyle/>
          <a:p>
            <a:pPr marL="0" indent="0" algn="ctr">
              <a:buNone/>
            </a:pPr>
            <a:r>
              <a:rPr lang="en-US" sz="800" dirty="0">
                <a:solidFill>
                  <a:srgbClr val="8A8781"/>
                </a:solidFill>
                <a:latin typeface="Segoe UI" pitchFamily="34" charset="0"/>
                <a:ea typeface="Segoe UI" pitchFamily="34" charset="-122"/>
                <a:cs typeface="Segoe UI" pitchFamily="34" charset="-120"/>
              </a:rPr>
              <a:t>no effect</a:t>
            </a:r>
            <a:endParaRPr lang="en-US" sz="800" dirty="0"/>
          </a:p>
        </p:txBody>
      </p:sp>
      <p:sp>
        <p:nvSpPr>
          <p:cNvPr id="21" name="Text 19"/>
          <p:cNvSpPr/>
          <p:nvPr/>
        </p:nvSpPr>
        <p:spPr>
          <a:xfrm>
            <a:off x="768096" y="2651760"/>
            <a:ext cx="1554480" cy="201168"/>
          </a:xfrm>
          <a:prstGeom prst="rect">
            <a:avLst/>
          </a:prstGeom>
          <a:noFill/>
          <a:ln/>
        </p:spPr>
        <p:txBody>
          <a:bodyPr wrap="square" lIns="0" tIns="0" rIns="0" bIns="0" rtlCol="0" anchor="ctr"/>
          <a:lstStyle/>
          <a:p>
            <a:pPr marL="0" indent="0">
              <a:buNone/>
            </a:pPr>
            <a:r>
              <a:rPr lang="en-US" sz="950" b="1" dirty="0">
                <a:solidFill>
                  <a:srgbClr val="12100E"/>
                </a:solidFill>
                <a:latin typeface="Segoe UI" pitchFamily="34" charset="0"/>
                <a:ea typeface="Segoe UI" pitchFamily="34" charset="-122"/>
                <a:cs typeface="Segoe UI" pitchFamily="34" charset="-120"/>
              </a:rPr>
              <a:t>Correctly identified</a:t>
            </a:r>
            <a:endParaRPr lang="en-US" sz="950" dirty="0"/>
          </a:p>
        </p:txBody>
      </p:sp>
      <p:sp>
        <p:nvSpPr>
          <p:cNvPr id="22" name="Shape 20"/>
          <p:cNvSpPr/>
          <p:nvPr/>
        </p:nvSpPr>
        <p:spPr>
          <a:xfrm>
            <a:off x="2598725" y="2980944"/>
            <a:ext cx="3135173" cy="45720"/>
          </a:xfrm>
          <a:prstGeom prst="rect">
            <a:avLst/>
          </a:prstGeom>
          <a:solidFill>
            <a:srgbClr val="2A78D6"/>
          </a:solidFill>
          <a:ln/>
        </p:spPr>
        <p:txBody>
          <a:bodyPr/>
          <a:lstStyle/>
          <a:p>
            <a:endParaRPr lang="en-AU"/>
          </a:p>
        </p:txBody>
      </p:sp>
      <p:sp>
        <p:nvSpPr>
          <p:cNvPr id="23" name="Shape 21"/>
          <p:cNvSpPr/>
          <p:nvPr/>
        </p:nvSpPr>
        <p:spPr>
          <a:xfrm>
            <a:off x="2589581" y="2916936"/>
            <a:ext cx="20117" cy="173736"/>
          </a:xfrm>
          <a:prstGeom prst="rect">
            <a:avLst/>
          </a:prstGeom>
          <a:solidFill>
            <a:srgbClr val="2A78D6"/>
          </a:solidFill>
          <a:ln/>
        </p:spPr>
        <p:txBody>
          <a:bodyPr/>
          <a:lstStyle/>
          <a:p>
            <a:endParaRPr lang="en-AU"/>
          </a:p>
        </p:txBody>
      </p:sp>
      <p:sp>
        <p:nvSpPr>
          <p:cNvPr id="24" name="Shape 22"/>
          <p:cNvSpPr/>
          <p:nvPr/>
        </p:nvSpPr>
        <p:spPr>
          <a:xfrm>
            <a:off x="5724754" y="2916936"/>
            <a:ext cx="20117" cy="173736"/>
          </a:xfrm>
          <a:prstGeom prst="rect">
            <a:avLst/>
          </a:prstGeom>
          <a:solidFill>
            <a:srgbClr val="2A78D6"/>
          </a:solidFill>
          <a:ln/>
        </p:spPr>
        <p:txBody>
          <a:bodyPr/>
          <a:lstStyle/>
          <a:p>
            <a:endParaRPr lang="en-AU"/>
          </a:p>
        </p:txBody>
      </p:sp>
      <p:sp>
        <p:nvSpPr>
          <p:cNvPr id="25" name="Shape 23"/>
          <p:cNvSpPr/>
          <p:nvPr/>
        </p:nvSpPr>
        <p:spPr>
          <a:xfrm>
            <a:off x="4097731" y="2935224"/>
            <a:ext cx="137160" cy="137160"/>
          </a:xfrm>
          <a:prstGeom prst="ellipse">
            <a:avLst/>
          </a:prstGeom>
          <a:solidFill>
            <a:srgbClr val="2A78D6"/>
          </a:solidFill>
          <a:ln w="15875">
            <a:solidFill>
              <a:srgbClr val="FFFFFF"/>
            </a:solidFill>
            <a:prstDash val="solid"/>
          </a:ln>
        </p:spPr>
        <p:txBody>
          <a:bodyPr/>
          <a:lstStyle/>
          <a:p>
            <a:endParaRPr lang="en-AU"/>
          </a:p>
        </p:txBody>
      </p:sp>
      <p:sp>
        <p:nvSpPr>
          <p:cNvPr id="26" name="Text 24"/>
          <p:cNvSpPr/>
          <p:nvPr/>
        </p:nvSpPr>
        <p:spPr>
          <a:xfrm>
            <a:off x="3800551" y="2743200"/>
            <a:ext cx="731520" cy="182880"/>
          </a:xfrm>
          <a:prstGeom prst="rect">
            <a:avLst/>
          </a:prstGeom>
          <a:noFill/>
          <a:ln/>
        </p:spPr>
        <p:txBody>
          <a:bodyPr wrap="square" lIns="0" tIns="0" rIns="0" bIns="0" rtlCol="0" anchor="ctr"/>
          <a:lstStyle/>
          <a:p>
            <a:pPr marL="0" indent="0" algn="ctr">
              <a:buNone/>
            </a:pPr>
            <a:r>
              <a:rPr lang="en-US" sz="900" b="1" dirty="0">
                <a:solidFill>
                  <a:srgbClr val="12100E"/>
                </a:solidFill>
                <a:latin typeface="Segoe UI" pitchFamily="34" charset="0"/>
                <a:ea typeface="Segoe UI" pitchFamily="34" charset="-122"/>
                <a:cs typeface="Segoe UI" pitchFamily="34" charset="-120"/>
              </a:rPr>
              <a:t>+1.4</a:t>
            </a:r>
            <a:endParaRPr lang="en-US" sz="900" dirty="0"/>
          </a:p>
        </p:txBody>
      </p:sp>
      <p:sp>
        <p:nvSpPr>
          <p:cNvPr id="27" name="Text 25"/>
          <p:cNvSpPr/>
          <p:nvPr/>
        </p:nvSpPr>
        <p:spPr>
          <a:xfrm>
            <a:off x="768096" y="3255264"/>
            <a:ext cx="1554480" cy="201168"/>
          </a:xfrm>
          <a:prstGeom prst="rect">
            <a:avLst/>
          </a:prstGeom>
          <a:noFill/>
          <a:ln/>
        </p:spPr>
        <p:txBody>
          <a:bodyPr wrap="square" lIns="0" tIns="0" rIns="0" bIns="0" rtlCol="0" anchor="ctr"/>
          <a:lstStyle/>
          <a:p>
            <a:pPr marL="0" indent="0">
              <a:buNone/>
            </a:pPr>
            <a:r>
              <a:rPr lang="en-US" sz="950" dirty="0">
                <a:solidFill>
                  <a:srgbClr val="4A4845"/>
                </a:solidFill>
                <a:latin typeface="Segoe UI" pitchFamily="34" charset="0"/>
                <a:ea typeface="Segoe UI" pitchFamily="34" charset="-122"/>
                <a:cs typeface="Segoe UI" pitchFamily="34" charset="-120"/>
              </a:rPr>
              <a:t>Within-wave comparison</a:t>
            </a:r>
            <a:endParaRPr lang="en-US" sz="950" dirty="0"/>
          </a:p>
        </p:txBody>
      </p:sp>
      <p:sp>
        <p:nvSpPr>
          <p:cNvPr id="28" name="Shape 26"/>
          <p:cNvSpPr/>
          <p:nvPr/>
        </p:nvSpPr>
        <p:spPr>
          <a:xfrm>
            <a:off x="3835146" y="3310128"/>
            <a:ext cx="109728" cy="109728"/>
          </a:xfrm>
          <a:prstGeom prst="ellipse">
            <a:avLst/>
          </a:prstGeom>
          <a:solidFill>
            <a:srgbClr val="D9622F"/>
          </a:solidFill>
          <a:ln w="15875">
            <a:solidFill>
              <a:srgbClr val="D9622F"/>
            </a:solidFill>
            <a:prstDash val="solid"/>
          </a:ln>
        </p:spPr>
        <p:txBody>
          <a:bodyPr/>
          <a:lstStyle/>
          <a:p>
            <a:endParaRPr lang="en-AU"/>
          </a:p>
        </p:txBody>
      </p:sp>
      <p:sp>
        <p:nvSpPr>
          <p:cNvPr id="29" name="Text 27"/>
          <p:cNvSpPr/>
          <p:nvPr/>
        </p:nvSpPr>
        <p:spPr>
          <a:xfrm>
            <a:off x="768096" y="3621024"/>
            <a:ext cx="1554480" cy="201168"/>
          </a:xfrm>
          <a:prstGeom prst="rect">
            <a:avLst/>
          </a:prstGeom>
          <a:noFill/>
          <a:ln/>
        </p:spPr>
        <p:txBody>
          <a:bodyPr wrap="square" lIns="0" tIns="0" rIns="0" bIns="0" rtlCol="0" anchor="ctr"/>
          <a:lstStyle/>
          <a:p>
            <a:pPr marL="0" indent="0">
              <a:buNone/>
            </a:pPr>
            <a:r>
              <a:rPr lang="en-US" sz="950" dirty="0">
                <a:solidFill>
                  <a:srgbClr val="4A4845"/>
                </a:solidFill>
                <a:latin typeface="Segoe UI" pitchFamily="34" charset="0"/>
                <a:ea typeface="Segoe UI" pitchFamily="34" charset="-122"/>
                <a:cs typeface="Segoe UI" pitchFamily="34" charset="-120"/>
              </a:rPr>
              <a:t>Naive before and after</a:t>
            </a:r>
            <a:endParaRPr lang="en-US" sz="950" dirty="0"/>
          </a:p>
        </p:txBody>
      </p:sp>
      <p:sp>
        <p:nvSpPr>
          <p:cNvPr id="30" name="Shape 28"/>
          <p:cNvSpPr/>
          <p:nvPr/>
        </p:nvSpPr>
        <p:spPr>
          <a:xfrm>
            <a:off x="4348277" y="3675888"/>
            <a:ext cx="109728" cy="109728"/>
          </a:xfrm>
          <a:prstGeom prst="ellipse">
            <a:avLst/>
          </a:prstGeom>
          <a:solidFill>
            <a:srgbClr val="FFFFFF"/>
          </a:solidFill>
          <a:ln w="15875">
            <a:solidFill>
              <a:srgbClr val="8A8781"/>
            </a:solidFill>
            <a:prstDash val="solid"/>
          </a:ln>
        </p:spPr>
        <p:txBody>
          <a:bodyPr/>
          <a:lstStyle/>
          <a:p>
            <a:endParaRPr lang="en-AU"/>
          </a:p>
        </p:txBody>
      </p:sp>
      <p:sp>
        <p:nvSpPr>
          <p:cNvPr id="31" name="Text 29"/>
          <p:cNvSpPr/>
          <p:nvPr/>
        </p:nvSpPr>
        <p:spPr>
          <a:xfrm>
            <a:off x="768096" y="3419856"/>
            <a:ext cx="1554480" cy="182880"/>
          </a:xfrm>
          <a:prstGeom prst="rect">
            <a:avLst/>
          </a:prstGeom>
          <a:noFill/>
          <a:ln/>
        </p:spPr>
        <p:txBody>
          <a:bodyPr wrap="square" lIns="0" tIns="0" rIns="0" bIns="0" rtlCol="0" anchor="ctr"/>
          <a:lstStyle/>
          <a:p>
            <a:pPr marL="0" indent="0">
              <a:buNone/>
            </a:pPr>
            <a:r>
              <a:rPr lang="en-US" sz="750" i="1" dirty="0">
                <a:solidFill>
                  <a:srgbClr val="8A8781"/>
                </a:solidFill>
                <a:latin typeface="Segoe UI" pitchFamily="34" charset="0"/>
                <a:ea typeface="Segoe UI" pitchFamily="34" charset="-122"/>
                <a:cs typeface="Segoe UI" pitchFamily="34" charset="-120"/>
              </a:rPr>
              <a:t>no interval computable</a:t>
            </a:r>
            <a:endParaRPr lang="en-US" sz="750" dirty="0"/>
          </a:p>
        </p:txBody>
      </p:sp>
      <p:sp>
        <p:nvSpPr>
          <p:cNvPr id="32" name="Text 30"/>
          <p:cNvSpPr/>
          <p:nvPr/>
        </p:nvSpPr>
        <p:spPr>
          <a:xfrm>
            <a:off x="768096" y="3785616"/>
            <a:ext cx="1554480" cy="182880"/>
          </a:xfrm>
          <a:prstGeom prst="rect">
            <a:avLst/>
          </a:prstGeom>
          <a:noFill/>
          <a:ln/>
        </p:spPr>
        <p:txBody>
          <a:bodyPr wrap="square" lIns="0" tIns="0" rIns="0" bIns="0" rtlCol="0" anchor="ctr"/>
          <a:lstStyle/>
          <a:p>
            <a:pPr marL="0" indent="0">
              <a:buNone/>
            </a:pPr>
            <a:r>
              <a:rPr lang="en-US" sz="750" i="1" dirty="0">
                <a:solidFill>
                  <a:srgbClr val="8A8781"/>
                </a:solidFill>
                <a:latin typeface="Segoe UI" pitchFamily="34" charset="0"/>
                <a:ea typeface="Segoe UI" pitchFamily="34" charset="-122"/>
                <a:cs typeface="Segoe UI" pitchFamily="34" charset="-120"/>
              </a:rPr>
              <a:t>1.4 months of 'before'</a:t>
            </a:r>
            <a:endParaRPr lang="en-US" sz="750" dirty="0"/>
          </a:p>
        </p:txBody>
      </p:sp>
      <p:sp>
        <p:nvSpPr>
          <p:cNvPr id="33" name="Text 31"/>
          <p:cNvSpPr/>
          <p:nvPr/>
        </p:nvSpPr>
        <p:spPr>
          <a:xfrm>
            <a:off x="768096" y="4526280"/>
            <a:ext cx="5029200" cy="685800"/>
          </a:xfrm>
          <a:prstGeom prst="rect">
            <a:avLst/>
          </a:prstGeom>
          <a:noFill/>
          <a:ln/>
        </p:spPr>
        <p:txBody>
          <a:bodyPr wrap="square" lIns="0" tIns="0" rIns="0" bIns="0" rtlCol="0" anchor="t"/>
          <a:lstStyle/>
          <a:p>
            <a:pPr marL="0" indent="0">
              <a:buNone/>
            </a:pPr>
            <a:r>
              <a:rPr lang="en-US" sz="1050" dirty="0">
                <a:solidFill>
                  <a:srgbClr val="4A4845"/>
                </a:solidFill>
                <a:latin typeface="Segoe UI" pitchFamily="34" charset="0"/>
                <a:ea typeface="Segoe UI" pitchFamily="34" charset="-122"/>
                <a:cs typeface="Segoe UI" pitchFamily="34" charset="-120"/>
              </a:rPr>
              <a:t>Zero sits comfortably inside the only interval this data supports. 476 regulated employees producing 39 exits cannot resolve an effect of any plausible size, in either direction.</a:t>
            </a:r>
            <a:endParaRPr lang="en-US" sz="1050" dirty="0"/>
          </a:p>
        </p:txBody>
      </p:sp>
      <p:sp>
        <p:nvSpPr>
          <p:cNvPr id="34" name="Text 32"/>
          <p:cNvSpPr/>
          <p:nvPr/>
        </p:nvSpPr>
        <p:spPr>
          <a:xfrm>
            <a:off x="768096" y="5193792"/>
            <a:ext cx="5029200" cy="237744"/>
          </a:xfrm>
          <a:prstGeom prst="rect">
            <a:avLst/>
          </a:prstGeom>
          <a:noFill/>
          <a:ln/>
        </p:spPr>
        <p:txBody>
          <a:bodyPr wrap="square" lIns="0" tIns="0" rIns="0" bIns="0" rtlCol="0" anchor="ctr"/>
          <a:lstStyle/>
          <a:p>
            <a:pPr marL="0" indent="0">
              <a:buNone/>
            </a:pPr>
            <a:r>
              <a:rPr lang="en-US" sz="1100" b="1" dirty="0">
                <a:solidFill>
                  <a:srgbClr val="12100E"/>
                </a:solidFill>
                <a:latin typeface="Segoe UI" pitchFamily="34" charset="0"/>
                <a:ea typeface="Segoe UI" pitchFamily="34" charset="-122"/>
                <a:cs typeface="Segoe UI" pitchFamily="34" charset="-120"/>
              </a:rPr>
              <a:t>Recommended spend: nil.</a:t>
            </a:r>
            <a:endParaRPr lang="en-US" sz="1100" dirty="0"/>
          </a:p>
        </p:txBody>
      </p:sp>
      <p:sp>
        <p:nvSpPr>
          <p:cNvPr id="35" name="Shape 33"/>
          <p:cNvSpPr/>
          <p:nvPr/>
        </p:nvSpPr>
        <p:spPr>
          <a:xfrm>
            <a:off x="6355080" y="1737360"/>
            <a:ext cx="5285232" cy="3840480"/>
          </a:xfrm>
          <a:prstGeom prst="roundRect">
            <a:avLst>
              <a:gd name="adj" fmla="val 714"/>
            </a:avLst>
          </a:prstGeom>
          <a:solidFill>
            <a:srgbClr val="F5F4F0"/>
          </a:solidFill>
          <a:ln w="9525">
            <a:solidFill>
              <a:srgbClr val="C98A10"/>
            </a:solidFill>
            <a:prstDash val="solid"/>
          </a:ln>
        </p:spPr>
        <p:txBody>
          <a:bodyPr/>
          <a:lstStyle/>
          <a:p>
            <a:endParaRPr lang="en-AU"/>
          </a:p>
        </p:txBody>
      </p:sp>
      <p:sp>
        <p:nvSpPr>
          <p:cNvPr id="36" name="Text 34"/>
          <p:cNvSpPr/>
          <p:nvPr/>
        </p:nvSpPr>
        <p:spPr>
          <a:xfrm>
            <a:off x="6574536" y="1883664"/>
            <a:ext cx="484632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AGENCY HIRING IS NOT THE PROBLEM EITHER</a:t>
            </a:r>
            <a:endParaRPr lang="en-US" sz="900" dirty="0"/>
          </a:p>
        </p:txBody>
      </p:sp>
      <p:sp>
        <p:nvSpPr>
          <p:cNvPr id="37" name="Text 35"/>
          <p:cNvSpPr/>
          <p:nvPr/>
        </p:nvSpPr>
        <p:spPr>
          <a:xfrm>
            <a:off x="6574536" y="2194560"/>
            <a:ext cx="4846320" cy="32004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Finance attributes $4 to 6M to hiring inefficiency, defined as agency fee premium plus poor early-hire matches.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Agency fills roles in 52.5 days. Every other channel takes 51.3 to 52.1. That is a 1.2 day difference.</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Agency hires leave at 9.8%, inside the range set by the other four channels, and are less likely to be flagged regrettable than direct hires.</a:t>
            </a:r>
            <a:endParaRPr lang="en-US" sz="1150" dirty="0"/>
          </a:p>
          <a:p>
            <a:pPr marL="342900" indent="-342900">
              <a:spcAft>
                <a:spcPts val="700"/>
              </a:spcAft>
              <a:buSzPct val="100000"/>
              <a:buChar char="•"/>
            </a:pPr>
            <a:r>
              <a:rPr lang="en-US" sz="1150" b="1" dirty="0">
                <a:solidFill>
                  <a:srgbClr val="12100E"/>
                </a:solidFill>
                <a:latin typeface="Segoe UI" pitchFamily="34" charset="0"/>
                <a:ea typeface="Segoe UI" pitchFamily="34" charset="-122"/>
                <a:cs typeface="Segoe UI" pitchFamily="34" charset="-120"/>
              </a:rPr>
              <a:t>The $2.4M is agency spend, not evidence of inefficiency. We would not build a programme on it.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10</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Four in five of your most costly departures are invisible</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HR's regrettable flag is applied by the exiting manager, after the fact.</a:t>
            </a:r>
            <a:endParaRPr lang="en-US" sz="1250" dirty="0"/>
          </a:p>
        </p:txBody>
      </p:sp>
      <p:sp>
        <p:nvSpPr>
          <p:cNvPr id="7" name="Shape 5"/>
          <p:cNvSpPr/>
          <p:nvPr/>
        </p:nvSpPr>
        <p:spPr>
          <a:xfrm>
            <a:off x="548640" y="1783080"/>
            <a:ext cx="2743200" cy="1371600"/>
          </a:xfrm>
          <a:prstGeom prst="roundRect">
            <a:avLst>
              <a:gd name="adj" fmla="val 2667"/>
            </a:avLst>
          </a:prstGeom>
          <a:solidFill>
            <a:srgbClr val="F5F4F0"/>
          </a:solidFill>
          <a:ln w="9525">
            <a:solidFill>
              <a:srgbClr val="DFDDD6"/>
            </a:solidFill>
            <a:prstDash val="solid"/>
          </a:ln>
        </p:spPr>
        <p:txBody>
          <a:bodyPr/>
          <a:lstStyle/>
          <a:p>
            <a:endParaRPr lang="en-AU"/>
          </a:p>
        </p:txBody>
      </p:sp>
      <p:sp>
        <p:nvSpPr>
          <p:cNvPr id="8" name="Text 6"/>
          <p:cNvSpPr/>
          <p:nvPr/>
        </p:nvSpPr>
        <p:spPr>
          <a:xfrm>
            <a:off x="749808" y="1929384"/>
            <a:ext cx="2340864" cy="502920"/>
          </a:xfrm>
          <a:prstGeom prst="rect">
            <a:avLst/>
          </a:prstGeom>
          <a:noFill/>
          <a:ln/>
        </p:spPr>
        <p:txBody>
          <a:bodyPr wrap="square" lIns="0" tIns="0" rIns="0" bIns="0" rtlCol="0" anchor="ctr"/>
          <a:lstStyle/>
          <a:p>
            <a:pPr marL="0" indent="0">
              <a:buNone/>
            </a:pPr>
            <a:r>
              <a:rPr lang="en-US" sz="2600" b="1" dirty="0">
                <a:solidFill>
                  <a:srgbClr val="1F5FAE"/>
                </a:solidFill>
                <a:latin typeface="Segoe UI" pitchFamily="34" charset="0"/>
                <a:ea typeface="Segoe UI" pitchFamily="34" charset="-122"/>
                <a:cs typeface="Segoe UI" pitchFamily="34" charset="-120"/>
              </a:rPr>
              <a:t>153</a:t>
            </a:r>
            <a:endParaRPr lang="en-US" sz="2600" dirty="0"/>
          </a:p>
        </p:txBody>
      </p:sp>
      <p:sp>
        <p:nvSpPr>
          <p:cNvPr id="9" name="Text 7"/>
          <p:cNvSpPr/>
          <p:nvPr/>
        </p:nvSpPr>
        <p:spPr>
          <a:xfrm>
            <a:off x="749808" y="2441448"/>
            <a:ext cx="2340864"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flagged regrettable by HR</a:t>
            </a:r>
            <a:endParaRPr lang="en-US" sz="1050" dirty="0"/>
          </a:p>
        </p:txBody>
      </p:sp>
      <p:sp>
        <p:nvSpPr>
          <p:cNvPr id="10" name="Shape 8"/>
          <p:cNvSpPr/>
          <p:nvPr/>
        </p:nvSpPr>
        <p:spPr>
          <a:xfrm>
            <a:off x="3538728" y="1783080"/>
            <a:ext cx="2743200" cy="1371600"/>
          </a:xfrm>
          <a:prstGeom prst="roundRect">
            <a:avLst>
              <a:gd name="adj" fmla="val 2667"/>
            </a:avLst>
          </a:prstGeom>
          <a:solidFill>
            <a:srgbClr val="F5F4F0"/>
          </a:solidFill>
          <a:ln w="9525">
            <a:solidFill>
              <a:srgbClr val="DFDDD6"/>
            </a:solidFill>
            <a:prstDash val="solid"/>
          </a:ln>
        </p:spPr>
        <p:txBody>
          <a:bodyPr/>
          <a:lstStyle/>
          <a:p>
            <a:endParaRPr lang="en-AU"/>
          </a:p>
        </p:txBody>
      </p:sp>
      <p:sp>
        <p:nvSpPr>
          <p:cNvPr id="11" name="Text 9"/>
          <p:cNvSpPr/>
          <p:nvPr/>
        </p:nvSpPr>
        <p:spPr>
          <a:xfrm>
            <a:off x="3739896" y="1929384"/>
            <a:ext cx="2340864" cy="502920"/>
          </a:xfrm>
          <a:prstGeom prst="rect">
            <a:avLst/>
          </a:prstGeom>
          <a:noFill/>
          <a:ln/>
        </p:spPr>
        <p:txBody>
          <a:bodyPr wrap="square" lIns="0" tIns="0" rIns="0" bIns="0" rtlCol="0" anchor="ctr"/>
          <a:lstStyle/>
          <a:p>
            <a:pPr marL="0" indent="0">
              <a:buNone/>
            </a:pPr>
            <a:r>
              <a:rPr lang="en-US" sz="2600" b="1" dirty="0">
                <a:solidFill>
                  <a:srgbClr val="A8460F"/>
                </a:solidFill>
                <a:latin typeface="Segoe UI" pitchFamily="34" charset="0"/>
                <a:ea typeface="Segoe UI" pitchFamily="34" charset="-122"/>
                <a:cs typeface="Segoe UI" pitchFamily="34" charset="-120"/>
              </a:rPr>
              <a:t>496</a:t>
            </a:r>
            <a:endParaRPr lang="en-US" sz="2600" dirty="0"/>
          </a:p>
        </p:txBody>
      </p:sp>
      <p:sp>
        <p:nvSpPr>
          <p:cNvPr id="12" name="Text 10"/>
          <p:cNvSpPr/>
          <p:nvPr/>
        </p:nvSpPr>
        <p:spPr>
          <a:xfrm>
            <a:off x="3739896" y="2441448"/>
            <a:ext cx="2340864"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meet an evidence-based test</a:t>
            </a:r>
            <a:endParaRPr lang="en-US" sz="1050" dirty="0"/>
          </a:p>
        </p:txBody>
      </p:sp>
      <p:sp>
        <p:nvSpPr>
          <p:cNvPr id="13" name="Shape 11"/>
          <p:cNvSpPr/>
          <p:nvPr/>
        </p:nvSpPr>
        <p:spPr>
          <a:xfrm>
            <a:off x="6528816" y="1783080"/>
            <a:ext cx="2743200" cy="1371600"/>
          </a:xfrm>
          <a:prstGeom prst="roundRect">
            <a:avLst>
              <a:gd name="adj" fmla="val 2667"/>
            </a:avLst>
          </a:prstGeom>
          <a:solidFill>
            <a:srgbClr val="F5F4F0"/>
          </a:solidFill>
          <a:ln w="9525">
            <a:solidFill>
              <a:srgbClr val="DFDDD6"/>
            </a:solidFill>
            <a:prstDash val="solid"/>
          </a:ln>
        </p:spPr>
        <p:txBody>
          <a:bodyPr/>
          <a:lstStyle/>
          <a:p>
            <a:endParaRPr lang="en-AU"/>
          </a:p>
        </p:txBody>
      </p:sp>
      <p:sp>
        <p:nvSpPr>
          <p:cNvPr id="14" name="Text 12"/>
          <p:cNvSpPr/>
          <p:nvPr/>
        </p:nvSpPr>
        <p:spPr>
          <a:xfrm>
            <a:off x="6729984" y="1929384"/>
            <a:ext cx="2340864" cy="502920"/>
          </a:xfrm>
          <a:prstGeom prst="rect">
            <a:avLst/>
          </a:prstGeom>
          <a:noFill/>
          <a:ln/>
        </p:spPr>
        <p:txBody>
          <a:bodyPr wrap="square" lIns="0" tIns="0" rIns="0" bIns="0" rtlCol="0" anchor="ctr"/>
          <a:lstStyle/>
          <a:p>
            <a:pPr marL="0" indent="0">
              <a:buNone/>
            </a:pPr>
            <a:r>
              <a:rPr lang="en-US" sz="2600" b="1" dirty="0">
                <a:solidFill>
                  <a:srgbClr val="12100E"/>
                </a:solidFill>
                <a:latin typeface="Segoe UI" pitchFamily="34" charset="0"/>
                <a:ea typeface="Segoe UI" pitchFamily="34" charset="-122"/>
                <a:cs typeface="Segoe UI" pitchFamily="34" charset="-120"/>
              </a:rPr>
              <a:t>101</a:t>
            </a:r>
            <a:endParaRPr lang="en-US" sz="2600" dirty="0"/>
          </a:p>
        </p:txBody>
      </p:sp>
      <p:sp>
        <p:nvSpPr>
          <p:cNvPr id="15" name="Text 13"/>
          <p:cNvSpPr/>
          <p:nvPr/>
        </p:nvSpPr>
        <p:spPr>
          <a:xfrm>
            <a:off x="6729984" y="2441448"/>
            <a:ext cx="2340864"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appear in both</a:t>
            </a:r>
            <a:endParaRPr lang="en-US" sz="1050" dirty="0"/>
          </a:p>
        </p:txBody>
      </p:sp>
      <p:sp>
        <p:nvSpPr>
          <p:cNvPr id="16" name="Shape 14"/>
          <p:cNvSpPr/>
          <p:nvPr/>
        </p:nvSpPr>
        <p:spPr>
          <a:xfrm>
            <a:off x="9518904" y="1783080"/>
            <a:ext cx="2121408" cy="1371600"/>
          </a:xfrm>
          <a:prstGeom prst="roundRect">
            <a:avLst>
              <a:gd name="adj" fmla="val 2667"/>
            </a:avLst>
          </a:prstGeom>
          <a:solidFill>
            <a:srgbClr val="F5F4F0"/>
          </a:solidFill>
          <a:ln w="9525">
            <a:solidFill>
              <a:srgbClr val="DFDDD6"/>
            </a:solidFill>
            <a:prstDash val="solid"/>
          </a:ln>
        </p:spPr>
        <p:txBody>
          <a:bodyPr/>
          <a:lstStyle/>
          <a:p>
            <a:endParaRPr lang="en-AU"/>
          </a:p>
        </p:txBody>
      </p:sp>
      <p:sp>
        <p:nvSpPr>
          <p:cNvPr id="17" name="Text 15"/>
          <p:cNvSpPr/>
          <p:nvPr/>
        </p:nvSpPr>
        <p:spPr>
          <a:xfrm>
            <a:off x="9720072" y="1929384"/>
            <a:ext cx="1719072" cy="502920"/>
          </a:xfrm>
          <a:prstGeom prst="rect">
            <a:avLst/>
          </a:prstGeom>
          <a:noFill/>
          <a:ln/>
        </p:spPr>
        <p:txBody>
          <a:bodyPr wrap="square" lIns="0" tIns="0" rIns="0" bIns="0" rtlCol="0" anchor="ctr"/>
          <a:lstStyle/>
          <a:p>
            <a:pPr marL="0" indent="0">
              <a:buNone/>
            </a:pPr>
            <a:r>
              <a:rPr lang="en-US" sz="2600" b="1" dirty="0">
                <a:solidFill>
                  <a:srgbClr val="A8460F"/>
                </a:solidFill>
                <a:latin typeface="Segoe UI" pitchFamily="34" charset="0"/>
                <a:ea typeface="Segoe UI" pitchFamily="34" charset="-122"/>
                <a:cs typeface="Segoe UI" pitchFamily="34" charset="-120"/>
              </a:rPr>
              <a:t>$64.5M</a:t>
            </a:r>
            <a:endParaRPr lang="en-US" sz="2600" dirty="0"/>
          </a:p>
        </p:txBody>
      </p:sp>
      <p:sp>
        <p:nvSpPr>
          <p:cNvPr id="18" name="Text 16"/>
          <p:cNvSpPr/>
          <p:nvPr/>
        </p:nvSpPr>
        <p:spPr>
          <a:xfrm>
            <a:off x="9720072" y="2441448"/>
            <a:ext cx="1719072" cy="310896"/>
          </a:xfrm>
          <a:prstGeom prst="rect">
            <a:avLst/>
          </a:prstGeom>
          <a:noFill/>
          <a:ln/>
        </p:spPr>
        <p:txBody>
          <a:bodyPr wrap="square" lIns="0" tIns="0" rIns="0" bIns="0" rtlCol="0" anchor="ctr"/>
          <a:lstStyle/>
          <a:p>
            <a:pPr marL="0" indent="0">
              <a:buNone/>
            </a:pPr>
            <a:r>
              <a:rPr lang="en-US" sz="1050" dirty="0">
                <a:solidFill>
                  <a:srgbClr val="4A4845"/>
                </a:solidFill>
                <a:latin typeface="Segoe UI" pitchFamily="34" charset="0"/>
                <a:ea typeface="Segoe UI" pitchFamily="34" charset="-122"/>
                <a:cs typeface="Segoe UI" pitchFamily="34" charset="-120"/>
              </a:rPr>
              <a:t>scoped out</a:t>
            </a:r>
            <a:endParaRPr lang="en-US" sz="1050" dirty="0"/>
          </a:p>
        </p:txBody>
      </p:sp>
      <p:sp>
        <p:nvSpPr>
          <p:cNvPr id="19" name="Shape 17"/>
          <p:cNvSpPr/>
          <p:nvPr/>
        </p:nvSpPr>
        <p:spPr>
          <a:xfrm>
            <a:off x="548640" y="3429000"/>
            <a:ext cx="5486400" cy="1417320"/>
          </a:xfrm>
          <a:prstGeom prst="roundRect">
            <a:avLst>
              <a:gd name="adj" fmla="val 1935"/>
            </a:avLst>
          </a:prstGeom>
          <a:solidFill>
            <a:srgbClr val="FFFFFF"/>
          </a:solidFill>
          <a:ln w="9525">
            <a:solidFill>
              <a:srgbClr val="DFDDD6"/>
            </a:solidFill>
            <a:prstDash val="solid"/>
          </a:ln>
        </p:spPr>
        <p:txBody>
          <a:bodyPr/>
          <a:lstStyle/>
          <a:p>
            <a:endParaRPr lang="en-AU"/>
          </a:p>
        </p:txBody>
      </p:sp>
      <p:sp>
        <p:nvSpPr>
          <p:cNvPr id="20" name="Text 18"/>
          <p:cNvSpPr/>
          <p:nvPr/>
        </p:nvSpPr>
        <p:spPr>
          <a:xfrm>
            <a:off x="768096" y="3575304"/>
            <a:ext cx="5047488"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THE EVIDENCE TEST WE USED</a:t>
            </a:r>
            <a:endParaRPr lang="en-US" sz="900" dirty="0"/>
          </a:p>
        </p:txBody>
      </p:sp>
      <p:sp>
        <p:nvSpPr>
          <p:cNvPr id="21" name="Text 19"/>
          <p:cNvSpPr/>
          <p:nvPr/>
        </p:nvSpPr>
        <p:spPr>
          <a:xfrm>
            <a:off x="768096" y="3886200"/>
            <a:ext cx="5047488" cy="777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A voluntary departure by someone either flagged high-potential, or rated in the top two performance bands at their last review.</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Both fields already exist. No new data is needed.</a:t>
            </a:r>
            <a:endParaRPr lang="en-US" sz="1150" dirty="0"/>
          </a:p>
        </p:txBody>
      </p:sp>
      <p:sp>
        <p:nvSpPr>
          <p:cNvPr id="22" name="Shape 20"/>
          <p:cNvSpPr/>
          <p:nvPr/>
        </p:nvSpPr>
        <p:spPr>
          <a:xfrm>
            <a:off x="6355080" y="3429000"/>
            <a:ext cx="5285232" cy="1417320"/>
          </a:xfrm>
          <a:prstGeom prst="roundRect">
            <a:avLst>
              <a:gd name="adj" fmla="val 1935"/>
            </a:avLst>
          </a:prstGeom>
          <a:solidFill>
            <a:srgbClr val="FFFFFF"/>
          </a:solidFill>
          <a:ln w="9525">
            <a:solidFill>
              <a:srgbClr val="DFDDD6"/>
            </a:solidFill>
            <a:prstDash val="solid"/>
          </a:ln>
        </p:spPr>
        <p:txBody>
          <a:bodyPr/>
          <a:lstStyle/>
          <a:p>
            <a:endParaRPr lang="en-AU"/>
          </a:p>
        </p:txBody>
      </p:sp>
      <p:sp>
        <p:nvSpPr>
          <p:cNvPr id="23" name="Text 21"/>
          <p:cNvSpPr/>
          <p:nvPr/>
        </p:nvSpPr>
        <p:spPr>
          <a:xfrm>
            <a:off x="6574536" y="3575304"/>
            <a:ext cx="484632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WHY THE 395 MATTER</a:t>
            </a:r>
            <a:endParaRPr lang="en-US" sz="900" dirty="0"/>
          </a:p>
        </p:txBody>
      </p:sp>
      <p:sp>
        <p:nvSpPr>
          <p:cNvPr id="24" name="Text 22"/>
          <p:cNvSpPr/>
          <p:nvPr/>
        </p:nvSpPr>
        <p:spPr>
          <a:xfrm>
            <a:off x="6574536" y="3886200"/>
            <a:ext cx="4846320" cy="777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224 left for career advancement and 98 for a better opportunity.</a:t>
            </a:r>
            <a:endParaRPr lang="en-US" sz="1150" dirty="0"/>
          </a:p>
          <a:p>
            <a:pPr marL="342900" indent="-342900">
              <a:spcAft>
                <a:spcPts val="700"/>
              </a:spcAft>
              <a:buSzPct val="100000"/>
              <a:buChar char="•"/>
            </a:pPr>
            <a:r>
              <a:rPr lang="en-US" sz="1150" b="1" dirty="0">
                <a:solidFill>
                  <a:srgbClr val="12100E"/>
                </a:solidFill>
                <a:latin typeface="Segoe UI" pitchFamily="34" charset="0"/>
                <a:ea typeface="Segoe UI" pitchFamily="34" charset="-122"/>
                <a:cs typeface="Segoe UI" pitchFamily="34" charset="-120"/>
              </a:rPr>
              <a:t>Only 18 cited compensation. This is a progression problem, not a pay problem.</a:t>
            </a:r>
            <a:endParaRPr lang="en-US" sz="1150" dirty="0"/>
          </a:p>
        </p:txBody>
      </p:sp>
      <p:sp>
        <p:nvSpPr>
          <p:cNvPr id="25" name="Shape 23"/>
          <p:cNvSpPr/>
          <p:nvPr/>
        </p:nvSpPr>
        <p:spPr>
          <a:xfrm>
            <a:off x="548640" y="5120640"/>
            <a:ext cx="27432" cy="457200"/>
          </a:xfrm>
          <a:prstGeom prst="rect">
            <a:avLst/>
          </a:prstGeom>
          <a:solidFill>
            <a:srgbClr val="C98A10"/>
          </a:solidFill>
          <a:ln/>
        </p:spPr>
        <p:txBody>
          <a:bodyPr/>
          <a:lstStyle/>
          <a:p>
            <a:endParaRPr lang="en-AU"/>
          </a:p>
        </p:txBody>
      </p:sp>
      <p:sp>
        <p:nvSpPr>
          <p:cNvPr id="26" name="Text 24"/>
          <p:cNvSpPr/>
          <p:nvPr/>
        </p:nvSpPr>
        <p:spPr>
          <a:xfrm>
            <a:off x="713232" y="5084064"/>
            <a:ext cx="10817352" cy="53035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This is the cheapest fix on the list. Changing the definition costs nothing, needs no new data, and immediately reveals four times as much of the problem as the current flag does.</a:t>
            </a:r>
            <a:endParaRPr lang="en-US" sz="1100" dirty="0"/>
          </a:p>
        </p:txBody>
      </p:sp>
      <p:sp>
        <p:nvSpPr>
          <p:cNvPr id="27" name="Shape 25"/>
          <p:cNvSpPr/>
          <p:nvPr/>
        </p:nvSpPr>
        <p:spPr>
          <a:xfrm>
            <a:off x="548640" y="5852160"/>
            <a:ext cx="27432" cy="457200"/>
          </a:xfrm>
          <a:prstGeom prst="rect">
            <a:avLst/>
          </a:prstGeom>
          <a:solidFill>
            <a:srgbClr val="C98A10"/>
          </a:solidFill>
          <a:ln/>
        </p:spPr>
        <p:txBody>
          <a:bodyPr/>
          <a:lstStyle/>
          <a:p>
            <a:endParaRPr lang="en-AU"/>
          </a:p>
        </p:txBody>
      </p:sp>
      <p:sp>
        <p:nvSpPr>
          <p:cNvPr id="28" name="Text 26"/>
          <p:cNvSpPr/>
          <p:nvPr/>
        </p:nvSpPr>
        <p:spPr>
          <a:xfrm>
            <a:off x="713232" y="5815584"/>
            <a:ext cx="10817352" cy="53035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It also changes where you would spend. A pay-led response addresses 18 of 395 stated reasons. A progression-led response addresses 322.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11</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What to do, in order of how fast you will know it worked</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All three sit inside the CHRO's own authority and need no data NovaCorp does not already hold.</a:t>
            </a:r>
            <a:endParaRPr lang="en-US" sz="1250" dirty="0"/>
          </a:p>
        </p:txBody>
      </p:sp>
      <p:sp>
        <p:nvSpPr>
          <p:cNvPr id="7" name="Shape 5"/>
          <p:cNvSpPr/>
          <p:nvPr/>
        </p:nvSpPr>
        <p:spPr>
          <a:xfrm>
            <a:off x="548640" y="1737360"/>
            <a:ext cx="11091672" cy="1280160"/>
          </a:xfrm>
          <a:prstGeom prst="roundRect">
            <a:avLst>
              <a:gd name="adj" fmla="val 2143"/>
            </a:avLst>
          </a:prstGeom>
          <a:solidFill>
            <a:srgbClr val="FFFFFF"/>
          </a:solidFill>
          <a:ln w="9525">
            <a:solidFill>
              <a:srgbClr val="DFDDD6"/>
            </a:solidFill>
            <a:prstDash val="solid"/>
          </a:ln>
        </p:spPr>
        <p:txBody>
          <a:bodyPr/>
          <a:lstStyle/>
          <a:p>
            <a:endParaRPr lang="en-AU"/>
          </a:p>
        </p:txBody>
      </p:sp>
      <p:sp>
        <p:nvSpPr>
          <p:cNvPr id="8" name="Shape 6"/>
          <p:cNvSpPr/>
          <p:nvPr/>
        </p:nvSpPr>
        <p:spPr>
          <a:xfrm>
            <a:off x="548640" y="1737360"/>
            <a:ext cx="45720" cy="1280160"/>
          </a:xfrm>
          <a:prstGeom prst="rect">
            <a:avLst/>
          </a:prstGeom>
          <a:solidFill>
            <a:srgbClr val="2A78D6"/>
          </a:solidFill>
          <a:ln/>
        </p:spPr>
        <p:txBody>
          <a:bodyPr/>
          <a:lstStyle/>
          <a:p>
            <a:endParaRPr lang="en-AU"/>
          </a:p>
        </p:txBody>
      </p:sp>
      <p:sp>
        <p:nvSpPr>
          <p:cNvPr id="9" name="Text 7"/>
          <p:cNvSpPr/>
          <p:nvPr/>
        </p:nvSpPr>
        <p:spPr>
          <a:xfrm>
            <a:off x="777240" y="1883664"/>
            <a:ext cx="457200" cy="274320"/>
          </a:xfrm>
          <a:prstGeom prst="rect">
            <a:avLst/>
          </a:prstGeom>
          <a:noFill/>
          <a:ln/>
        </p:spPr>
        <p:txBody>
          <a:bodyPr wrap="square" lIns="0" tIns="0" rIns="0" bIns="0" rtlCol="0" anchor="ctr"/>
          <a:lstStyle/>
          <a:p>
            <a:pPr marL="0" indent="0">
              <a:buNone/>
            </a:pPr>
            <a:r>
              <a:rPr lang="en-US" sz="1100" b="1" dirty="0">
                <a:solidFill>
                  <a:srgbClr val="2A78D6"/>
                </a:solidFill>
                <a:latin typeface="Consolas" pitchFamily="34" charset="0"/>
                <a:ea typeface="Consolas" pitchFamily="34" charset="-122"/>
                <a:cs typeface="Consolas" pitchFamily="34" charset="-120"/>
              </a:rPr>
              <a:t>01</a:t>
            </a:r>
            <a:endParaRPr lang="en-US" sz="1100" dirty="0"/>
          </a:p>
        </p:txBody>
      </p:sp>
      <p:sp>
        <p:nvSpPr>
          <p:cNvPr id="10" name="Text 8"/>
          <p:cNvSpPr/>
          <p:nvPr/>
        </p:nvSpPr>
        <p:spPr>
          <a:xfrm>
            <a:off x="1325880" y="1856232"/>
            <a:ext cx="4937760" cy="310896"/>
          </a:xfrm>
          <a:prstGeom prst="rect">
            <a:avLst/>
          </a:prstGeom>
          <a:noFill/>
          <a:ln/>
        </p:spPr>
        <p:txBody>
          <a:bodyPr wrap="square" lIns="0" tIns="0" rIns="0" bIns="0" rtlCol="0" anchor="ctr"/>
          <a:lstStyle/>
          <a:p>
            <a:pPr marL="0" indent="0">
              <a:buNone/>
            </a:pPr>
            <a:r>
              <a:rPr lang="en-US" sz="1400" b="1" dirty="0">
                <a:solidFill>
                  <a:srgbClr val="12100E"/>
                </a:solidFill>
                <a:latin typeface="Segoe UI" pitchFamily="34" charset="0"/>
                <a:ea typeface="Segoe UI" pitchFamily="34" charset="-122"/>
                <a:cs typeface="Segoe UI" pitchFamily="34" charset="-120"/>
              </a:rPr>
              <a:t>Turn on a non-response alert</a:t>
            </a:r>
            <a:endParaRPr lang="en-US" sz="1400" dirty="0"/>
          </a:p>
        </p:txBody>
      </p:sp>
      <p:sp>
        <p:nvSpPr>
          <p:cNvPr id="11" name="Text 9"/>
          <p:cNvSpPr/>
          <p:nvPr/>
        </p:nvSpPr>
        <p:spPr>
          <a:xfrm>
            <a:off x="1325880" y="2212848"/>
            <a:ext cx="6949440" cy="65836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Flag anyone who answered before and has now missed two waves in a row. Route to a manager conversation, not an HR one.</a:t>
            </a:r>
            <a:endParaRPr lang="en-US" sz="1100" dirty="0"/>
          </a:p>
        </p:txBody>
      </p:sp>
      <p:sp>
        <p:nvSpPr>
          <p:cNvPr id="12" name="Text 10"/>
          <p:cNvSpPr/>
          <p:nvPr/>
        </p:nvSpPr>
        <p:spPr>
          <a:xfrm>
            <a:off x="8412480" y="1883664"/>
            <a:ext cx="1828800" cy="457200"/>
          </a:xfrm>
          <a:prstGeom prst="rect">
            <a:avLst/>
          </a:prstGeom>
          <a:noFill/>
          <a:ln/>
        </p:spPr>
        <p:txBody>
          <a:bodyPr wrap="square" lIns="0" tIns="0" rIns="0" bIns="0" rtlCol="0" anchor="t"/>
          <a:lstStyle/>
          <a:p>
            <a:pPr marL="0" indent="0">
              <a:buNone/>
            </a:pPr>
            <a:r>
              <a:rPr lang="en-US" sz="1000" dirty="0">
                <a:solidFill>
                  <a:srgbClr val="8A8781"/>
                </a:solidFill>
                <a:latin typeface="Segoe UI" pitchFamily="34" charset="0"/>
                <a:ea typeface="Segoe UI" pitchFamily="34" charset="-122"/>
                <a:cs typeface="Segoe UI" pitchFamily="34" charset="-120"/>
              </a:rPr>
              <a:t>Before the next survey wave closes</a:t>
            </a:r>
            <a:endParaRPr lang="en-US" sz="1000" dirty="0"/>
          </a:p>
        </p:txBody>
      </p:sp>
      <p:sp>
        <p:nvSpPr>
          <p:cNvPr id="13" name="Text 11"/>
          <p:cNvSpPr/>
          <p:nvPr/>
        </p:nvSpPr>
        <p:spPr>
          <a:xfrm>
            <a:off x="10241280" y="1993392"/>
            <a:ext cx="1280160" cy="365760"/>
          </a:xfrm>
          <a:prstGeom prst="rect">
            <a:avLst/>
          </a:prstGeom>
          <a:noFill/>
          <a:ln/>
        </p:spPr>
        <p:txBody>
          <a:bodyPr wrap="square" lIns="0" tIns="0" rIns="0" bIns="0" rtlCol="0" anchor="ctr"/>
          <a:lstStyle/>
          <a:p>
            <a:pPr marL="0" indent="0" algn="r">
              <a:buNone/>
            </a:pPr>
            <a:r>
              <a:rPr lang="en-US" sz="1700" b="1" dirty="0">
                <a:solidFill>
                  <a:srgbClr val="2A78D6"/>
                </a:solidFill>
                <a:latin typeface="Segoe UI" pitchFamily="34" charset="0"/>
                <a:ea typeface="Segoe UI" pitchFamily="34" charset="-122"/>
                <a:cs typeface="Segoe UI" pitchFamily="34" charset="-120"/>
              </a:rPr>
              <a:t>$1.8M</a:t>
            </a:r>
            <a:endParaRPr lang="en-US" sz="1700" dirty="0"/>
          </a:p>
        </p:txBody>
      </p:sp>
      <p:sp>
        <p:nvSpPr>
          <p:cNvPr id="14" name="Text 12"/>
          <p:cNvSpPr/>
          <p:nvPr/>
        </p:nvSpPr>
        <p:spPr>
          <a:xfrm>
            <a:off x="9692640" y="2395728"/>
            <a:ext cx="1828800" cy="274320"/>
          </a:xfrm>
          <a:prstGeom prst="rect">
            <a:avLst/>
          </a:prstGeom>
          <a:noFill/>
          <a:ln/>
        </p:spPr>
        <p:txBody>
          <a:bodyPr wrap="square" lIns="0" tIns="0" rIns="0" bIns="0" rtlCol="0" anchor="ctr"/>
          <a:lstStyle/>
          <a:p>
            <a:pPr marL="0" indent="0" algn="r">
              <a:buNone/>
            </a:pPr>
            <a:r>
              <a:rPr lang="en-US" sz="850" dirty="0">
                <a:solidFill>
                  <a:srgbClr val="8A8781"/>
                </a:solidFill>
                <a:latin typeface="Segoe UI" pitchFamily="34" charset="0"/>
                <a:ea typeface="Segoe UI" pitchFamily="34" charset="-122"/>
                <a:cs typeface="Segoe UI" pitchFamily="34" charset="-120"/>
              </a:rPr>
              <a:t>at 20% retention</a:t>
            </a:r>
            <a:endParaRPr lang="en-US" sz="850" dirty="0"/>
          </a:p>
        </p:txBody>
      </p:sp>
      <p:sp>
        <p:nvSpPr>
          <p:cNvPr id="15" name="Shape 13"/>
          <p:cNvSpPr/>
          <p:nvPr/>
        </p:nvSpPr>
        <p:spPr>
          <a:xfrm>
            <a:off x="548640" y="3154680"/>
            <a:ext cx="11091672" cy="1280160"/>
          </a:xfrm>
          <a:prstGeom prst="roundRect">
            <a:avLst>
              <a:gd name="adj" fmla="val 2143"/>
            </a:avLst>
          </a:prstGeom>
          <a:solidFill>
            <a:srgbClr val="FFFFFF"/>
          </a:solidFill>
          <a:ln w="9525">
            <a:solidFill>
              <a:srgbClr val="DFDDD6"/>
            </a:solidFill>
            <a:prstDash val="solid"/>
          </a:ln>
        </p:spPr>
        <p:txBody>
          <a:bodyPr/>
          <a:lstStyle/>
          <a:p>
            <a:endParaRPr lang="en-AU"/>
          </a:p>
        </p:txBody>
      </p:sp>
      <p:sp>
        <p:nvSpPr>
          <p:cNvPr id="16" name="Shape 14"/>
          <p:cNvSpPr/>
          <p:nvPr/>
        </p:nvSpPr>
        <p:spPr>
          <a:xfrm>
            <a:off x="548640" y="3154680"/>
            <a:ext cx="45720" cy="1280160"/>
          </a:xfrm>
          <a:prstGeom prst="rect">
            <a:avLst/>
          </a:prstGeom>
          <a:solidFill>
            <a:srgbClr val="2A78D6"/>
          </a:solidFill>
          <a:ln/>
        </p:spPr>
        <p:txBody>
          <a:bodyPr/>
          <a:lstStyle/>
          <a:p>
            <a:endParaRPr lang="en-AU"/>
          </a:p>
        </p:txBody>
      </p:sp>
      <p:sp>
        <p:nvSpPr>
          <p:cNvPr id="17" name="Text 15"/>
          <p:cNvSpPr/>
          <p:nvPr/>
        </p:nvSpPr>
        <p:spPr>
          <a:xfrm>
            <a:off x="777240" y="3300984"/>
            <a:ext cx="457200" cy="274320"/>
          </a:xfrm>
          <a:prstGeom prst="rect">
            <a:avLst/>
          </a:prstGeom>
          <a:noFill/>
          <a:ln/>
        </p:spPr>
        <p:txBody>
          <a:bodyPr wrap="square" lIns="0" tIns="0" rIns="0" bIns="0" rtlCol="0" anchor="ctr"/>
          <a:lstStyle/>
          <a:p>
            <a:pPr marL="0" indent="0">
              <a:buNone/>
            </a:pPr>
            <a:r>
              <a:rPr lang="en-US" sz="1100" b="1" dirty="0">
                <a:solidFill>
                  <a:srgbClr val="2A78D6"/>
                </a:solidFill>
                <a:latin typeface="Consolas" pitchFamily="34" charset="0"/>
                <a:ea typeface="Consolas" pitchFamily="34" charset="-122"/>
                <a:cs typeface="Consolas" pitchFamily="34" charset="-120"/>
              </a:rPr>
              <a:t>02</a:t>
            </a:r>
            <a:endParaRPr lang="en-US" sz="1100" dirty="0"/>
          </a:p>
        </p:txBody>
      </p:sp>
      <p:sp>
        <p:nvSpPr>
          <p:cNvPr id="18" name="Text 16"/>
          <p:cNvSpPr/>
          <p:nvPr/>
        </p:nvSpPr>
        <p:spPr>
          <a:xfrm>
            <a:off x="1325880" y="3273552"/>
            <a:ext cx="4937760" cy="310896"/>
          </a:xfrm>
          <a:prstGeom prst="rect">
            <a:avLst/>
          </a:prstGeom>
          <a:noFill/>
          <a:ln/>
        </p:spPr>
        <p:txBody>
          <a:bodyPr wrap="square" lIns="0" tIns="0" rIns="0" bIns="0" rtlCol="0" anchor="ctr"/>
          <a:lstStyle/>
          <a:p>
            <a:pPr marL="0" indent="0">
              <a:buNone/>
            </a:pPr>
            <a:r>
              <a:rPr lang="en-US" sz="1400" b="1" dirty="0">
                <a:solidFill>
                  <a:srgbClr val="12100E"/>
                </a:solidFill>
                <a:latin typeface="Segoe UI" pitchFamily="34" charset="0"/>
                <a:ea typeface="Segoe UI" pitchFamily="34" charset="-122"/>
                <a:cs typeface="Segoe UI" pitchFamily="34" charset="-120"/>
              </a:rPr>
              <a:t>Redefine what counts as a regrettable exit</a:t>
            </a:r>
            <a:endParaRPr lang="en-US" sz="1400" dirty="0"/>
          </a:p>
        </p:txBody>
      </p:sp>
      <p:sp>
        <p:nvSpPr>
          <p:cNvPr id="19" name="Text 17"/>
          <p:cNvSpPr/>
          <p:nvPr/>
        </p:nvSpPr>
        <p:spPr>
          <a:xfrm>
            <a:off x="1325880" y="3630168"/>
            <a:ext cx="6949440" cy="65836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Replace the manager's after-the-fact judgement with the evidence test. Reveals four times as many costly departures.</a:t>
            </a:r>
            <a:endParaRPr lang="en-US" sz="1100" dirty="0"/>
          </a:p>
        </p:txBody>
      </p:sp>
      <p:sp>
        <p:nvSpPr>
          <p:cNvPr id="20" name="Text 18"/>
          <p:cNvSpPr/>
          <p:nvPr/>
        </p:nvSpPr>
        <p:spPr>
          <a:xfrm>
            <a:off x="8412480" y="3300984"/>
            <a:ext cx="1828800" cy="457200"/>
          </a:xfrm>
          <a:prstGeom prst="rect">
            <a:avLst/>
          </a:prstGeom>
          <a:noFill/>
          <a:ln/>
        </p:spPr>
        <p:txBody>
          <a:bodyPr wrap="square" lIns="0" tIns="0" rIns="0" bIns="0" rtlCol="0" anchor="t"/>
          <a:lstStyle/>
          <a:p>
            <a:pPr marL="0" indent="0">
              <a:buNone/>
            </a:pPr>
            <a:r>
              <a:rPr lang="en-US" sz="1000" dirty="0">
                <a:solidFill>
                  <a:srgbClr val="8A8781"/>
                </a:solidFill>
                <a:latin typeface="Segoe UI" pitchFamily="34" charset="0"/>
                <a:ea typeface="Segoe UI" pitchFamily="34" charset="-122"/>
                <a:cs typeface="Segoe UI" pitchFamily="34" charset="-120"/>
              </a:rPr>
              <a:t>Next exit cycle</a:t>
            </a:r>
            <a:endParaRPr lang="en-US" sz="1000" dirty="0"/>
          </a:p>
        </p:txBody>
      </p:sp>
      <p:sp>
        <p:nvSpPr>
          <p:cNvPr id="21" name="Text 19"/>
          <p:cNvSpPr/>
          <p:nvPr/>
        </p:nvSpPr>
        <p:spPr>
          <a:xfrm>
            <a:off x="10241280" y="3410712"/>
            <a:ext cx="1280160" cy="365760"/>
          </a:xfrm>
          <a:prstGeom prst="rect">
            <a:avLst/>
          </a:prstGeom>
          <a:noFill/>
          <a:ln/>
        </p:spPr>
        <p:txBody>
          <a:bodyPr wrap="square" lIns="0" tIns="0" rIns="0" bIns="0" rtlCol="0" anchor="ctr"/>
          <a:lstStyle/>
          <a:p>
            <a:pPr marL="0" indent="0" algn="r">
              <a:buNone/>
            </a:pPr>
            <a:r>
              <a:rPr lang="en-US" sz="1700" b="1" dirty="0">
                <a:solidFill>
                  <a:srgbClr val="2A78D6"/>
                </a:solidFill>
                <a:latin typeface="Segoe UI" pitchFamily="34" charset="0"/>
                <a:ea typeface="Segoe UI" pitchFamily="34" charset="-122"/>
                <a:cs typeface="Segoe UI" pitchFamily="34" charset="-120"/>
              </a:rPr>
              <a:t>$64.5M</a:t>
            </a:r>
            <a:endParaRPr lang="en-US" sz="1700" dirty="0"/>
          </a:p>
        </p:txBody>
      </p:sp>
      <p:sp>
        <p:nvSpPr>
          <p:cNvPr id="22" name="Text 20"/>
          <p:cNvSpPr/>
          <p:nvPr/>
        </p:nvSpPr>
        <p:spPr>
          <a:xfrm>
            <a:off x="9692640" y="3813048"/>
            <a:ext cx="1828800" cy="274320"/>
          </a:xfrm>
          <a:prstGeom prst="rect">
            <a:avLst/>
          </a:prstGeom>
          <a:noFill/>
          <a:ln/>
        </p:spPr>
        <p:txBody>
          <a:bodyPr wrap="square" lIns="0" tIns="0" rIns="0" bIns="0" rtlCol="0" anchor="ctr"/>
          <a:lstStyle/>
          <a:p>
            <a:pPr marL="0" indent="0" algn="r">
              <a:buNone/>
            </a:pPr>
            <a:r>
              <a:rPr lang="en-US" sz="850" dirty="0">
                <a:solidFill>
                  <a:srgbClr val="8A8781"/>
                </a:solidFill>
                <a:latin typeface="Segoe UI" pitchFamily="34" charset="0"/>
                <a:ea typeface="Segoe UI" pitchFamily="34" charset="-122"/>
                <a:cs typeface="Segoe UI" pitchFamily="34" charset="-120"/>
              </a:rPr>
              <a:t>correctly scoped</a:t>
            </a:r>
            <a:endParaRPr lang="en-US" sz="850" dirty="0"/>
          </a:p>
        </p:txBody>
      </p:sp>
      <p:sp>
        <p:nvSpPr>
          <p:cNvPr id="23" name="Shape 21"/>
          <p:cNvSpPr/>
          <p:nvPr/>
        </p:nvSpPr>
        <p:spPr>
          <a:xfrm>
            <a:off x="548640" y="4572000"/>
            <a:ext cx="11091672" cy="1280160"/>
          </a:xfrm>
          <a:prstGeom prst="roundRect">
            <a:avLst>
              <a:gd name="adj" fmla="val 2143"/>
            </a:avLst>
          </a:prstGeom>
          <a:solidFill>
            <a:srgbClr val="FFFFFF"/>
          </a:solidFill>
          <a:ln w="9525">
            <a:solidFill>
              <a:srgbClr val="DFDDD6"/>
            </a:solidFill>
            <a:prstDash val="solid"/>
          </a:ln>
        </p:spPr>
        <p:txBody>
          <a:bodyPr/>
          <a:lstStyle/>
          <a:p>
            <a:endParaRPr lang="en-AU"/>
          </a:p>
        </p:txBody>
      </p:sp>
      <p:sp>
        <p:nvSpPr>
          <p:cNvPr id="24" name="Shape 22"/>
          <p:cNvSpPr/>
          <p:nvPr/>
        </p:nvSpPr>
        <p:spPr>
          <a:xfrm>
            <a:off x="548640" y="4572000"/>
            <a:ext cx="45720" cy="1280160"/>
          </a:xfrm>
          <a:prstGeom prst="rect">
            <a:avLst/>
          </a:prstGeom>
          <a:solidFill>
            <a:srgbClr val="C93535"/>
          </a:solidFill>
          <a:ln/>
        </p:spPr>
        <p:txBody>
          <a:bodyPr/>
          <a:lstStyle/>
          <a:p>
            <a:endParaRPr lang="en-AU"/>
          </a:p>
        </p:txBody>
      </p:sp>
      <p:sp>
        <p:nvSpPr>
          <p:cNvPr id="25" name="Text 23"/>
          <p:cNvSpPr/>
          <p:nvPr/>
        </p:nvSpPr>
        <p:spPr>
          <a:xfrm>
            <a:off x="777240" y="4718304"/>
            <a:ext cx="457200" cy="274320"/>
          </a:xfrm>
          <a:prstGeom prst="rect">
            <a:avLst/>
          </a:prstGeom>
          <a:noFill/>
          <a:ln/>
        </p:spPr>
        <p:txBody>
          <a:bodyPr wrap="square" lIns="0" tIns="0" rIns="0" bIns="0" rtlCol="0" anchor="ctr"/>
          <a:lstStyle/>
          <a:p>
            <a:pPr marL="0" indent="0">
              <a:buNone/>
            </a:pPr>
            <a:r>
              <a:rPr lang="en-US" sz="1100" b="1" dirty="0">
                <a:solidFill>
                  <a:srgbClr val="C93535"/>
                </a:solidFill>
                <a:latin typeface="Consolas" pitchFamily="34" charset="0"/>
                <a:ea typeface="Consolas" pitchFamily="34" charset="-122"/>
                <a:cs typeface="Consolas" pitchFamily="34" charset="-120"/>
              </a:rPr>
              <a:t>03</a:t>
            </a:r>
            <a:endParaRPr lang="en-US" sz="1100" dirty="0"/>
          </a:p>
        </p:txBody>
      </p:sp>
      <p:sp>
        <p:nvSpPr>
          <p:cNvPr id="26" name="Text 24"/>
          <p:cNvSpPr/>
          <p:nvPr/>
        </p:nvSpPr>
        <p:spPr>
          <a:xfrm>
            <a:off x="1325880" y="4690872"/>
            <a:ext cx="4937760" cy="310896"/>
          </a:xfrm>
          <a:prstGeom prst="rect">
            <a:avLst/>
          </a:prstGeom>
          <a:noFill/>
          <a:ln/>
        </p:spPr>
        <p:txBody>
          <a:bodyPr wrap="square" lIns="0" tIns="0" rIns="0" bIns="0" rtlCol="0" anchor="ctr"/>
          <a:lstStyle/>
          <a:p>
            <a:pPr marL="0" indent="0">
              <a:buNone/>
            </a:pPr>
            <a:r>
              <a:rPr lang="en-US" sz="1400" b="1" dirty="0">
                <a:solidFill>
                  <a:srgbClr val="12100E"/>
                </a:solidFill>
                <a:latin typeface="Segoe UI" pitchFamily="34" charset="0"/>
                <a:ea typeface="Segoe UI" pitchFamily="34" charset="-122"/>
                <a:cs typeface="Segoe UI" pitchFamily="34" charset="-120"/>
              </a:rPr>
              <a:t>Open the Entity_C integration review</a:t>
            </a:r>
            <a:endParaRPr lang="en-US" sz="1400" dirty="0"/>
          </a:p>
        </p:txBody>
      </p:sp>
      <p:sp>
        <p:nvSpPr>
          <p:cNvPr id="27" name="Text 25"/>
          <p:cNvSpPr/>
          <p:nvPr/>
        </p:nvSpPr>
        <p:spPr>
          <a:xfrm>
            <a:off x="1325880" y="5047488"/>
            <a:ext cx="6949440" cy="65836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Ask what Entity_A did in its first six months that produced one departure in 1,950, and apply it.</a:t>
            </a:r>
            <a:endParaRPr lang="en-US" sz="1100" dirty="0"/>
          </a:p>
        </p:txBody>
      </p:sp>
      <p:sp>
        <p:nvSpPr>
          <p:cNvPr id="28" name="Text 26"/>
          <p:cNvSpPr/>
          <p:nvPr/>
        </p:nvSpPr>
        <p:spPr>
          <a:xfrm>
            <a:off x="8412480" y="4718304"/>
            <a:ext cx="1828800" cy="457200"/>
          </a:xfrm>
          <a:prstGeom prst="rect">
            <a:avLst/>
          </a:prstGeom>
          <a:noFill/>
          <a:ln/>
        </p:spPr>
        <p:txBody>
          <a:bodyPr wrap="square" lIns="0" tIns="0" rIns="0" bIns="0" rtlCol="0" anchor="t"/>
          <a:lstStyle/>
          <a:p>
            <a:pPr marL="0" indent="0">
              <a:buNone/>
            </a:pPr>
            <a:r>
              <a:rPr lang="en-US" sz="1000" dirty="0">
                <a:solidFill>
                  <a:srgbClr val="8A8781"/>
                </a:solidFill>
                <a:latin typeface="Segoe UI" pitchFamily="34" charset="0"/>
                <a:ea typeface="Segoe UI" pitchFamily="34" charset="-122"/>
                <a:cs typeface="Segoe UI" pitchFamily="34" charset="-120"/>
              </a:rPr>
              <a:t>Within four months, before the window closes</a:t>
            </a:r>
            <a:endParaRPr lang="en-US" sz="1000" dirty="0"/>
          </a:p>
        </p:txBody>
      </p:sp>
      <p:sp>
        <p:nvSpPr>
          <p:cNvPr id="29" name="Text 27"/>
          <p:cNvSpPr/>
          <p:nvPr/>
        </p:nvSpPr>
        <p:spPr>
          <a:xfrm>
            <a:off x="10241280" y="4828032"/>
            <a:ext cx="1280160" cy="365760"/>
          </a:xfrm>
          <a:prstGeom prst="rect">
            <a:avLst/>
          </a:prstGeom>
          <a:noFill/>
          <a:ln/>
        </p:spPr>
        <p:txBody>
          <a:bodyPr wrap="square" lIns="0" tIns="0" rIns="0" bIns="0" rtlCol="0" anchor="ctr"/>
          <a:lstStyle/>
          <a:p>
            <a:pPr marL="0" indent="0" algn="r">
              <a:buNone/>
            </a:pPr>
            <a:r>
              <a:rPr lang="en-US" sz="1700" b="1" dirty="0">
                <a:solidFill>
                  <a:srgbClr val="C93535"/>
                </a:solidFill>
                <a:latin typeface="Segoe UI" pitchFamily="34" charset="0"/>
                <a:ea typeface="Segoe UI" pitchFamily="34" charset="-122"/>
                <a:cs typeface="Segoe UI" pitchFamily="34" charset="-120"/>
              </a:rPr>
              <a:t>$18.6M</a:t>
            </a:r>
            <a:endParaRPr lang="en-US" sz="1700" dirty="0"/>
          </a:p>
        </p:txBody>
      </p:sp>
      <p:sp>
        <p:nvSpPr>
          <p:cNvPr id="30" name="Text 28"/>
          <p:cNvSpPr/>
          <p:nvPr/>
        </p:nvSpPr>
        <p:spPr>
          <a:xfrm>
            <a:off x="9692640" y="5230368"/>
            <a:ext cx="1828800" cy="274320"/>
          </a:xfrm>
          <a:prstGeom prst="rect">
            <a:avLst/>
          </a:prstGeom>
          <a:noFill/>
          <a:ln/>
        </p:spPr>
        <p:txBody>
          <a:bodyPr wrap="square" lIns="0" tIns="0" rIns="0" bIns="0" rtlCol="0" anchor="ctr"/>
          <a:lstStyle/>
          <a:p>
            <a:pPr marL="0" indent="0" algn="r">
              <a:buNone/>
            </a:pPr>
            <a:r>
              <a:rPr lang="en-US" sz="850" dirty="0">
                <a:solidFill>
                  <a:srgbClr val="8A8781"/>
                </a:solidFill>
                <a:latin typeface="Segoe UI" pitchFamily="34" charset="0"/>
                <a:ea typeface="Segoe UI" pitchFamily="34" charset="-122"/>
                <a:cs typeface="Segoe UI" pitchFamily="34" charset="-120"/>
              </a:rPr>
              <a:t>between the two paths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12</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Two more to fund, and one to decline</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Declining the fourth is worth as much as funding the others.</a:t>
            </a:r>
            <a:endParaRPr lang="en-US" sz="1250" dirty="0"/>
          </a:p>
        </p:txBody>
      </p:sp>
      <p:sp>
        <p:nvSpPr>
          <p:cNvPr id="7" name="Shape 5"/>
          <p:cNvSpPr/>
          <p:nvPr/>
        </p:nvSpPr>
        <p:spPr>
          <a:xfrm>
            <a:off x="548640" y="1737360"/>
            <a:ext cx="11091672" cy="1234440"/>
          </a:xfrm>
          <a:prstGeom prst="roundRect">
            <a:avLst>
              <a:gd name="adj" fmla="val 2222"/>
            </a:avLst>
          </a:prstGeom>
          <a:solidFill>
            <a:srgbClr val="FFFFFF"/>
          </a:solidFill>
          <a:ln w="9525">
            <a:solidFill>
              <a:srgbClr val="DFDDD6"/>
            </a:solidFill>
            <a:prstDash val="solid"/>
          </a:ln>
        </p:spPr>
        <p:txBody>
          <a:bodyPr/>
          <a:lstStyle/>
          <a:p>
            <a:endParaRPr lang="en-AU"/>
          </a:p>
        </p:txBody>
      </p:sp>
      <p:sp>
        <p:nvSpPr>
          <p:cNvPr id="8" name="Shape 6"/>
          <p:cNvSpPr/>
          <p:nvPr/>
        </p:nvSpPr>
        <p:spPr>
          <a:xfrm>
            <a:off x="548640" y="1737360"/>
            <a:ext cx="45720" cy="1234440"/>
          </a:xfrm>
          <a:prstGeom prst="rect">
            <a:avLst/>
          </a:prstGeom>
          <a:solidFill>
            <a:srgbClr val="2A78D6"/>
          </a:solidFill>
          <a:ln/>
        </p:spPr>
        <p:txBody>
          <a:bodyPr/>
          <a:lstStyle/>
          <a:p>
            <a:endParaRPr lang="en-AU"/>
          </a:p>
        </p:txBody>
      </p:sp>
      <p:sp>
        <p:nvSpPr>
          <p:cNvPr id="9" name="Text 7"/>
          <p:cNvSpPr/>
          <p:nvPr/>
        </p:nvSpPr>
        <p:spPr>
          <a:xfrm>
            <a:off x="777240" y="1883664"/>
            <a:ext cx="457200" cy="274320"/>
          </a:xfrm>
          <a:prstGeom prst="rect">
            <a:avLst/>
          </a:prstGeom>
          <a:noFill/>
          <a:ln/>
        </p:spPr>
        <p:txBody>
          <a:bodyPr wrap="square" lIns="0" tIns="0" rIns="0" bIns="0" rtlCol="0" anchor="ctr"/>
          <a:lstStyle/>
          <a:p>
            <a:pPr marL="0" indent="0">
              <a:buNone/>
            </a:pPr>
            <a:r>
              <a:rPr lang="en-US" sz="1100" b="1" dirty="0">
                <a:solidFill>
                  <a:srgbClr val="2A78D6"/>
                </a:solidFill>
                <a:latin typeface="Consolas" pitchFamily="34" charset="0"/>
                <a:ea typeface="Consolas" pitchFamily="34" charset="-122"/>
                <a:cs typeface="Consolas" pitchFamily="34" charset="-120"/>
              </a:rPr>
              <a:t>04</a:t>
            </a:r>
            <a:endParaRPr lang="en-US" sz="1100" dirty="0"/>
          </a:p>
        </p:txBody>
      </p:sp>
      <p:sp>
        <p:nvSpPr>
          <p:cNvPr id="10" name="Text 8"/>
          <p:cNvSpPr/>
          <p:nvPr/>
        </p:nvSpPr>
        <p:spPr>
          <a:xfrm>
            <a:off x="1325880" y="1856232"/>
            <a:ext cx="5486400" cy="310896"/>
          </a:xfrm>
          <a:prstGeom prst="rect">
            <a:avLst/>
          </a:prstGeom>
          <a:noFill/>
          <a:ln/>
        </p:spPr>
        <p:txBody>
          <a:bodyPr wrap="square" lIns="0" tIns="0" rIns="0" bIns="0" rtlCol="0" anchor="ctr"/>
          <a:lstStyle/>
          <a:p>
            <a:pPr marL="0" indent="0">
              <a:buNone/>
            </a:pPr>
            <a:r>
              <a:rPr lang="en-US" sz="1400" b="1" dirty="0">
                <a:solidFill>
                  <a:srgbClr val="12100E"/>
                </a:solidFill>
                <a:latin typeface="Segoe UI" pitchFamily="34" charset="0"/>
                <a:ea typeface="Segoe UI" pitchFamily="34" charset="-122"/>
                <a:cs typeface="Segoe UI" pitchFamily="34" charset="-120"/>
              </a:rPr>
              <a:t>Restate the business case at $76.7M</a:t>
            </a:r>
            <a:endParaRPr lang="en-US" sz="1400" dirty="0"/>
          </a:p>
        </p:txBody>
      </p:sp>
      <p:sp>
        <p:nvSpPr>
          <p:cNvPr id="11" name="Text 9"/>
          <p:cNvSpPr/>
          <p:nvPr/>
        </p:nvSpPr>
        <p:spPr>
          <a:xfrm>
            <a:off x="1325880" y="2212848"/>
            <a:ext cx="8412480" cy="640080"/>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Two components come in under Finance's estimate and one is four times over. Take the range as well as the point: disengagement moves between $10.9M and $165.3M depending on the threshold.</a:t>
            </a:r>
            <a:endParaRPr lang="en-US" sz="1100" dirty="0"/>
          </a:p>
        </p:txBody>
      </p:sp>
      <p:sp>
        <p:nvSpPr>
          <p:cNvPr id="12" name="Text 10"/>
          <p:cNvSpPr/>
          <p:nvPr/>
        </p:nvSpPr>
        <p:spPr>
          <a:xfrm>
            <a:off x="9875520" y="1883664"/>
            <a:ext cx="1645920" cy="457200"/>
          </a:xfrm>
          <a:prstGeom prst="rect">
            <a:avLst/>
          </a:prstGeom>
          <a:noFill/>
          <a:ln/>
        </p:spPr>
        <p:txBody>
          <a:bodyPr wrap="square" lIns="0" tIns="0" rIns="0" bIns="0" rtlCol="0" anchor="t"/>
          <a:lstStyle/>
          <a:p>
            <a:pPr marL="0" indent="0">
              <a:buNone/>
            </a:pPr>
            <a:r>
              <a:rPr lang="en-US" sz="1000" dirty="0">
                <a:solidFill>
                  <a:srgbClr val="8A8781"/>
                </a:solidFill>
                <a:latin typeface="Segoe UI" pitchFamily="34" charset="0"/>
                <a:ea typeface="Segoe UI" pitchFamily="34" charset="-122"/>
                <a:cs typeface="Segoe UI" pitchFamily="34" charset="-120"/>
              </a:rPr>
              <a:t>With the CFO, for FY2027 planning</a:t>
            </a:r>
            <a:endParaRPr lang="en-US" sz="1000" dirty="0"/>
          </a:p>
        </p:txBody>
      </p:sp>
      <p:sp>
        <p:nvSpPr>
          <p:cNvPr id="13" name="Shape 11"/>
          <p:cNvSpPr/>
          <p:nvPr/>
        </p:nvSpPr>
        <p:spPr>
          <a:xfrm>
            <a:off x="548640" y="3108960"/>
            <a:ext cx="11091672" cy="1234440"/>
          </a:xfrm>
          <a:prstGeom prst="roundRect">
            <a:avLst>
              <a:gd name="adj" fmla="val 2222"/>
            </a:avLst>
          </a:prstGeom>
          <a:solidFill>
            <a:srgbClr val="FFFFFF"/>
          </a:solidFill>
          <a:ln w="9525">
            <a:solidFill>
              <a:srgbClr val="DFDDD6"/>
            </a:solidFill>
            <a:prstDash val="solid"/>
          </a:ln>
        </p:spPr>
        <p:txBody>
          <a:bodyPr/>
          <a:lstStyle/>
          <a:p>
            <a:endParaRPr lang="en-AU"/>
          </a:p>
        </p:txBody>
      </p:sp>
      <p:sp>
        <p:nvSpPr>
          <p:cNvPr id="14" name="Shape 12"/>
          <p:cNvSpPr/>
          <p:nvPr/>
        </p:nvSpPr>
        <p:spPr>
          <a:xfrm>
            <a:off x="548640" y="3108960"/>
            <a:ext cx="45720" cy="1234440"/>
          </a:xfrm>
          <a:prstGeom prst="rect">
            <a:avLst/>
          </a:prstGeom>
          <a:solidFill>
            <a:srgbClr val="2A78D6"/>
          </a:solidFill>
          <a:ln/>
        </p:spPr>
        <p:txBody>
          <a:bodyPr/>
          <a:lstStyle/>
          <a:p>
            <a:endParaRPr lang="en-AU"/>
          </a:p>
        </p:txBody>
      </p:sp>
      <p:sp>
        <p:nvSpPr>
          <p:cNvPr id="15" name="Text 13"/>
          <p:cNvSpPr/>
          <p:nvPr/>
        </p:nvSpPr>
        <p:spPr>
          <a:xfrm>
            <a:off x="777240" y="3255264"/>
            <a:ext cx="457200" cy="274320"/>
          </a:xfrm>
          <a:prstGeom prst="rect">
            <a:avLst/>
          </a:prstGeom>
          <a:noFill/>
          <a:ln/>
        </p:spPr>
        <p:txBody>
          <a:bodyPr wrap="square" lIns="0" tIns="0" rIns="0" bIns="0" rtlCol="0" anchor="ctr"/>
          <a:lstStyle/>
          <a:p>
            <a:pPr marL="0" indent="0">
              <a:buNone/>
            </a:pPr>
            <a:r>
              <a:rPr lang="en-US" sz="1100" b="1" dirty="0">
                <a:solidFill>
                  <a:srgbClr val="2A78D6"/>
                </a:solidFill>
                <a:latin typeface="Consolas" pitchFamily="34" charset="0"/>
                <a:ea typeface="Consolas" pitchFamily="34" charset="-122"/>
                <a:cs typeface="Consolas" pitchFamily="34" charset="-120"/>
              </a:rPr>
              <a:t>05</a:t>
            </a:r>
            <a:endParaRPr lang="en-US" sz="1100" dirty="0"/>
          </a:p>
        </p:txBody>
      </p:sp>
      <p:sp>
        <p:nvSpPr>
          <p:cNvPr id="16" name="Text 14"/>
          <p:cNvSpPr/>
          <p:nvPr/>
        </p:nvSpPr>
        <p:spPr>
          <a:xfrm>
            <a:off x="1325880" y="3227832"/>
            <a:ext cx="5486400" cy="310896"/>
          </a:xfrm>
          <a:prstGeom prst="rect">
            <a:avLst/>
          </a:prstGeom>
          <a:noFill/>
          <a:ln/>
        </p:spPr>
        <p:txBody>
          <a:bodyPr wrap="square" lIns="0" tIns="0" rIns="0" bIns="0" rtlCol="0" anchor="ctr"/>
          <a:lstStyle/>
          <a:p>
            <a:pPr marL="0" indent="0">
              <a:buNone/>
            </a:pPr>
            <a:r>
              <a:rPr lang="en-US" sz="1400" b="1" dirty="0">
                <a:solidFill>
                  <a:srgbClr val="12100E"/>
                </a:solidFill>
                <a:latin typeface="Segoe UI" pitchFamily="34" charset="0"/>
                <a:ea typeface="Segoe UI" pitchFamily="34" charset="-122"/>
                <a:cs typeface="Segoe UI" pitchFamily="34" charset="-120"/>
              </a:rPr>
              <a:t>Fix three data defects</a:t>
            </a:r>
            <a:endParaRPr lang="en-US" sz="1400" dirty="0"/>
          </a:p>
        </p:txBody>
      </p:sp>
      <p:sp>
        <p:nvSpPr>
          <p:cNvPr id="17" name="Text 15"/>
          <p:cNvSpPr/>
          <p:nvPr/>
        </p:nvSpPr>
        <p:spPr>
          <a:xfrm>
            <a:off x="1325880" y="3584448"/>
            <a:ext cx="8412480" cy="640080"/>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The attrition log reconciles to only 60% of reported departures. Survey coverage is uneven across acquired entities. Tenure is calculated inconsistently.</a:t>
            </a:r>
            <a:endParaRPr lang="en-US" sz="1100" dirty="0"/>
          </a:p>
        </p:txBody>
      </p:sp>
      <p:sp>
        <p:nvSpPr>
          <p:cNvPr id="18" name="Text 16"/>
          <p:cNvSpPr/>
          <p:nvPr/>
        </p:nvSpPr>
        <p:spPr>
          <a:xfrm>
            <a:off x="9875520" y="3255264"/>
            <a:ext cx="1645920" cy="457200"/>
          </a:xfrm>
          <a:prstGeom prst="rect">
            <a:avLst/>
          </a:prstGeom>
          <a:noFill/>
          <a:ln/>
        </p:spPr>
        <p:txBody>
          <a:bodyPr wrap="square" lIns="0" tIns="0" rIns="0" bIns="0" rtlCol="0" anchor="t"/>
          <a:lstStyle/>
          <a:p>
            <a:pPr marL="0" indent="0">
              <a:buNone/>
            </a:pPr>
            <a:r>
              <a:rPr lang="en-US" sz="1000" dirty="0">
                <a:solidFill>
                  <a:srgbClr val="8A8781"/>
                </a:solidFill>
                <a:latin typeface="Segoe UI" pitchFamily="34" charset="0"/>
                <a:ea typeface="Segoe UI" pitchFamily="34" charset="-122"/>
                <a:cs typeface="Segoe UI" pitchFamily="34" charset="-120"/>
              </a:rPr>
              <a:t>Prerequisite for 01 and 04</a:t>
            </a:r>
            <a:endParaRPr lang="en-US" sz="1000" dirty="0"/>
          </a:p>
        </p:txBody>
      </p:sp>
      <p:sp>
        <p:nvSpPr>
          <p:cNvPr id="19" name="Shape 17"/>
          <p:cNvSpPr/>
          <p:nvPr/>
        </p:nvSpPr>
        <p:spPr>
          <a:xfrm>
            <a:off x="548640" y="4617720"/>
            <a:ext cx="11091672" cy="1371600"/>
          </a:xfrm>
          <a:prstGeom prst="roundRect">
            <a:avLst>
              <a:gd name="adj" fmla="val 2000"/>
            </a:avLst>
          </a:prstGeom>
          <a:solidFill>
            <a:srgbClr val="F5F4F0"/>
          </a:solidFill>
          <a:ln w="12700">
            <a:solidFill>
              <a:srgbClr val="C93535"/>
            </a:solidFill>
            <a:prstDash val="solid"/>
          </a:ln>
        </p:spPr>
        <p:txBody>
          <a:bodyPr/>
          <a:lstStyle/>
          <a:p>
            <a:endParaRPr lang="en-AU"/>
          </a:p>
        </p:txBody>
      </p:sp>
      <p:sp>
        <p:nvSpPr>
          <p:cNvPr id="20" name="Shape 18"/>
          <p:cNvSpPr/>
          <p:nvPr/>
        </p:nvSpPr>
        <p:spPr>
          <a:xfrm>
            <a:off x="548640" y="4617720"/>
            <a:ext cx="45720" cy="1371600"/>
          </a:xfrm>
          <a:prstGeom prst="rect">
            <a:avLst/>
          </a:prstGeom>
          <a:solidFill>
            <a:srgbClr val="C93535"/>
          </a:solidFill>
          <a:ln/>
        </p:spPr>
        <p:txBody>
          <a:bodyPr/>
          <a:lstStyle/>
          <a:p>
            <a:endParaRPr lang="en-AU"/>
          </a:p>
        </p:txBody>
      </p:sp>
      <p:sp>
        <p:nvSpPr>
          <p:cNvPr id="21" name="Text 19"/>
          <p:cNvSpPr/>
          <p:nvPr/>
        </p:nvSpPr>
        <p:spPr>
          <a:xfrm>
            <a:off x="777240" y="4754880"/>
            <a:ext cx="1463040" cy="274320"/>
          </a:xfrm>
          <a:prstGeom prst="rect">
            <a:avLst/>
          </a:prstGeom>
          <a:noFill/>
          <a:ln/>
        </p:spPr>
        <p:txBody>
          <a:bodyPr wrap="square" lIns="0" tIns="0" rIns="0" bIns="0" rtlCol="0" anchor="ctr"/>
          <a:lstStyle/>
          <a:p>
            <a:pPr marL="0" indent="0">
              <a:buNone/>
            </a:pPr>
            <a:r>
              <a:rPr lang="en-US" sz="900" b="1" kern="0" spc="100" dirty="0">
                <a:solidFill>
                  <a:srgbClr val="A82525"/>
                </a:solidFill>
                <a:latin typeface="Consolas" pitchFamily="34" charset="0"/>
                <a:ea typeface="Consolas" pitchFamily="34" charset="-122"/>
                <a:cs typeface="Consolas" pitchFamily="34" charset="-120"/>
              </a:rPr>
              <a:t>DO NOT FUND</a:t>
            </a:r>
            <a:endParaRPr lang="en-US" sz="900" dirty="0"/>
          </a:p>
        </p:txBody>
      </p:sp>
      <p:sp>
        <p:nvSpPr>
          <p:cNvPr id="22" name="Text 20"/>
          <p:cNvSpPr/>
          <p:nvPr/>
        </p:nvSpPr>
        <p:spPr>
          <a:xfrm>
            <a:off x="2286000" y="4727448"/>
            <a:ext cx="5943600" cy="310896"/>
          </a:xfrm>
          <a:prstGeom prst="rect">
            <a:avLst/>
          </a:prstGeom>
          <a:noFill/>
          <a:ln/>
        </p:spPr>
        <p:txBody>
          <a:bodyPr wrap="square" lIns="0" tIns="0" rIns="0" bIns="0" rtlCol="0" anchor="ctr"/>
          <a:lstStyle/>
          <a:p>
            <a:pPr marL="0" indent="0">
              <a:buNone/>
            </a:pPr>
            <a:r>
              <a:rPr lang="en-US" sz="1400" b="1" dirty="0">
                <a:solidFill>
                  <a:srgbClr val="12100E"/>
                </a:solidFill>
                <a:latin typeface="Segoe UI" pitchFamily="34" charset="0"/>
                <a:ea typeface="Segoe UI" pitchFamily="34" charset="-122"/>
                <a:cs typeface="Segoe UI" pitchFamily="34" charset="-120"/>
              </a:rPr>
              <a:t>A retention programme aimed at the new regulation</a:t>
            </a:r>
            <a:endParaRPr lang="en-US" sz="1400" dirty="0"/>
          </a:p>
        </p:txBody>
      </p:sp>
      <p:sp>
        <p:nvSpPr>
          <p:cNvPr id="23" name="Text 21"/>
          <p:cNvSpPr/>
          <p:nvPr/>
        </p:nvSpPr>
        <p:spPr>
          <a:xfrm>
            <a:off x="2286000" y="5102352"/>
            <a:ext cx="7680960" cy="731520"/>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The effect is not identified in either direction. That is not the same as saying there is none: 476 regulated employees producing 39 exits cannot resolve an effect of any plausible size. Revisit when a second year of post-commencement data exists.</a:t>
            </a:r>
            <a:endParaRPr lang="en-US" sz="1100" dirty="0"/>
          </a:p>
        </p:txBody>
      </p:sp>
      <p:sp>
        <p:nvSpPr>
          <p:cNvPr id="24" name="Text 22"/>
          <p:cNvSpPr/>
          <p:nvPr/>
        </p:nvSpPr>
        <p:spPr>
          <a:xfrm>
            <a:off x="10149840" y="5029200"/>
            <a:ext cx="1371600" cy="457200"/>
          </a:xfrm>
          <a:prstGeom prst="rect">
            <a:avLst/>
          </a:prstGeom>
          <a:noFill/>
          <a:ln/>
        </p:spPr>
        <p:txBody>
          <a:bodyPr wrap="square" lIns="0" tIns="0" rIns="0" bIns="0" rtlCol="0" anchor="ctr"/>
          <a:lstStyle/>
          <a:p>
            <a:pPr marL="0" indent="0" algn="r">
              <a:buNone/>
            </a:pPr>
            <a:r>
              <a:rPr lang="en-US" sz="2400" b="1" dirty="0">
                <a:solidFill>
                  <a:srgbClr val="A82525"/>
                </a:solidFill>
                <a:latin typeface="Segoe UI" pitchFamily="34" charset="0"/>
                <a:ea typeface="Segoe UI" pitchFamily="34" charset="-122"/>
                <a:cs typeface="Segoe UI" pitchFamily="34" charset="-120"/>
              </a:rPr>
              <a:t>$0</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13</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What happens if NovaCorp acts</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Exposure addressed, what it costs to try, and when the data will tell you.</a:t>
            </a:r>
            <a:endParaRPr lang="en-US" sz="1250" dirty="0"/>
          </a:p>
        </p:txBody>
      </p:sp>
      <p:sp>
        <p:nvSpPr>
          <p:cNvPr id="7" name="Text 5"/>
          <p:cNvSpPr/>
          <p:nvPr/>
        </p:nvSpPr>
        <p:spPr>
          <a:xfrm>
            <a:off x="548640" y="1737360"/>
            <a:ext cx="3017520" cy="274320"/>
          </a:xfrm>
          <a:prstGeom prst="rect">
            <a:avLst/>
          </a:prstGeom>
          <a:noFill/>
          <a:ln/>
        </p:spPr>
        <p:txBody>
          <a:bodyPr wrap="square" lIns="0" tIns="0" rIns="0" bIns="0" rtlCol="0" anchor="ctr"/>
          <a:lstStyle/>
          <a:p>
            <a:pPr marL="0" indent="0">
              <a:buNone/>
            </a:pPr>
            <a:r>
              <a:rPr lang="en-US" sz="900" b="1" kern="0" spc="100" dirty="0">
                <a:solidFill>
                  <a:srgbClr val="8A8781"/>
                </a:solidFill>
                <a:latin typeface="Consolas" pitchFamily="34" charset="0"/>
                <a:ea typeface="Consolas" pitchFamily="34" charset="-122"/>
                <a:cs typeface="Consolas" pitchFamily="34" charset="-120"/>
              </a:rPr>
              <a:t>INTERVENTION</a:t>
            </a:r>
            <a:endParaRPr lang="en-US" sz="900" dirty="0"/>
          </a:p>
        </p:txBody>
      </p:sp>
      <p:sp>
        <p:nvSpPr>
          <p:cNvPr id="8" name="Text 6"/>
          <p:cNvSpPr/>
          <p:nvPr/>
        </p:nvSpPr>
        <p:spPr>
          <a:xfrm>
            <a:off x="3657600" y="1737360"/>
            <a:ext cx="2011680" cy="274320"/>
          </a:xfrm>
          <a:prstGeom prst="rect">
            <a:avLst/>
          </a:prstGeom>
          <a:noFill/>
          <a:ln/>
        </p:spPr>
        <p:txBody>
          <a:bodyPr wrap="square" lIns="0" tIns="0" rIns="0" bIns="0" rtlCol="0" anchor="ctr"/>
          <a:lstStyle/>
          <a:p>
            <a:pPr marL="0" indent="0">
              <a:buNone/>
            </a:pPr>
            <a:r>
              <a:rPr lang="en-US" sz="900" b="1" kern="0" spc="100" dirty="0">
                <a:solidFill>
                  <a:srgbClr val="8A8781"/>
                </a:solidFill>
                <a:latin typeface="Consolas" pitchFamily="34" charset="0"/>
                <a:ea typeface="Consolas" pitchFamily="34" charset="-122"/>
                <a:cs typeface="Consolas" pitchFamily="34" charset="-120"/>
              </a:rPr>
              <a:t>EXPOSURE</a:t>
            </a:r>
            <a:endParaRPr lang="en-US" sz="900" dirty="0"/>
          </a:p>
        </p:txBody>
      </p:sp>
      <p:sp>
        <p:nvSpPr>
          <p:cNvPr id="9" name="Text 7"/>
          <p:cNvSpPr/>
          <p:nvPr/>
        </p:nvSpPr>
        <p:spPr>
          <a:xfrm>
            <a:off x="5760720" y="1737360"/>
            <a:ext cx="2103120" cy="274320"/>
          </a:xfrm>
          <a:prstGeom prst="rect">
            <a:avLst/>
          </a:prstGeom>
          <a:noFill/>
          <a:ln/>
        </p:spPr>
        <p:txBody>
          <a:bodyPr wrap="square" lIns="0" tIns="0" rIns="0" bIns="0" rtlCol="0" anchor="ctr"/>
          <a:lstStyle/>
          <a:p>
            <a:pPr marL="0" indent="0">
              <a:buNone/>
            </a:pPr>
            <a:r>
              <a:rPr lang="en-US" sz="900" b="1" kern="0" spc="100" dirty="0">
                <a:solidFill>
                  <a:srgbClr val="8A8781"/>
                </a:solidFill>
                <a:latin typeface="Consolas" pitchFamily="34" charset="0"/>
                <a:ea typeface="Consolas" pitchFamily="34" charset="-122"/>
                <a:cs typeface="Consolas" pitchFamily="34" charset="-120"/>
              </a:rPr>
              <a:t>COST TO TRY</a:t>
            </a:r>
            <a:endParaRPr lang="en-US" sz="900" dirty="0"/>
          </a:p>
        </p:txBody>
      </p:sp>
      <p:sp>
        <p:nvSpPr>
          <p:cNvPr id="10" name="Text 8"/>
          <p:cNvSpPr/>
          <p:nvPr/>
        </p:nvSpPr>
        <p:spPr>
          <a:xfrm>
            <a:off x="7955280" y="1737360"/>
            <a:ext cx="1920240" cy="274320"/>
          </a:xfrm>
          <a:prstGeom prst="rect">
            <a:avLst/>
          </a:prstGeom>
          <a:noFill/>
          <a:ln/>
        </p:spPr>
        <p:txBody>
          <a:bodyPr wrap="square" lIns="0" tIns="0" rIns="0" bIns="0" rtlCol="0" anchor="ctr"/>
          <a:lstStyle/>
          <a:p>
            <a:pPr marL="0" indent="0">
              <a:buNone/>
            </a:pPr>
            <a:r>
              <a:rPr lang="en-US" sz="900" b="1" kern="0" spc="100" dirty="0">
                <a:solidFill>
                  <a:srgbClr val="8A8781"/>
                </a:solidFill>
                <a:latin typeface="Consolas" pitchFamily="34" charset="0"/>
                <a:ea typeface="Consolas" pitchFamily="34" charset="-122"/>
                <a:cs typeface="Consolas" pitchFamily="34" charset="-120"/>
              </a:rPr>
              <a:t>WHEN YOU KNOW</a:t>
            </a:r>
            <a:endParaRPr lang="en-US" sz="900" dirty="0"/>
          </a:p>
        </p:txBody>
      </p:sp>
      <p:sp>
        <p:nvSpPr>
          <p:cNvPr id="11" name="Text 9"/>
          <p:cNvSpPr/>
          <p:nvPr/>
        </p:nvSpPr>
        <p:spPr>
          <a:xfrm>
            <a:off x="9966960" y="1737360"/>
            <a:ext cx="1673352" cy="274320"/>
          </a:xfrm>
          <a:prstGeom prst="rect">
            <a:avLst/>
          </a:prstGeom>
          <a:noFill/>
          <a:ln/>
        </p:spPr>
        <p:txBody>
          <a:bodyPr wrap="square" lIns="0" tIns="0" rIns="0" bIns="0" rtlCol="0" anchor="ctr"/>
          <a:lstStyle/>
          <a:p>
            <a:pPr marL="0" indent="0">
              <a:buNone/>
            </a:pPr>
            <a:r>
              <a:rPr lang="en-US" sz="900" b="1" kern="0" spc="100" dirty="0">
                <a:solidFill>
                  <a:srgbClr val="8A8781"/>
                </a:solidFill>
                <a:latin typeface="Consolas" pitchFamily="34" charset="0"/>
                <a:ea typeface="Consolas" pitchFamily="34" charset="-122"/>
                <a:cs typeface="Consolas" pitchFamily="34" charset="-120"/>
              </a:rPr>
              <a:t>EVIDENCE</a:t>
            </a:r>
            <a:endParaRPr lang="en-US" sz="900" dirty="0"/>
          </a:p>
        </p:txBody>
      </p:sp>
      <p:sp>
        <p:nvSpPr>
          <p:cNvPr id="12" name="Shape 10"/>
          <p:cNvSpPr/>
          <p:nvPr/>
        </p:nvSpPr>
        <p:spPr>
          <a:xfrm>
            <a:off x="548640" y="2029968"/>
            <a:ext cx="11091672" cy="10973"/>
          </a:xfrm>
          <a:prstGeom prst="rect">
            <a:avLst/>
          </a:prstGeom>
          <a:solidFill>
            <a:srgbClr val="DFDDD6"/>
          </a:solidFill>
          <a:ln/>
        </p:spPr>
        <p:txBody>
          <a:bodyPr/>
          <a:lstStyle/>
          <a:p>
            <a:endParaRPr lang="en-AU"/>
          </a:p>
        </p:txBody>
      </p:sp>
      <p:sp>
        <p:nvSpPr>
          <p:cNvPr id="13" name="Shape 11"/>
          <p:cNvSpPr/>
          <p:nvPr/>
        </p:nvSpPr>
        <p:spPr>
          <a:xfrm>
            <a:off x="548640" y="2075688"/>
            <a:ext cx="11091672" cy="512064"/>
          </a:xfrm>
          <a:prstGeom prst="rect">
            <a:avLst/>
          </a:prstGeom>
          <a:solidFill>
            <a:srgbClr val="F5F4F0"/>
          </a:solidFill>
          <a:ln/>
        </p:spPr>
        <p:txBody>
          <a:bodyPr/>
          <a:lstStyle/>
          <a:p>
            <a:endParaRPr lang="en-AU"/>
          </a:p>
        </p:txBody>
      </p:sp>
      <p:sp>
        <p:nvSpPr>
          <p:cNvPr id="14" name="Text 12"/>
          <p:cNvSpPr/>
          <p:nvPr/>
        </p:nvSpPr>
        <p:spPr>
          <a:xfrm>
            <a:off x="548640" y="2148840"/>
            <a:ext cx="3017520" cy="384048"/>
          </a:xfrm>
          <a:prstGeom prst="rect">
            <a:avLst/>
          </a:prstGeom>
          <a:noFill/>
          <a:ln/>
        </p:spPr>
        <p:txBody>
          <a:bodyPr wrap="square" lIns="0" tIns="0" rIns="0" bIns="0" rtlCol="0" anchor="t"/>
          <a:lstStyle/>
          <a:p>
            <a:pPr marL="0" indent="0">
              <a:buNone/>
            </a:pPr>
            <a:r>
              <a:rPr lang="en-US" sz="1100" b="1" dirty="0">
                <a:solidFill>
                  <a:srgbClr val="12100E"/>
                </a:solidFill>
                <a:latin typeface="Segoe UI" pitchFamily="34" charset="0"/>
                <a:ea typeface="Segoe UI" pitchFamily="34" charset="-122"/>
                <a:cs typeface="Segoe UI" pitchFamily="34" charset="-120"/>
              </a:rPr>
              <a:t>Non-response alert</a:t>
            </a:r>
            <a:endParaRPr lang="en-US" sz="1100" dirty="0"/>
          </a:p>
        </p:txBody>
      </p:sp>
      <p:sp>
        <p:nvSpPr>
          <p:cNvPr id="15" name="Text 13"/>
          <p:cNvSpPr/>
          <p:nvPr/>
        </p:nvSpPr>
        <p:spPr>
          <a:xfrm>
            <a:off x="3657600" y="2148840"/>
            <a:ext cx="2011680" cy="384048"/>
          </a:xfrm>
          <a:prstGeom prst="rect">
            <a:avLst/>
          </a:prstGeom>
          <a:noFill/>
          <a:ln/>
        </p:spPr>
        <p:txBody>
          <a:bodyPr wrap="square" lIns="0" tIns="0" rIns="0" bIns="0" rtlCol="0" anchor="t"/>
          <a:lstStyle/>
          <a:p>
            <a:pPr marL="0" indent="0">
              <a:buNone/>
            </a:pPr>
            <a:r>
              <a:rPr lang="en-US" sz="1100" b="1" dirty="0">
                <a:solidFill>
                  <a:srgbClr val="A8460F"/>
                </a:solidFill>
                <a:latin typeface="Segoe UI" pitchFamily="34" charset="0"/>
                <a:ea typeface="Segoe UI" pitchFamily="34" charset="-122"/>
                <a:cs typeface="Segoe UI" pitchFamily="34" charset="-120"/>
              </a:rPr>
              <a:t>$1.8M</a:t>
            </a:r>
            <a:endParaRPr lang="en-US" sz="1100" dirty="0"/>
          </a:p>
        </p:txBody>
      </p:sp>
      <p:sp>
        <p:nvSpPr>
          <p:cNvPr id="16" name="Text 14"/>
          <p:cNvSpPr/>
          <p:nvPr/>
        </p:nvSpPr>
        <p:spPr>
          <a:xfrm>
            <a:off x="5760720" y="2148840"/>
            <a:ext cx="210312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Under $50K</a:t>
            </a:r>
            <a:endParaRPr lang="en-US" sz="1100" dirty="0"/>
          </a:p>
        </p:txBody>
      </p:sp>
      <p:sp>
        <p:nvSpPr>
          <p:cNvPr id="17" name="Text 15"/>
          <p:cNvSpPr/>
          <p:nvPr/>
        </p:nvSpPr>
        <p:spPr>
          <a:xfrm>
            <a:off x="7955280" y="2148840"/>
            <a:ext cx="192024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Next survey wave</a:t>
            </a:r>
            <a:endParaRPr lang="en-US" sz="1100" dirty="0"/>
          </a:p>
        </p:txBody>
      </p:sp>
      <p:sp>
        <p:nvSpPr>
          <p:cNvPr id="18" name="Text 16"/>
          <p:cNvSpPr/>
          <p:nvPr/>
        </p:nvSpPr>
        <p:spPr>
          <a:xfrm>
            <a:off x="9966960" y="2148840"/>
            <a:ext cx="1673352"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Identified</a:t>
            </a:r>
            <a:endParaRPr lang="en-US" sz="1100" dirty="0"/>
          </a:p>
        </p:txBody>
      </p:sp>
      <p:sp>
        <p:nvSpPr>
          <p:cNvPr id="19" name="Text 17"/>
          <p:cNvSpPr/>
          <p:nvPr/>
        </p:nvSpPr>
        <p:spPr>
          <a:xfrm>
            <a:off x="548640" y="2679192"/>
            <a:ext cx="3017520" cy="384048"/>
          </a:xfrm>
          <a:prstGeom prst="rect">
            <a:avLst/>
          </a:prstGeom>
          <a:noFill/>
          <a:ln/>
        </p:spPr>
        <p:txBody>
          <a:bodyPr wrap="square" lIns="0" tIns="0" rIns="0" bIns="0" rtlCol="0" anchor="t"/>
          <a:lstStyle/>
          <a:p>
            <a:pPr marL="0" indent="0">
              <a:buNone/>
            </a:pPr>
            <a:r>
              <a:rPr lang="en-US" sz="1100" b="1" dirty="0">
                <a:solidFill>
                  <a:srgbClr val="12100E"/>
                </a:solidFill>
                <a:latin typeface="Segoe UI" pitchFamily="34" charset="0"/>
                <a:ea typeface="Segoe UI" pitchFamily="34" charset="-122"/>
                <a:cs typeface="Segoe UI" pitchFamily="34" charset="-120"/>
              </a:rPr>
              <a:t>Regrettable definition</a:t>
            </a:r>
            <a:endParaRPr lang="en-US" sz="1100" dirty="0"/>
          </a:p>
        </p:txBody>
      </p:sp>
      <p:sp>
        <p:nvSpPr>
          <p:cNvPr id="20" name="Text 18"/>
          <p:cNvSpPr/>
          <p:nvPr/>
        </p:nvSpPr>
        <p:spPr>
          <a:xfrm>
            <a:off x="3657600" y="2679192"/>
            <a:ext cx="2011680" cy="384048"/>
          </a:xfrm>
          <a:prstGeom prst="rect">
            <a:avLst/>
          </a:prstGeom>
          <a:noFill/>
          <a:ln/>
        </p:spPr>
        <p:txBody>
          <a:bodyPr wrap="square" lIns="0" tIns="0" rIns="0" bIns="0" rtlCol="0" anchor="t"/>
          <a:lstStyle/>
          <a:p>
            <a:pPr marL="0" indent="0">
              <a:buNone/>
            </a:pPr>
            <a:r>
              <a:rPr lang="en-US" sz="1100" b="1" dirty="0">
                <a:solidFill>
                  <a:srgbClr val="A8460F"/>
                </a:solidFill>
                <a:latin typeface="Segoe UI" pitchFamily="34" charset="0"/>
                <a:ea typeface="Segoe UI" pitchFamily="34" charset="-122"/>
                <a:cs typeface="Segoe UI" pitchFamily="34" charset="-120"/>
              </a:rPr>
              <a:t>$64.5M</a:t>
            </a:r>
            <a:endParaRPr lang="en-US" sz="1100" dirty="0"/>
          </a:p>
        </p:txBody>
      </p:sp>
      <p:sp>
        <p:nvSpPr>
          <p:cNvPr id="21" name="Text 19"/>
          <p:cNvSpPr/>
          <p:nvPr/>
        </p:nvSpPr>
        <p:spPr>
          <a:xfrm>
            <a:off x="5760720" y="2679192"/>
            <a:ext cx="210312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Nil, a definition change</a:t>
            </a:r>
            <a:endParaRPr lang="en-US" sz="1100" dirty="0"/>
          </a:p>
        </p:txBody>
      </p:sp>
      <p:sp>
        <p:nvSpPr>
          <p:cNvPr id="22" name="Text 20"/>
          <p:cNvSpPr/>
          <p:nvPr/>
        </p:nvSpPr>
        <p:spPr>
          <a:xfrm>
            <a:off x="7955280" y="2679192"/>
            <a:ext cx="192024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Next exit cycle</a:t>
            </a:r>
            <a:endParaRPr lang="en-US" sz="1100" dirty="0"/>
          </a:p>
        </p:txBody>
      </p:sp>
      <p:sp>
        <p:nvSpPr>
          <p:cNvPr id="23" name="Text 21"/>
          <p:cNvSpPr/>
          <p:nvPr/>
        </p:nvSpPr>
        <p:spPr>
          <a:xfrm>
            <a:off x="9966960" y="2679192"/>
            <a:ext cx="1673352"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Directly observed</a:t>
            </a:r>
            <a:endParaRPr lang="en-US" sz="1100" dirty="0"/>
          </a:p>
        </p:txBody>
      </p:sp>
      <p:sp>
        <p:nvSpPr>
          <p:cNvPr id="24" name="Shape 22"/>
          <p:cNvSpPr/>
          <p:nvPr/>
        </p:nvSpPr>
        <p:spPr>
          <a:xfrm>
            <a:off x="548640" y="3136392"/>
            <a:ext cx="11091672" cy="512064"/>
          </a:xfrm>
          <a:prstGeom prst="rect">
            <a:avLst/>
          </a:prstGeom>
          <a:solidFill>
            <a:srgbClr val="F5F4F0"/>
          </a:solidFill>
          <a:ln/>
        </p:spPr>
        <p:txBody>
          <a:bodyPr/>
          <a:lstStyle/>
          <a:p>
            <a:endParaRPr lang="en-AU"/>
          </a:p>
        </p:txBody>
      </p:sp>
      <p:sp>
        <p:nvSpPr>
          <p:cNvPr id="25" name="Text 23"/>
          <p:cNvSpPr/>
          <p:nvPr/>
        </p:nvSpPr>
        <p:spPr>
          <a:xfrm>
            <a:off x="548640" y="3209544"/>
            <a:ext cx="3017520" cy="384048"/>
          </a:xfrm>
          <a:prstGeom prst="rect">
            <a:avLst/>
          </a:prstGeom>
          <a:noFill/>
          <a:ln/>
        </p:spPr>
        <p:txBody>
          <a:bodyPr wrap="square" lIns="0" tIns="0" rIns="0" bIns="0" rtlCol="0" anchor="t"/>
          <a:lstStyle/>
          <a:p>
            <a:pPr marL="0" indent="0">
              <a:buNone/>
            </a:pPr>
            <a:r>
              <a:rPr lang="en-US" sz="1100" b="1" dirty="0">
                <a:solidFill>
                  <a:srgbClr val="12100E"/>
                </a:solidFill>
                <a:latin typeface="Segoe UI" pitchFamily="34" charset="0"/>
                <a:ea typeface="Segoe UI" pitchFamily="34" charset="-122"/>
                <a:cs typeface="Segoe UI" pitchFamily="34" charset="-120"/>
              </a:rPr>
              <a:t>Entity_C review</a:t>
            </a:r>
            <a:endParaRPr lang="en-US" sz="1100" dirty="0"/>
          </a:p>
        </p:txBody>
      </p:sp>
      <p:sp>
        <p:nvSpPr>
          <p:cNvPr id="26" name="Text 24"/>
          <p:cNvSpPr/>
          <p:nvPr/>
        </p:nvSpPr>
        <p:spPr>
          <a:xfrm>
            <a:off x="3657600" y="3209544"/>
            <a:ext cx="2011680" cy="384048"/>
          </a:xfrm>
          <a:prstGeom prst="rect">
            <a:avLst/>
          </a:prstGeom>
          <a:noFill/>
          <a:ln/>
        </p:spPr>
        <p:txBody>
          <a:bodyPr wrap="square" lIns="0" tIns="0" rIns="0" bIns="0" rtlCol="0" anchor="t"/>
          <a:lstStyle/>
          <a:p>
            <a:pPr marL="0" indent="0">
              <a:buNone/>
            </a:pPr>
            <a:r>
              <a:rPr lang="en-US" sz="1100" b="1" dirty="0">
                <a:solidFill>
                  <a:srgbClr val="A8460F"/>
                </a:solidFill>
                <a:latin typeface="Segoe UI" pitchFamily="34" charset="0"/>
                <a:ea typeface="Segoe UI" pitchFamily="34" charset="-122"/>
                <a:cs typeface="Segoe UI" pitchFamily="34" charset="-120"/>
              </a:rPr>
              <a:t>$18.6M</a:t>
            </a:r>
            <a:endParaRPr lang="en-US" sz="1100" dirty="0"/>
          </a:p>
        </p:txBody>
      </p:sp>
      <p:sp>
        <p:nvSpPr>
          <p:cNvPr id="27" name="Text 25"/>
          <p:cNvSpPr/>
          <p:nvPr/>
        </p:nvSpPr>
        <p:spPr>
          <a:xfrm>
            <a:off x="5760720" y="3209544"/>
            <a:ext cx="210312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Integration team time</a:t>
            </a:r>
            <a:endParaRPr lang="en-US" sz="1100" dirty="0"/>
          </a:p>
        </p:txBody>
      </p:sp>
      <p:sp>
        <p:nvSpPr>
          <p:cNvPr id="28" name="Text 26"/>
          <p:cNvSpPr/>
          <p:nvPr/>
        </p:nvSpPr>
        <p:spPr>
          <a:xfrm>
            <a:off x="7955280" y="3209544"/>
            <a:ext cx="192024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Four months</a:t>
            </a:r>
            <a:endParaRPr lang="en-US" sz="1100" dirty="0"/>
          </a:p>
        </p:txBody>
      </p:sp>
      <p:sp>
        <p:nvSpPr>
          <p:cNvPr id="29" name="Text 27"/>
          <p:cNvSpPr/>
          <p:nvPr/>
        </p:nvSpPr>
        <p:spPr>
          <a:xfrm>
            <a:off x="9966960" y="3209544"/>
            <a:ext cx="1673352"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Associational</a:t>
            </a:r>
            <a:endParaRPr lang="en-US" sz="1100" dirty="0"/>
          </a:p>
        </p:txBody>
      </p:sp>
      <p:sp>
        <p:nvSpPr>
          <p:cNvPr id="30" name="Text 28"/>
          <p:cNvSpPr/>
          <p:nvPr/>
        </p:nvSpPr>
        <p:spPr>
          <a:xfrm>
            <a:off x="548640" y="3739896"/>
            <a:ext cx="3017520" cy="384048"/>
          </a:xfrm>
          <a:prstGeom prst="rect">
            <a:avLst/>
          </a:prstGeom>
          <a:noFill/>
          <a:ln/>
        </p:spPr>
        <p:txBody>
          <a:bodyPr wrap="square" lIns="0" tIns="0" rIns="0" bIns="0" rtlCol="0" anchor="t"/>
          <a:lstStyle/>
          <a:p>
            <a:pPr marL="0" indent="0">
              <a:buNone/>
            </a:pPr>
            <a:r>
              <a:rPr lang="en-US" sz="1100" b="1" dirty="0">
                <a:solidFill>
                  <a:srgbClr val="12100E"/>
                </a:solidFill>
                <a:latin typeface="Segoe UI" pitchFamily="34" charset="0"/>
                <a:ea typeface="Segoe UI" pitchFamily="34" charset="-122"/>
                <a:cs typeface="Segoe UI" pitchFamily="34" charset="-120"/>
              </a:rPr>
              <a:t>Manager diagnostic</a:t>
            </a:r>
            <a:endParaRPr lang="en-US" sz="1100" dirty="0"/>
          </a:p>
        </p:txBody>
      </p:sp>
      <p:sp>
        <p:nvSpPr>
          <p:cNvPr id="31" name="Text 29"/>
          <p:cNvSpPr/>
          <p:nvPr/>
        </p:nvSpPr>
        <p:spPr>
          <a:xfrm>
            <a:off x="3657600" y="3739896"/>
            <a:ext cx="2011680" cy="384048"/>
          </a:xfrm>
          <a:prstGeom prst="rect">
            <a:avLst/>
          </a:prstGeom>
          <a:noFill/>
          <a:ln/>
        </p:spPr>
        <p:txBody>
          <a:bodyPr wrap="square" lIns="0" tIns="0" rIns="0" bIns="0" rtlCol="0" anchor="t"/>
          <a:lstStyle/>
          <a:p>
            <a:pPr marL="0" indent="0">
              <a:buNone/>
            </a:pPr>
            <a:r>
              <a:rPr lang="en-US" sz="1100" b="1" dirty="0">
                <a:solidFill>
                  <a:srgbClr val="A8460F"/>
                </a:solidFill>
                <a:latin typeface="Segoe UI" pitchFamily="34" charset="0"/>
                <a:ea typeface="Segoe UI" pitchFamily="34" charset="-122"/>
                <a:cs typeface="Segoe UI" pitchFamily="34" charset="-120"/>
              </a:rPr>
              <a:t>$61.8M</a:t>
            </a:r>
            <a:endParaRPr lang="en-US" sz="1100" dirty="0"/>
          </a:p>
        </p:txBody>
      </p:sp>
      <p:sp>
        <p:nvSpPr>
          <p:cNvPr id="32" name="Text 30"/>
          <p:cNvSpPr/>
          <p:nvPr/>
        </p:nvSpPr>
        <p:spPr>
          <a:xfrm>
            <a:off x="5760720" y="3739896"/>
            <a:ext cx="210312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Programme cost, to scope</a:t>
            </a:r>
            <a:endParaRPr lang="en-US" sz="1100" dirty="0"/>
          </a:p>
        </p:txBody>
      </p:sp>
      <p:sp>
        <p:nvSpPr>
          <p:cNvPr id="33" name="Text 31"/>
          <p:cNvSpPr/>
          <p:nvPr/>
        </p:nvSpPr>
        <p:spPr>
          <a:xfrm>
            <a:off x="7955280" y="3739896"/>
            <a:ext cx="192024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Next survey wave</a:t>
            </a:r>
            <a:endParaRPr lang="en-US" sz="1100" dirty="0"/>
          </a:p>
        </p:txBody>
      </p:sp>
      <p:sp>
        <p:nvSpPr>
          <p:cNvPr id="34" name="Text 32"/>
          <p:cNvSpPr/>
          <p:nvPr/>
        </p:nvSpPr>
        <p:spPr>
          <a:xfrm>
            <a:off x="9966960" y="3739896"/>
            <a:ext cx="1673352"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Identified</a:t>
            </a:r>
            <a:endParaRPr lang="en-US" sz="1100" dirty="0"/>
          </a:p>
        </p:txBody>
      </p:sp>
      <p:sp>
        <p:nvSpPr>
          <p:cNvPr id="35" name="Shape 33"/>
          <p:cNvSpPr/>
          <p:nvPr/>
        </p:nvSpPr>
        <p:spPr>
          <a:xfrm>
            <a:off x="548640" y="4197096"/>
            <a:ext cx="11091672" cy="512064"/>
          </a:xfrm>
          <a:prstGeom prst="rect">
            <a:avLst/>
          </a:prstGeom>
          <a:solidFill>
            <a:srgbClr val="F5F4F0"/>
          </a:solidFill>
          <a:ln/>
        </p:spPr>
        <p:txBody>
          <a:bodyPr/>
          <a:lstStyle/>
          <a:p>
            <a:endParaRPr lang="en-AU"/>
          </a:p>
        </p:txBody>
      </p:sp>
      <p:sp>
        <p:nvSpPr>
          <p:cNvPr id="36" name="Text 34"/>
          <p:cNvSpPr/>
          <p:nvPr/>
        </p:nvSpPr>
        <p:spPr>
          <a:xfrm>
            <a:off x="548640" y="4270248"/>
            <a:ext cx="3017520" cy="384048"/>
          </a:xfrm>
          <a:prstGeom prst="rect">
            <a:avLst/>
          </a:prstGeom>
          <a:noFill/>
          <a:ln/>
        </p:spPr>
        <p:txBody>
          <a:bodyPr wrap="square" lIns="0" tIns="0" rIns="0" bIns="0" rtlCol="0" anchor="t"/>
          <a:lstStyle/>
          <a:p>
            <a:pPr marL="0" indent="0">
              <a:buNone/>
            </a:pPr>
            <a:r>
              <a:rPr lang="en-US" sz="1100" b="1" dirty="0">
                <a:solidFill>
                  <a:srgbClr val="12100E"/>
                </a:solidFill>
                <a:latin typeface="Segoe UI" pitchFamily="34" charset="0"/>
                <a:ea typeface="Segoe UI" pitchFamily="34" charset="-122"/>
                <a:cs typeface="Segoe UI" pitchFamily="34" charset="-120"/>
              </a:rPr>
              <a:t>Baseline restatement</a:t>
            </a:r>
            <a:endParaRPr lang="en-US" sz="1100" dirty="0"/>
          </a:p>
        </p:txBody>
      </p:sp>
      <p:sp>
        <p:nvSpPr>
          <p:cNvPr id="37" name="Text 35"/>
          <p:cNvSpPr/>
          <p:nvPr/>
        </p:nvSpPr>
        <p:spPr>
          <a:xfrm>
            <a:off x="3657600" y="4270248"/>
            <a:ext cx="2011680" cy="384048"/>
          </a:xfrm>
          <a:prstGeom prst="rect">
            <a:avLst/>
          </a:prstGeom>
          <a:noFill/>
          <a:ln/>
        </p:spPr>
        <p:txBody>
          <a:bodyPr wrap="square" lIns="0" tIns="0" rIns="0" bIns="0" rtlCol="0" anchor="t"/>
          <a:lstStyle/>
          <a:p>
            <a:pPr marL="0" indent="0">
              <a:buNone/>
            </a:pPr>
            <a:r>
              <a:rPr lang="en-US" sz="1100" b="1" dirty="0">
                <a:solidFill>
                  <a:srgbClr val="A8460F"/>
                </a:solidFill>
                <a:latin typeface="Segoe UI" pitchFamily="34" charset="0"/>
                <a:ea typeface="Segoe UI" pitchFamily="34" charset="-122"/>
                <a:cs typeface="Segoe UI" pitchFamily="34" charset="-120"/>
              </a:rPr>
              <a:t>Correct problem size</a:t>
            </a:r>
            <a:endParaRPr lang="en-US" sz="1100" dirty="0"/>
          </a:p>
        </p:txBody>
      </p:sp>
      <p:sp>
        <p:nvSpPr>
          <p:cNvPr id="38" name="Text 36"/>
          <p:cNvSpPr/>
          <p:nvPr/>
        </p:nvSpPr>
        <p:spPr>
          <a:xfrm>
            <a:off x="5760720" y="4270248"/>
            <a:ext cx="210312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CFO time</a:t>
            </a:r>
            <a:endParaRPr lang="en-US" sz="1100" dirty="0"/>
          </a:p>
        </p:txBody>
      </p:sp>
      <p:sp>
        <p:nvSpPr>
          <p:cNvPr id="39" name="Text 37"/>
          <p:cNvSpPr/>
          <p:nvPr/>
        </p:nvSpPr>
        <p:spPr>
          <a:xfrm>
            <a:off x="7955280" y="4270248"/>
            <a:ext cx="1920240"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FY2027 planning</a:t>
            </a:r>
            <a:endParaRPr lang="en-US" sz="1100" dirty="0"/>
          </a:p>
        </p:txBody>
      </p:sp>
      <p:sp>
        <p:nvSpPr>
          <p:cNvPr id="40" name="Text 38"/>
          <p:cNvSpPr/>
          <p:nvPr/>
        </p:nvSpPr>
        <p:spPr>
          <a:xfrm>
            <a:off x="9966960" y="4270248"/>
            <a:ext cx="1673352" cy="384048"/>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Threshold-sensitive</a:t>
            </a:r>
            <a:endParaRPr lang="en-US" sz="1100" dirty="0"/>
          </a:p>
        </p:txBody>
      </p:sp>
      <p:sp>
        <p:nvSpPr>
          <p:cNvPr id="41" name="Text 39"/>
          <p:cNvSpPr/>
          <p:nvPr/>
        </p:nvSpPr>
        <p:spPr>
          <a:xfrm>
            <a:off x="548640" y="5138928"/>
            <a:ext cx="3657600" cy="219456"/>
          </a:xfrm>
          <a:prstGeom prst="rect">
            <a:avLst/>
          </a:prstGeom>
          <a:noFill/>
          <a:ln/>
        </p:spPr>
        <p:txBody>
          <a:bodyPr wrap="square" lIns="0" tIns="0" rIns="0" bIns="0" rtlCol="0" anchor="ctr"/>
          <a:lstStyle/>
          <a:p>
            <a:pPr marL="0" indent="0">
              <a:buNone/>
            </a:pPr>
            <a:r>
              <a:rPr lang="en-US" sz="900" b="1" kern="0" spc="100" dirty="0">
                <a:solidFill>
                  <a:srgbClr val="8A8781"/>
                </a:solidFill>
                <a:latin typeface="Consolas" pitchFamily="34" charset="0"/>
                <a:ea typeface="Consolas" pitchFamily="34" charset="-122"/>
                <a:cs typeface="Consolas" pitchFamily="34" charset="-120"/>
              </a:rPr>
              <a:t>WHEN EACH RESULT LANDS</a:t>
            </a:r>
            <a:endParaRPr lang="en-US" sz="900" dirty="0"/>
          </a:p>
        </p:txBody>
      </p:sp>
      <p:sp>
        <p:nvSpPr>
          <p:cNvPr id="42" name="Shape 40"/>
          <p:cNvSpPr/>
          <p:nvPr/>
        </p:nvSpPr>
        <p:spPr>
          <a:xfrm>
            <a:off x="3291840" y="5596128"/>
            <a:ext cx="7315200" cy="10973"/>
          </a:xfrm>
          <a:prstGeom prst="rect">
            <a:avLst/>
          </a:prstGeom>
          <a:solidFill>
            <a:srgbClr val="DFDDD6"/>
          </a:solidFill>
          <a:ln/>
        </p:spPr>
        <p:txBody>
          <a:bodyPr/>
          <a:lstStyle/>
          <a:p>
            <a:endParaRPr lang="en-AU"/>
          </a:p>
        </p:txBody>
      </p:sp>
      <p:sp>
        <p:nvSpPr>
          <p:cNvPr id="43" name="Text 41"/>
          <p:cNvSpPr/>
          <p:nvPr/>
        </p:nvSpPr>
        <p:spPr>
          <a:xfrm>
            <a:off x="2971800" y="6163056"/>
            <a:ext cx="640080" cy="182880"/>
          </a:xfrm>
          <a:prstGeom prst="rect">
            <a:avLst/>
          </a:prstGeom>
          <a:noFill/>
          <a:ln/>
        </p:spPr>
        <p:txBody>
          <a:bodyPr wrap="square" lIns="0" tIns="0" rIns="0" bIns="0" rtlCol="0" anchor="ctr"/>
          <a:lstStyle/>
          <a:p>
            <a:pPr marL="0" indent="0" algn="ctr">
              <a:buNone/>
            </a:pPr>
            <a:r>
              <a:rPr lang="en-US" sz="800" dirty="0">
                <a:solidFill>
                  <a:srgbClr val="8A8781"/>
                </a:solidFill>
                <a:latin typeface="Segoe UI" pitchFamily="34" charset="0"/>
                <a:ea typeface="Segoe UI" pitchFamily="34" charset="-122"/>
                <a:cs typeface="Segoe UI" pitchFamily="34" charset="-120"/>
              </a:rPr>
              <a:t>now</a:t>
            </a:r>
            <a:endParaRPr lang="en-US" sz="800" dirty="0"/>
          </a:p>
        </p:txBody>
      </p:sp>
      <p:sp>
        <p:nvSpPr>
          <p:cNvPr id="44" name="Text 42"/>
          <p:cNvSpPr/>
          <p:nvPr/>
        </p:nvSpPr>
        <p:spPr>
          <a:xfrm>
            <a:off x="4800600" y="6163056"/>
            <a:ext cx="640080" cy="182880"/>
          </a:xfrm>
          <a:prstGeom prst="rect">
            <a:avLst/>
          </a:prstGeom>
          <a:noFill/>
          <a:ln/>
        </p:spPr>
        <p:txBody>
          <a:bodyPr wrap="square" lIns="0" tIns="0" rIns="0" bIns="0" rtlCol="0" anchor="ctr"/>
          <a:lstStyle/>
          <a:p>
            <a:pPr marL="0" indent="0" algn="ctr">
              <a:buNone/>
            </a:pPr>
            <a:r>
              <a:rPr lang="en-US" sz="800" dirty="0">
                <a:solidFill>
                  <a:srgbClr val="8A8781"/>
                </a:solidFill>
                <a:latin typeface="Segoe UI" pitchFamily="34" charset="0"/>
                <a:ea typeface="Segoe UI" pitchFamily="34" charset="-122"/>
                <a:cs typeface="Segoe UI" pitchFamily="34" charset="-120"/>
              </a:rPr>
              <a:t>3 mo</a:t>
            </a:r>
            <a:endParaRPr lang="en-US" sz="800" dirty="0"/>
          </a:p>
        </p:txBody>
      </p:sp>
      <p:sp>
        <p:nvSpPr>
          <p:cNvPr id="45" name="Text 43"/>
          <p:cNvSpPr/>
          <p:nvPr/>
        </p:nvSpPr>
        <p:spPr>
          <a:xfrm>
            <a:off x="6629400" y="6163056"/>
            <a:ext cx="640080" cy="182880"/>
          </a:xfrm>
          <a:prstGeom prst="rect">
            <a:avLst/>
          </a:prstGeom>
          <a:noFill/>
          <a:ln/>
        </p:spPr>
        <p:txBody>
          <a:bodyPr wrap="square" lIns="0" tIns="0" rIns="0" bIns="0" rtlCol="0" anchor="ctr"/>
          <a:lstStyle/>
          <a:p>
            <a:pPr marL="0" indent="0" algn="ctr">
              <a:buNone/>
            </a:pPr>
            <a:r>
              <a:rPr lang="en-US" sz="800" dirty="0">
                <a:solidFill>
                  <a:srgbClr val="8A8781"/>
                </a:solidFill>
                <a:latin typeface="Segoe UI" pitchFamily="34" charset="0"/>
                <a:ea typeface="Segoe UI" pitchFamily="34" charset="-122"/>
                <a:cs typeface="Segoe UI" pitchFamily="34" charset="-120"/>
              </a:rPr>
              <a:t>6 mo</a:t>
            </a:r>
            <a:endParaRPr lang="en-US" sz="800" dirty="0"/>
          </a:p>
        </p:txBody>
      </p:sp>
      <p:sp>
        <p:nvSpPr>
          <p:cNvPr id="46" name="Text 44"/>
          <p:cNvSpPr/>
          <p:nvPr/>
        </p:nvSpPr>
        <p:spPr>
          <a:xfrm>
            <a:off x="8458200" y="6163056"/>
            <a:ext cx="640080" cy="182880"/>
          </a:xfrm>
          <a:prstGeom prst="rect">
            <a:avLst/>
          </a:prstGeom>
          <a:noFill/>
          <a:ln/>
        </p:spPr>
        <p:txBody>
          <a:bodyPr wrap="square" lIns="0" tIns="0" rIns="0" bIns="0" rtlCol="0" anchor="ctr"/>
          <a:lstStyle/>
          <a:p>
            <a:pPr marL="0" indent="0" algn="ctr">
              <a:buNone/>
            </a:pPr>
            <a:r>
              <a:rPr lang="en-US" sz="800" dirty="0">
                <a:solidFill>
                  <a:srgbClr val="8A8781"/>
                </a:solidFill>
                <a:latin typeface="Segoe UI" pitchFamily="34" charset="0"/>
                <a:ea typeface="Segoe UI" pitchFamily="34" charset="-122"/>
                <a:cs typeface="Segoe UI" pitchFamily="34" charset="-120"/>
              </a:rPr>
              <a:t>9 mo</a:t>
            </a:r>
            <a:endParaRPr lang="en-US" sz="800" dirty="0"/>
          </a:p>
        </p:txBody>
      </p:sp>
      <p:sp>
        <p:nvSpPr>
          <p:cNvPr id="47" name="Text 45"/>
          <p:cNvSpPr/>
          <p:nvPr/>
        </p:nvSpPr>
        <p:spPr>
          <a:xfrm>
            <a:off x="10287000" y="6163056"/>
            <a:ext cx="640080" cy="182880"/>
          </a:xfrm>
          <a:prstGeom prst="rect">
            <a:avLst/>
          </a:prstGeom>
          <a:noFill/>
          <a:ln/>
        </p:spPr>
        <p:txBody>
          <a:bodyPr wrap="square" lIns="0" tIns="0" rIns="0" bIns="0" rtlCol="0" anchor="ctr"/>
          <a:lstStyle/>
          <a:p>
            <a:pPr marL="0" indent="0" algn="ctr">
              <a:buNone/>
            </a:pPr>
            <a:r>
              <a:rPr lang="en-US" sz="800" dirty="0">
                <a:solidFill>
                  <a:srgbClr val="8A8781"/>
                </a:solidFill>
                <a:latin typeface="Segoe UI" pitchFamily="34" charset="0"/>
                <a:ea typeface="Segoe UI" pitchFamily="34" charset="-122"/>
                <a:cs typeface="Segoe UI" pitchFamily="34" charset="-120"/>
              </a:rPr>
              <a:t>12 mo</a:t>
            </a:r>
            <a:endParaRPr lang="en-US" sz="800" dirty="0"/>
          </a:p>
        </p:txBody>
      </p:sp>
      <p:sp>
        <p:nvSpPr>
          <p:cNvPr id="48" name="Shape 46"/>
          <p:cNvSpPr/>
          <p:nvPr/>
        </p:nvSpPr>
        <p:spPr>
          <a:xfrm>
            <a:off x="5065776" y="5568696"/>
            <a:ext cx="109728" cy="109728"/>
          </a:xfrm>
          <a:prstGeom prst="ellipse">
            <a:avLst/>
          </a:prstGeom>
          <a:solidFill>
            <a:srgbClr val="2A78D6"/>
          </a:solidFill>
          <a:ln/>
        </p:spPr>
        <p:txBody>
          <a:bodyPr/>
          <a:lstStyle/>
          <a:p>
            <a:endParaRPr lang="en-AU"/>
          </a:p>
        </p:txBody>
      </p:sp>
      <p:sp>
        <p:nvSpPr>
          <p:cNvPr id="49" name="Shape 47"/>
          <p:cNvSpPr/>
          <p:nvPr/>
        </p:nvSpPr>
        <p:spPr>
          <a:xfrm>
            <a:off x="5115154" y="5449824"/>
            <a:ext cx="10973" cy="118872"/>
          </a:xfrm>
          <a:prstGeom prst="rect">
            <a:avLst/>
          </a:prstGeom>
          <a:solidFill>
            <a:srgbClr val="DFDDD6"/>
          </a:solidFill>
          <a:ln/>
        </p:spPr>
        <p:txBody>
          <a:bodyPr/>
          <a:lstStyle/>
          <a:p>
            <a:endParaRPr lang="en-AU"/>
          </a:p>
        </p:txBody>
      </p:sp>
      <p:sp>
        <p:nvSpPr>
          <p:cNvPr id="50" name="Text 48"/>
          <p:cNvSpPr/>
          <p:nvPr/>
        </p:nvSpPr>
        <p:spPr>
          <a:xfrm>
            <a:off x="4206240" y="5303520"/>
            <a:ext cx="1828800" cy="182880"/>
          </a:xfrm>
          <a:prstGeom prst="rect">
            <a:avLst/>
          </a:prstGeom>
          <a:noFill/>
          <a:ln/>
        </p:spPr>
        <p:txBody>
          <a:bodyPr wrap="square" lIns="0" tIns="0" rIns="0" bIns="0" rtlCol="0" anchor="ctr"/>
          <a:lstStyle/>
          <a:p>
            <a:pPr marL="0" indent="0" algn="ctr">
              <a:buNone/>
            </a:pPr>
            <a:r>
              <a:rPr lang="en-US" sz="850" dirty="0">
                <a:solidFill>
                  <a:srgbClr val="4A4845"/>
                </a:solidFill>
                <a:latin typeface="Segoe UI" pitchFamily="34" charset="0"/>
                <a:ea typeface="Segoe UI" pitchFamily="34" charset="-122"/>
                <a:cs typeface="Segoe UI" pitchFamily="34" charset="-120"/>
              </a:rPr>
              <a:t>Non-response alert</a:t>
            </a:r>
            <a:endParaRPr lang="en-US" sz="850" dirty="0"/>
          </a:p>
        </p:txBody>
      </p:sp>
      <p:sp>
        <p:nvSpPr>
          <p:cNvPr id="51" name="Shape 49"/>
          <p:cNvSpPr/>
          <p:nvPr/>
        </p:nvSpPr>
        <p:spPr>
          <a:xfrm>
            <a:off x="5675376" y="5568696"/>
            <a:ext cx="109728" cy="109728"/>
          </a:xfrm>
          <a:prstGeom prst="ellipse">
            <a:avLst/>
          </a:prstGeom>
          <a:solidFill>
            <a:srgbClr val="C93535"/>
          </a:solidFill>
          <a:ln/>
        </p:spPr>
        <p:txBody>
          <a:bodyPr/>
          <a:lstStyle/>
          <a:p>
            <a:endParaRPr lang="en-AU"/>
          </a:p>
        </p:txBody>
      </p:sp>
      <p:sp>
        <p:nvSpPr>
          <p:cNvPr id="52" name="Shape 50"/>
          <p:cNvSpPr/>
          <p:nvPr/>
        </p:nvSpPr>
        <p:spPr>
          <a:xfrm>
            <a:off x="5724754" y="5870448"/>
            <a:ext cx="10973" cy="0"/>
          </a:xfrm>
          <a:prstGeom prst="rect">
            <a:avLst/>
          </a:prstGeom>
          <a:solidFill>
            <a:srgbClr val="DFDDD6"/>
          </a:solidFill>
          <a:ln/>
        </p:spPr>
        <p:txBody>
          <a:bodyPr/>
          <a:lstStyle/>
          <a:p>
            <a:endParaRPr lang="en-AU"/>
          </a:p>
        </p:txBody>
      </p:sp>
      <p:sp>
        <p:nvSpPr>
          <p:cNvPr id="53" name="Text 51"/>
          <p:cNvSpPr/>
          <p:nvPr/>
        </p:nvSpPr>
        <p:spPr>
          <a:xfrm>
            <a:off x="4815840" y="5724144"/>
            <a:ext cx="1828800" cy="182880"/>
          </a:xfrm>
          <a:prstGeom prst="rect">
            <a:avLst/>
          </a:prstGeom>
          <a:noFill/>
          <a:ln/>
        </p:spPr>
        <p:txBody>
          <a:bodyPr wrap="square" lIns="0" tIns="0" rIns="0" bIns="0" rtlCol="0" anchor="ctr"/>
          <a:lstStyle/>
          <a:p>
            <a:pPr marL="0" indent="0" algn="ctr">
              <a:buNone/>
            </a:pPr>
            <a:r>
              <a:rPr lang="en-US" sz="850" dirty="0">
                <a:solidFill>
                  <a:srgbClr val="4A4845"/>
                </a:solidFill>
                <a:latin typeface="Segoe UI" pitchFamily="34" charset="0"/>
                <a:ea typeface="Segoe UI" pitchFamily="34" charset="-122"/>
                <a:cs typeface="Segoe UI" pitchFamily="34" charset="-120"/>
              </a:rPr>
              <a:t>Entity_C review</a:t>
            </a:r>
            <a:endParaRPr lang="en-US" sz="850" dirty="0"/>
          </a:p>
        </p:txBody>
      </p:sp>
      <p:sp>
        <p:nvSpPr>
          <p:cNvPr id="54" name="Shape 52"/>
          <p:cNvSpPr/>
          <p:nvPr/>
        </p:nvSpPr>
        <p:spPr>
          <a:xfrm>
            <a:off x="6894576" y="5568696"/>
            <a:ext cx="109728" cy="109728"/>
          </a:xfrm>
          <a:prstGeom prst="ellipse">
            <a:avLst/>
          </a:prstGeom>
          <a:solidFill>
            <a:srgbClr val="2A78D6"/>
          </a:solidFill>
          <a:ln/>
        </p:spPr>
        <p:txBody>
          <a:bodyPr/>
          <a:lstStyle/>
          <a:p>
            <a:endParaRPr lang="en-AU"/>
          </a:p>
        </p:txBody>
      </p:sp>
      <p:sp>
        <p:nvSpPr>
          <p:cNvPr id="55" name="Shape 53"/>
          <p:cNvSpPr/>
          <p:nvPr/>
        </p:nvSpPr>
        <p:spPr>
          <a:xfrm>
            <a:off x="6943954" y="5449824"/>
            <a:ext cx="10973" cy="118872"/>
          </a:xfrm>
          <a:prstGeom prst="rect">
            <a:avLst/>
          </a:prstGeom>
          <a:solidFill>
            <a:srgbClr val="DFDDD6"/>
          </a:solidFill>
          <a:ln/>
        </p:spPr>
        <p:txBody>
          <a:bodyPr/>
          <a:lstStyle/>
          <a:p>
            <a:endParaRPr lang="en-AU"/>
          </a:p>
        </p:txBody>
      </p:sp>
      <p:sp>
        <p:nvSpPr>
          <p:cNvPr id="56" name="Text 54"/>
          <p:cNvSpPr/>
          <p:nvPr/>
        </p:nvSpPr>
        <p:spPr>
          <a:xfrm>
            <a:off x="6035040" y="5303520"/>
            <a:ext cx="1828800" cy="182880"/>
          </a:xfrm>
          <a:prstGeom prst="rect">
            <a:avLst/>
          </a:prstGeom>
          <a:noFill/>
          <a:ln/>
        </p:spPr>
        <p:txBody>
          <a:bodyPr wrap="square" lIns="0" tIns="0" rIns="0" bIns="0" rtlCol="0" anchor="ctr"/>
          <a:lstStyle/>
          <a:p>
            <a:pPr marL="0" indent="0" algn="ctr">
              <a:buNone/>
            </a:pPr>
            <a:r>
              <a:rPr lang="en-US" sz="850" dirty="0">
                <a:solidFill>
                  <a:srgbClr val="4A4845"/>
                </a:solidFill>
                <a:latin typeface="Segoe UI" pitchFamily="34" charset="0"/>
                <a:ea typeface="Segoe UI" pitchFamily="34" charset="-122"/>
                <a:cs typeface="Segoe UI" pitchFamily="34" charset="-120"/>
              </a:rPr>
              <a:t>Manager diagnostic</a:t>
            </a:r>
            <a:endParaRPr lang="en-US" sz="850" dirty="0"/>
          </a:p>
        </p:txBody>
      </p:sp>
      <p:sp>
        <p:nvSpPr>
          <p:cNvPr id="57" name="Shape 55"/>
          <p:cNvSpPr/>
          <p:nvPr/>
        </p:nvSpPr>
        <p:spPr>
          <a:xfrm>
            <a:off x="8723376" y="5568696"/>
            <a:ext cx="109728" cy="109728"/>
          </a:xfrm>
          <a:prstGeom prst="ellipse">
            <a:avLst/>
          </a:prstGeom>
          <a:solidFill>
            <a:srgbClr val="2A78D6"/>
          </a:solidFill>
          <a:ln/>
        </p:spPr>
        <p:txBody>
          <a:bodyPr/>
          <a:lstStyle/>
          <a:p>
            <a:endParaRPr lang="en-AU"/>
          </a:p>
        </p:txBody>
      </p:sp>
      <p:sp>
        <p:nvSpPr>
          <p:cNvPr id="58" name="Shape 56"/>
          <p:cNvSpPr/>
          <p:nvPr/>
        </p:nvSpPr>
        <p:spPr>
          <a:xfrm>
            <a:off x="8772754" y="5870448"/>
            <a:ext cx="10973" cy="0"/>
          </a:xfrm>
          <a:prstGeom prst="rect">
            <a:avLst/>
          </a:prstGeom>
          <a:solidFill>
            <a:srgbClr val="DFDDD6"/>
          </a:solidFill>
          <a:ln/>
        </p:spPr>
        <p:txBody>
          <a:bodyPr/>
          <a:lstStyle/>
          <a:p>
            <a:endParaRPr lang="en-AU"/>
          </a:p>
        </p:txBody>
      </p:sp>
      <p:sp>
        <p:nvSpPr>
          <p:cNvPr id="59" name="Text 57"/>
          <p:cNvSpPr/>
          <p:nvPr/>
        </p:nvSpPr>
        <p:spPr>
          <a:xfrm>
            <a:off x="7863840" y="5724144"/>
            <a:ext cx="1828800" cy="182880"/>
          </a:xfrm>
          <a:prstGeom prst="rect">
            <a:avLst/>
          </a:prstGeom>
          <a:noFill/>
          <a:ln/>
        </p:spPr>
        <p:txBody>
          <a:bodyPr wrap="square" lIns="0" tIns="0" rIns="0" bIns="0" rtlCol="0" anchor="ctr"/>
          <a:lstStyle/>
          <a:p>
            <a:pPr marL="0" indent="0" algn="ctr">
              <a:buNone/>
            </a:pPr>
            <a:r>
              <a:rPr lang="en-US" sz="850" dirty="0">
                <a:solidFill>
                  <a:srgbClr val="4A4845"/>
                </a:solidFill>
                <a:latin typeface="Segoe UI" pitchFamily="34" charset="0"/>
                <a:ea typeface="Segoe UI" pitchFamily="34" charset="-122"/>
                <a:cs typeface="Segoe UI" pitchFamily="34" charset="-120"/>
              </a:rPr>
              <a:t>Regrettable definition</a:t>
            </a:r>
            <a:endParaRPr lang="en-US" sz="850" dirty="0"/>
          </a:p>
        </p:txBody>
      </p:sp>
      <p:sp>
        <p:nvSpPr>
          <p:cNvPr id="60" name="Shape 58"/>
          <p:cNvSpPr/>
          <p:nvPr/>
        </p:nvSpPr>
        <p:spPr>
          <a:xfrm>
            <a:off x="9942576" y="5568696"/>
            <a:ext cx="109728" cy="109728"/>
          </a:xfrm>
          <a:prstGeom prst="ellipse">
            <a:avLst/>
          </a:prstGeom>
          <a:solidFill>
            <a:srgbClr val="C98A10"/>
          </a:solidFill>
          <a:ln/>
        </p:spPr>
        <p:txBody>
          <a:bodyPr/>
          <a:lstStyle/>
          <a:p>
            <a:endParaRPr lang="en-AU"/>
          </a:p>
        </p:txBody>
      </p:sp>
      <p:sp>
        <p:nvSpPr>
          <p:cNvPr id="61" name="Shape 59"/>
          <p:cNvSpPr/>
          <p:nvPr/>
        </p:nvSpPr>
        <p:spPr>
          <a:xfrm>
            <a:off x="9991954" y="5449824"/>
            <a:ext cx="10973" cy="118872"/>
          </a:xfrm>
          <a:prstGeom prst="rect">
            <a:avLst/>
          </a:prstGeom>
          <a:solidFill>
            <a:srgbClr val="DFDDD6"/>
          </a:solidFill>
          <a:ln/>
        </p:spPr>
        <p:txBody>
          <a:bodyPr/>
          <a:lstStyle/>
          <a:p>
            <a:endParaRPr lang="en-AU"/>
          </a:p>
        </p:txBody>
      </p:sp>
      <p:sp>
        <p:nvSpPr>
          <p:cNvPr id="62" name="Text 60"/>
          <p:cNvSpPr/>
          <p:nvPr/>
        </p:nvSpPr>
        <p:spPr>
          <a:xfrm>
            <a:off x="9083040" y="5303520"/>
            <a:ext cx="1828800" cy="182880"/>
          </a:xfrm>
          <a:prstGeom prst="rect">
            <a:avLst/>
          </a:prstGeom>
          <a:noFill/>
          <a:ln/>
        </p:spPr>
        <p:txBody>
          <a:bodyPr wrap="square" lIns="0" tIns="0" rIns="0" bIns="0" rtlCol="0" anchor="ctr"/>
          <a:lstStyle/>
          <a:p>
            <a:pPr marL="0" indent="0" algn="ctr">
              <a:buNone/>
            </a:pPr>
            <a:r>
              <a:rPr lang="en-US" sz="850" dirty="0">
                <a:solidFill>
                  <a:srgbClr val="4A4845"/>
                </a:solidFill>
                <a:latin typeface="Segoe UI" pitchFamily="34" charset="0"/>
                <a:ea typeface="Segoe UI" pitchFamily="34" charset="-122"/>
                <a:cs typeface="Segoe UI" pitchFamily="34" charset="-120"/>
              </a:rPr>
              <a:t>Baseline restatement</a:t>
            </a:r>
            <a:endParaRPr lang="en-US" sz="850" dirty="0"/>
          </a:p>
        </p:txBody>
      </p:sp>
      <p:sp>
        <p:nvSpPr>
          <p:cNvPr id="63" name="Text 61"/>
          <p:cNvSpPr/>
          <p:nvPr/>
        </p:nvSpPr>
        <p:spPr>
          <a:xfrm>
            <a:off x="548640" y="5394960"/>
            <a:ext cx="2606040" cy="731520"/>
          </a:xfrm>
          <a:prstGeom prst="rect">
            <a:avLst/>
          </a:prstGeom>
          <a:noFill/>
          <a:ln/>
        </p:spPr>
        <p:txBody>
          <a:bodyPr wrap="square" lIns="0" tIns="0" rIns="0" bIns="0" rtlCol="0" anchor="t"/>
          <a:lstStyle/>
          <a:p>
            <a:pPr marL="0" indent="0">
              <a:buNone/>
            </a:pPr>
            <a:r>
              <a:rPr lang="en-US" sz="900" dirty="0">
                <a:solidFill>
                  <a:srgbClr val="4A4845"/>
                </a:solidFill>
                <a:latin typeface="Segoe UI" pitchFamily="34" charset="0"/>
                <a:ea typeface="Segoe UI" pitchFamily="34" charset="-122"/>
                <a:cs typeface="Segoe UI" pitchFamily="34" charset="-120"/>
              </a:rPr>
              <a:t>Exposure addressed is the size of the problem each action reaches, not cash saved. None of these has been tested at NovaCorp, so we convert nothing into a savings promise.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14</a:t>
            </a:r>
            <a:endParaRPr lang="en-US" sz="800" dirty="0"/>
          </a:p>
        </p:txBody>
      </p:sp>
      <p:sp>
        <p:nvSpPr>
          <p:cNvPr id="5" name="Text 3"/>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How we kept ourselves honest</a:t>
            </a:r>
            <a:endParaRPr lang="en-US" sz="2400" dirty="0"/>
          </a:p>
        </p:txBody>
      </p:sp>
      <p:sp>
        <p:nvSpPr>
          <p:cNvPr id="6" name="Text 4"/>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Every number above survived a check designed to break it.</a:t>
            </a:r>
            <a:endParaRPr lang="en-US" sz="1250" dirty="0"/>
          </a:p>
        </p:txBody>
      </p:sp>
      <p:sp>
        <p:nvSpPr>
          <p:cNvPr id="7" name="Shape 5"/>
          <p:cNvSpPr/>
          <p:nvPr/>
        </p:nvSpPr>
        <p:spPr>
          <a:xfrm>
            <a:off x="548640" y="1737360"/>
            <a:ext cx="3566160" cy="2148840"/>
          </a:xfrm>
          <a:prstGeom prst="roundRect">
            <a:avLst>
              <a:gd name="adj" fmla="val 1277"/>
            </a:avLst>
          </a:prstGeom>
          <a:solidFill>
            <a:srgbClr val="FFFFFF"/>
          </a:solidFill>
          <a:ln w="9525">
            <a:solidFill>
              <a:srgbClr val="DFDDD6"/>
            </a:solidFill>
            <a:prstDash val="solid"/>
          </a:ln>
        </p:spPr>
        <p:txBody>
          <a:bodyPr/>
          <a:lstStyle/>
          <a:p>
            <a:endParaRPr lang="en-AU"/>
          </a:p>
        </p:txBody>
      </p:sp>
      <p:sp>
        <p:nvSpPr>
          <p:cNvPr id="8" name="Text 6"/>
          <p:cNvSpPr/>
          <p:nvPr/>
        </p:nvSpPr>
        <p:spPr>
          <a:xfrm>
            <a:off x="768096" y="1883664"/>
            <a:ext cx="3127248"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WE SEPARATED THREE THINGS</a:t>
            </a:r>
            <a:endParaRPr lang="en-US" sz="900" dirty="0"/>
          </a:p>
        </p:txBody>
      </p:sp>
      <p:sp>
        <p:nvSpPr>
          <p:cNvPr id="9" name="Text 7"/>
          <p:cNvSpPr/>
          <p:nvPr/>
        </p:nvSpPr>
        <p:spPr>
          <a:xfrm>
            <a:off x="768096" y="2194560"/>
            <a:ext cx="3127248" cy="15087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Observed: counted directly from the data.</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Inferred: our reading across several sources.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Scenario: decision economics, not a forecast.</a:t>
            </a:r>
            <a:endParaRPr lang="en-US" sz="1150" dirty="0"/>
          </a:p>
        </p:txBody>
      </p:sp>
      <p:sp>
        <p:nvSpPr>
          <p:cNvPr id="10" name="Shape 8"/>
          <p:cNvSpPr/>
          <p:nvPr/>
        </p:nvSpPr>
        <p:spPr>
          <a:xfrm>
            <a:off x="4434840" y="1737360"/>
            <a:ext cx="3566160" cy="2148840"/>
          </a:xfrm>
          <a:prstGeom prst="roundRect">
            <a:avLst>
              <a:gd name="adj" fmla="val 1277"/>
            </a:avLst>
          </a:prstGeom>
          <a:solidFill>
            <a:srgbClr val="FFFFFF"/>
          </a:solidFill>
          <a:ln w="9525">
            <a:solidFill>
              <a:srgbClr val="DFDDD6"/>
            </a:solidFill>
            <a:prstDash val="solid"/>
          </a:ln>
        </p:spPr>
        <p:txBody>
          <a:bodyPr/>
          <a:lstStyle/>
          <a:p>
            <a:endParaRPr lang="en-AU"/>
          </a:p>
        </p:txBody>
      </p:sp>
      <p:sp>
        <p:nvSpPr>
          <p:cNvPr id="11" name="Text 9"/>
          <p:cNvSpPr/>
          <p:nvPr/>
        </p:nvSpPr>
        <p:spPr>
          <a:xfrm>
            <a:off x="4654296" y="1883664"/>
            <a:ext cx="3127248"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WE TESTED OUR OWN THRESHOLDS</a:t>
            </a:r>
            <a:endParaRPr lang="en-US" sz="900" dirty="0"/>
          </a:p>
        </p:txBody>
      </p:sp>
      <p:sp>
        <p:nvSpPr>
          <p:cNvPr id="12" name="Text 10"/>
          <p:cNvSpPr/>
          <p:nvPr/>
        </p:nvSpPr>
        <p:spPr>
          <a:xfrm>
            <a:off x="4654296" y="2194560"/>
            <a:ext cx="3127248" cy="15087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Where we chose a cut-off, we show the answer at every reasonable alternative.</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The disengagement finding holds in 14 of 15 combinations.</a:t>
            </a:r>
            <a:endParaRPr lang="en-US" sz="1150" dirty="0"/>
          </a:p>
        </p:txBody>
      </p:sp>
      <p:sp>
        <p:nvSpPr>
          <p:cNvPr id="13" name="Shape 11"/>
          <p:cNvSpPr/>
          <p:nvPr/>
        </p:nvSpPr>
        <p:spPr>
          <a:xfrm>
            <a:off x="8321040" y="1737360"/>
            <a:ext cx="3319272" cy="2148840"/>
          </a:xfrm>
          <a:prstGeom prst="roundRect">
            <a:avLst>
              <a:gd name="adj" fmla="val 1277"/>
            </a:avLst>
          </a:prstGeom>
          <a:solidFill>
            <a:srgbClr val="FFFFFF"/>
          </a:solidFill>
          <a:ln w="9525">
            <a:solidFill>
              <a:srgbClr val="DFDDD6"/>
            </a:solidFill>
            <a:prstDash val="solid"/>
          </a:ln>
        </p:spPr>
        <p:txBody>
          <a:bodyPr/>
          <a:lstStyle/>
          <a:p>
            <a:endParaRPr lang="en-AU"/>
          </a:p>
        </p:txBody>
      </p:sp>
      <p:sp>
        <p:nvSpPr>
          <p:cNvPr id="14" name="Text 12"/>
          <p:cNvSpPr/>
          <p:nvPr/>
        </p:nvSpPr>
        <p:spPr>
          <a:xfrm>
            <a:off x="8540496" y="1883664"/>
            <a:ext cx="288036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WE CORRECTED FOR UNEQUAL EXPOSURE</a:t>
            </a:r>
            <a:endParaRPr lang="en-US" sz="900" dirty="0"/>
          </a:p>
        </p:txBody>
      </p:sp>
      <p:sp>
        <p:nvSpPr>
          <p:cNvPr id="15" name="Text 13"/>
          <p:cNvSpPr/>
          <p:nvPr/>
        </p:nvSpPr>
        <p:spPr>
          <a:xfrm>
            <a:off x="8540496" y="2194560"/>
            <a:ext cx="2880360" cy="15087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Newer cohorts and later survey joiners look worse purely because they have had less time.</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Every cohort comparison is measured at the same point.</a:t>
            </a:r>
            <a:endParaRPr lang="en-US" sz="1150" dirty="0"/>
          </a:p>
        </p:txBody>
      </p:sp>
      <p:sp>
        <p:nvSpPr>
          <p:cNvPr id="16" name="Shape 14"/>
          <p:cNvSpPr/>
          <p:nvPr/>
        </p:nvSpPr>
        <p:spPr>
          <a:xfrm>
            <a:off x="548640" y="4069080"/>
            <a:ext cx="5486400" cy="1920240"/>
          </a:xfrm>
          <a:prstGeom prst="roundRect">
            <a:avLst>
              <a:gd name="adj" fmla="val 1429"/>
            </a:avLst>
          </a:prstGeom>
          <a:solidFill>
            <a:srgbClr val="F5F4F0"/>
          </a:solidFill>
          <a:ln w="9525">
            <a:solidFill>
              <a:srgbClr val="C98A10"/>
            </a:solidFill>
            <a:prstDash val="solid"/>
          </a:ln>
        </p:spPr>
        <p:txBody>
          <a:bodyPr/>
          <a:lstStyle/>
          <a:p>
            <a:endParaRPr lang="en-AU"/>
          </a:p>
        </p:txBody>
      </p:sp>
      <p:sp>
        <p:nvSpPr>
          <p:cNvPr id="17" name="Text 15"/>
          <p:cNvSpPr/>
          <p:nvPr/>
        </p:nvSpPr>
        <p:spPr>
          <a:xfrm>
            <a:off x="768096" y="4215384"/>
            <a:ext cx="5047488"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WHERE WE DELIBERATELY STOPPED</a:t>
            </a:r>
            <a:endParaRPr lang="en-US" sz="900" dirty="0"/>
          </a:p>
        </p:txBody>
      </p:sp>
      <p:sp>
        <p:nvSpPr>
          <p:cNvPr id="18" name="Text 16"/>
          <p:cNvSpPr/>
          <p:nvPr/>
        </p:nvSpPr>
        <p:spPr>
          <a:xfrm>
            <a:off x="768096" y="4526280"/>
            <a:ext cx="5047488" cy="12801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We do not claim any manager causes anyone to leave.</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We do not label individuals as flight risks. Cohorts are a screen for a human conversation.</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We do not present any scenario as cash saved.</a:t>
            </a:r>
            <a:endParaRPr lang="en-US" sz="1150" dirty="0"/>
          </a:p>
        </p:txBody>
      </p:sp>
      <p:sp>
        <p:nvSpPr>
          <p:cNvPr id="19" name="Shape 17"/>
          <p:cNvSpPr/>
          <p:nvPr/>
        </p:nvSpPr>
        <p:spPr>
          <a:xfrm>
            <a:off x="6355080" y="4069080"/>
            <a:ext cx="5285232" cy="1920240"/>
          </a:xfrm>
          <a:prstGeom prst="roundRect">
            <a:avLst>
              <a:gd name="adj" fmla="val 1429"/>
            </a:avLst>
          </a:prstGeom>
          <a:solidFill>
            <a:srgbClr val="F5F4F0"/>
          </a:solidFill>
          <a:ln w="9525">
            <a:solidFill>
              <a:srgbClr val="C98A10"/>
            </a:solidFill>
            <a:prstDash val="solid"/>
          </a:ln>
        </p:spPr>
        <p:txBody>
          <a:bodyPr/>
          <a:lstStyle/>
          <a:p>
            <a:endParaRPr lang="en-AU"/>
          </a:p>
        </p:txBody>
      </p:sp>
      <p:sp>
        <p:nvSpPr>
          <p:cNvPr id="20" name="Text 18"/>
          <p:cNvSpPr/>
          <p:nvPr/>
        </p:nvSpPr>
        <p:spPr>
          <a:xfrm>
            <a:off x="6574536" y="4215384"/>
            <a:ext cx="484632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WHAT WE COULD NOT ANSWER</a:t>
            </a:r>
            <a:endParaRPr lang="en-US" sz="900" dirty="0"/>
          </a:p>
        </p:txBody>
      </p:sp>
      <p:sp>
        <p:nvSpPr>
          <p:cNvPr id="21" name="Text 19"/>
          <p:cNvSpPr/>
          <p:nvPr/>
        </p:nvSpPr>
        <p:spPr>
          <a:xfrm>
            <a:off x="6574536" y="4526280"/>
            <a:ext cx="4846320" cy="12801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New starters sit outside the early-warning estimate, and they are the highest-risk group.</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The attrition log covers 60% of reported departures, so attrition costs are floors.</a:t>
            </a:r>
            <a:endParaRPr lang="en-US" sz="1150" dirty="0"/>
          </a:p>
          <a:p>
            <a:pPr marL="342900" indent="-342900">
              <a:spcAft>
                <a:spcPts val="700"/>
              </a:spcAft>
              <a:buSzPct val="100000"/>
              <a:buChar char="•"/>
            </a:pPr>
            <a:r>
              <a:rPr lang="en-US" sz="1150" dirty="0">
                <a:solidFill>
                  <a:srgbClr val="4A4845"/>
                </a:solidFill>
                <a:latin typeface="Segoe UI" pitchFamily="34" charset="0"/>
                <a:ea typeface="Segoe UI" pitchFamily="34" charset="-122"/>
                <a:cs typeface="Segoe UI" pitchFamily="34" charset="-120"/>
              </a:rPr>
              <a:t>Team size and workload are not held constant behind the manager finding.</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A24"/>
        </a:solidFill>
        <a:effectLst/>
      </p:bgPr>
    </p:bg>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2A3340"/>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6E7A8A"/>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6E7A8A"/>
                </a:solidFill>
                <a:latin typeface="Consolas" pitchFamily="34" charset="0"/>
                <a:ea typeface="Consolas" pitchFamily="34" charset="-122"/>
                <a:cs typeface="Consolas" pitchFamily="34" charset="-120"/>
              </a:rPr>
              <a:t>15</a:t>
            </a:r>
            <a:endParaRPr lang="en-US" sz="800" dirty="0"/>
          </a:p>
        </p:txBody>
      </p:sp>
      <p:sp>
        <p:nvSpPr>
          <p:cNvPr id="5" name="Text 3"/>
          <p:cNvSpPr/>
          <p:nvPr/>
        </p:nvSpPr>
        <p:spPr>
          <a:xfrm>
            <a:off x="640080" y="457200"/>
            <a:ext cx="5486400" cy="274320"/>
          </a:xfrm>
          <a:prstGeom prst="rect">
            <a:avLst/>
          </a:prstGeom>
          <a:noFill/>
          <a:ln/>
        </p:spPr>
        <p:txBody>
          <a:bodyPr wrap="square" rtlCol="0" anchor="ctr"/>
          <a:lstStyle/>
          <a:p>
            <a:pPr marL="0" indent="0">
              <a:buNone/>
            </a:pPr>
            <a:r>
              <a:rPr lang="en-US" sz="1000" b="1" kern="0" spc="150" dirty="0">
                <a:solidFill>
                  <a:srgbClr val="5B9DF0"/>
                </a:solidFill>
                <a:latin typeface="Consolas" pitchFamily="34" charset="0"/>
                <a:ea typeface="Consolas" pitchFamily="34" charset="-122"/>
                <a:cs typeface="Consolas" pitchFamily="34" charset="-120"/>
              </a:rPr>
              <a:t>CLOSING DECISION</a:t>
            </a:r>
            <a:endParaRPr lang="en-US" sz="1000" dirty="0"/>
          </a:p>
        </p:txBody>
      </p:sp>
      <p:sp>
        <p:nvSpPr>
          <p:cNvPr id="6" name="Text 4"/>
          <p:cNvSpPr/>
          <p:nvPr/>
        </p:nvSpPr>
        <p:spPr>
          <a:xfrm>
            <a:off x="640080" y="841248"/>
            <a:ext cx="10881360" cy="1371600"/>
          </a:xfrm>
          <a:prstGeom prst="rect">
            <a:avLst/>
          </a:prstGeom>
          <a:noFill/>
          <a:ln/>
        </p:spPr>
        <p:txBody>
          <a:bodyPr wrap="square" rtlCol="0" anchor="ctr"/>
          <a:lstStyle/>
          <a:p>
            <a:pPr marL="0" indent="0">
              <a:lnSpc>
                <a:spcPts val="3000"/>
              </a:lnSpc>
              <a:buNone/>
            </a:pPr>
            <a:r>
              <a:rPr lang="en-US" sz="2300" b="1" dirty="0">
                <a:solidFill>
                  <a:srgbClr val="FFFFFF"/>
                </a:solidFill>
                <a:latin typeface="Segoe UI" pitchFamily="34" charset="0"/>
                <a:ea typeface="Segoe UI" pitchFamily="34" charset="-122"/>
                <a:cs typeface="Segoe UI" pitchFamily="34" charset="-120"/>
              </a:rPr>
              <a:t>Your FY2025 report says budgets have been set aside for</a:t>
            </a:r>
            <a:endParaRPr lang="en-US" sz="2300" dirty="0"/>
          </a:p>
          <a:p>
            <a:pPr marL="0" indent="0">
              <a:lnSpc>
                <a:spcPts val="3000"/>
              </a:lnSpc>
              <a:buNone/>
            </a:pPr>
            <a:r>
              <a:rPr lang="en-US" sz="2300" b="1" dirty="0">
                <a:solidFill>
                  <a:srgbClr val="FFFFFF"/>
                </a:solidFill>
                <a:latin typeface="Segoe UI" pitchFamily="34" charset="0"/>
                <a:ea typeface="Segoe UI" pitchFamily="34" charset="-122"/>
                <a:cs typeface="Segoe UI" pitchFamily="34" charset="-120"/>
              </a:rPr>
              <a:t>People Reinvention. It does not say how much, or for what.</a:t>
            </a:r>
            <a:endParaRPr lang="en-US" sz="2300" dirty="0"/>
          </a:p>
        </p:txBody>
      </p:sp>
      <p:sp>
        <p:nvSpPr>
          <p:cNvPr id="7" name="Text 5"/>
          <p:cNvSpPr/>
          <p:nvPr/>
        </p:nvSpPr>
        <p:spPr>
          <a:xfrm>
            <a:off x="640080" y="2267712"/>
            <a:ext cx="10881360" cy="365760"/>
          </a:xfrm>
          <a:prstGeom prst="rect">
            <a:avLst/>
          </a:prstGeom>
          <a:noFill/>
          <a:ln/>
        </p:spPr>
        <p:txBody>
          <a:bodyPr wrap="square" rtlCol="0" anchor="ctr"/>
          <a:lstStyle/>
          <a:p>
            <a:pPr marL="0" indent="0">
              <a:buNone/>
            </a:pPr>
            <a:r>
              <a:rPr lang="en-US" sz="1200" dirty="0">
                <a:solidFill>
                  <a:srgbClr val="9BA7B5"/>
                </a:solidFill>
                <a:latin typeface="Segoe UI" pitchFamily="34" charset="0"/>
                <a:ea typeface="Segoe UI" pitchFamily="34" charset="-122"/>
                <a:cs typeface="Segoe UI" pitchFamily="34" charset="-120"/>
              </a:rPr>
              <a:t>Every other initiative in that report carries a number: $85M in synergies, $320M in technology, $40 to 50M in integration. This is where we would put it.</a:t>
            </a:r>
            <a:endParaRPr lang="en-US" sz="1200" dirty="0"/>
          </a:p>
        </p:txBody>
      </p:sp>
      <p:sp>
        <p:nvSpPr>
          <p:cNvPr id="8" name="Shape 6"/>
          <p:cNvSpPr/>
          <p:nvPr/>
        </p:nvSpPr>
        <p:spPr>
          <a:xfrm>
            <a:off x="640080" y="2743200"/>
            <a:ext cx="7019752" cy="658368"/>
          </a:xfrm>
          <a:prstGeom prst="rect">
            <a:avLst/>
          </a:prstGeom>
          <a:solidFill>
            <a:srgbClr val="5B9DF0"/>
          </a:solidFill>
          <a:ln/>
        </p:spPr>
        <p:txBody>
          <a:bodyPr/>
          <a:lstStyle/>
          <a:p>
            <a:endParaRPr lang="en-AU"/>
          </a:p>
        </p:txBody>
      </p:sp>
      <p:sp>
        <p:nvSpPr>
          <p:cNvPr id="9" name="Text 7"/>
          <p:cNvSpPr/>
          <p:nvPr/>
        </p:nvSpPr>
        <p:spPr>
          <a:xfrm>
            <a:off x="749808" y="2907792"/>
            <a:ext cx="6782008" cy="365760"/>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Disengagement  $61.8M</a:t>
            </a:r>
            <a:endParaRPr lang="en-US" sz="1100" dirty="0"/>
          </a:p>
        </p:txBody>
      </p:sp>
      <p:sp>
        <p:nvSpPr>
          <p:cNvPr id="10" name="Shape 8"/>
          <p:cNvSpPr/>
          <p:nvPr/>
        </p:nvSpPr>
        <p:spPr>
          <a:xfrm>
            <a:off x="7696408" y="2743200"/>
            <a:ext cx="2087173" cy="658368"/>
          </a:xfrm>
          <a:prstGeom prst="rect">
            <a:avLst/>
          </a:prstGeom>
          <a:solidFill>
            <a:srgbClr val="F06A6A"/>
          </a:solidFill>
          <a:ln/>
        </p:spPr>
        <p:txBody>
          <a:bodyPr/>
          <a:lstStyle/>
          <a:p>
            <a:endParaRPr lang="en-AU"/>
          </a:p>
        </p:txBody>
      </p:sp>
      <p:sp>
        <p:nvSpPr>
          <p:cNvPr id="11" name="Text 9"/>
          <p:cNvSpPr/>
          <p:nvPr/>
        </p:nvSpPr>
        <p:spPr>
          <a:xfrm>
            <a:off x="7806136" y="2907792"/>
            <a:ext cx="1849429" cy="365760"/>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Entity_C window  $18.6M</a:t>
            </a:r>
            <a:endParaRPr lang="en-US" sz="1100" dirty="0"/>
          </a:p>
        </p:txBody>
      </p:sp>
      <p:sp>
        <p:nvSpPr>
          <p:cNvPr id="12" name="Shape 10"/>
          <p:cNvSpPr/>
          <p:nvPr/>
        </p:nvSpPr>
        <p:spPr>
          <a:xfrm>
            <a:off x="9820157" y="2743200"/>
            <a:ext cx="1390675" cy="658368"/>
          </a:xfrm>
          <a:prstGeom prst="rect">
            <a:avLst/>
          </a:prstGeom>
          <a:solidFill>
            <a:srgbClr val="F0824F"/>
          </a:solidFill>
          <a:ln/>
        </p:spPr>
        <p:txBody>
          <a:bodyPr/>
          <a:lstStyle/>
          <a:p>
            <a:endParaRPr lang="en-AU"/>
          </a:p>
        </p:txBody>
      </p:sp>
      <p:sp>
        <p:nvSpPr>
          <p:cNvPr id="13" name="Text 11"/>
          <p:cNvSpPr/>
          <p:nvPr/>
        </p:nvSpPr>
        <p:spPr>
          <a:xfrm>
            <a:off x="9929885" y="2907792"/>
            <a:ext cx="1152931" cy="365760"/>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Regrettable exits  $12.5M</a:t>
            </a:r>
            <a:endParaRPr lang="en-US" sz="1100" dirty="0"/>
          </a:p>
        </p:txBody>
      </p:sp>
      <p:sp>
        <p:nvSpPr>
          <p:cNvPr id="14" name="Shape 12"/>
          <p:cNvSpPr/>
          <p:nvPr/>
        </p:nvSpPr>
        <p:spPr>
          <a:xfrm>
            <a:off x="11247408" y="2743200"/>
            <a:ext cx="237456" cy="658368"/>
          </a:xfrm>
          <a:prstGeom prst="rect">
            <a:avLst/>
          </a:prstGeom>
          <a:solidFill>
            <a:srgbClr val="5A6472"/>
          </a:solidFill>
          <a:ln/>
        </p:spPr>
        <p:txBody>
          <a:bodyPr/>
          <a:lstStyle/>
          <a:p>
            <a:endParaRPr lang="en-AU"/>
          </a:p>
        </p:txBody>
      </p:sp>
      <p:sp>
        <p:nvSpPr>
          <p:cNvPr id="15" name="Text 13"/>
          <p:cNvSpPr/>
          <p:nvPr/>
        </p:nvSpPr>
        <p:spPr>
          <a:xfrm>
            <a:off x="640080" y="3520440"/>
            <a:ext cx="10881360" cy="274320"/>
          </a:xfrm>
          <a:prstGeom prst="rect">
            <a:avLst/>
          </a:prstGeom>
          <a:noFill/>
          <a:ln/>
        </p:spPr>
        <p:txBody>
          <a:bodyPr wrap="square" rtlCol="0" anchor="ctr"/>
          <a:lstStyle/>
          <a:p>
            <a:pPr marL="0" indent="0">
              <a:buNone/>
            </a:pPr>
            <a:r>
              <a:rPr lang="en-US" sz="1050" dirty="0">
                <a:solidFill>
                  <a:srgbClr val="6E7A8A"/>
                </a:solidFill>
                <a:latin typeface="Segoe UI" pitchFamily="34" charset="0"/>
                <a:ea typeface="Segoe UI" pitchFamily="34" charset="-122"/>
                <a:cs typeface="Segoe UI" pitchFamily="34" charset="-120"/>
              </a:rPr>
              <a:t>A priority order, not a budget request. Two thirds of the addressable cost sits with people who have not left.</a:t>
            </a:r>
            <a:endParaRPr lang="en-US" sz="1050" dirty="0"/>
          </a:p>
        </p:txBody>
      </p:sp>
      <p:sp>
        <p:nvSpPr>
          <p:cNvPr id="16" name="Shape 14"/>
          <p:cNvSpPr/>
          <p:nvPr/>
        </p:nvSpPr>
        <p:spPr>
          <a:xfrm>
            <a:off x="640080" y="4069080"/>
            <a:ext cx="10881360" cy="1691640"/>
          </a:xfrm>
          <a:prstGeom prst="roundRect">
            <a:avLst>
              <a:gd name="adj" fmla="val 2162"/>
            </a:avLst>
          </a:prstGeom>
          <a:solidFill>
            <a:srgbClr val="1D2632"/>
          </a:solidFill>
          <a:ln/>
        </p:spPr>
        <p:txBody>
          <a:bodyPr/>
          <a:lstStyle/>
          <a:p>
            <a:endParaRPr lang="en-AU"/>
          </a:p>
        </p:txBody>
      </p:sp>
      <p:sp>
        <p:nvSpPr>
          <p:cNvPr id="17" name="Text 15"/>
          <p:cNvSpPr/>
          <p:nvPr/>
        </p:nvSpPr>
        <p:spPr>
          <a:xfrm>
            <a:off x="914400" y="4251960"/>
            <a:ext cx="5486400" cy="274320"/>
          </a:xfrm>
          <a:prstGeom prst="rect">
            <a:avLst/>
          </a:prstGeom>
          <a:noFill/>
          <a:ln/>
        </p:spPr>
        <p:txBody>
          <a:bodyPr wrap="square" rtlCol="0" anchor="ctr"/>
          <a:lstStyle/>
          <a:p>
            <a:pPr marL="0" indent="0">
              <a:buNone/>
            </a:pPr>
            <a:r>
              <a:rPr lang="en-US" sz="1000" b="1" kern="0" spc="150" dirty="0">
                <a:solidFill>
                  <a:srgbClr val="5B9DF0"/>
                </a:solidFill>
                <a:latin typeface="Consolas" pitchFamily="34" charset="0"/>
                <a:ea typeface="Consolas" pitchFamily="34" charset="-122"/>
                <a:cs typeface="Consolas" pitchFamily="34" charset="-120"/>
              </a:rPr>
              <a:t>THREE DECISIONS FOR MONDAY</a:t>
            </a:r>
            <a:endParaRPr lang="en-US" sz="1000" dirty="0"/>
          </a:p>
        </p:txBody>
      </p:sp>
      <p:sp>
        <p:nvSpPr>
          <p:cNvPr id="18" name="Text 16"/>
          <p:cNvSpPr/>
          <p:nvPr/>
        </p:nvSpPr>
        <p:spPr>
          <a:xfrm>
            <a:off x="914400" y="4617720"/>
            <a:ext cx="10332720" cy="1005840"/>
          </a:xfrm>
          <a:prstGeom prst="rect">
            <a:avLst/>
          </a:prstGeom>
          <a:noFill/>
          <a:ln/>
        </p:spPr>
        <p:txBody>
          <a:bodyPr wrap="square" rtlCol="0" anchor="t"/>
          <a:lstStyle/>
          <a:p>
            <a:pPr marL="0" indent="0">
              <a:spcAft>
                <a:spcPts val="800"/>
              </a:spcAft>
              <a:buNone/>
            </a:pPr>
            <a:r>
              <a:rPr lang="en-US" sz="1350" b="1" dirty="0">
                <a:solidFill>
                  <a:srgbClr val="FFFFFF"/>
                </a:solidFill>
                <a:latin typeface="Segoe UI" pitchFamily="34" charset="0"/>
                <a:ea typeface="Segoe UI" pitchFamily="34" charset="-122"/>
                <a:cs typeface="Segoe UI" pitchFamily="34" charset="-120"/>
              </a:rPr>
              <a:t>1   Turn on the non-response alert before the next survey wave closes.</a:t>
            </a:r>
            <a:endParaRPr lang="en-US" sz="1350" dirty="0"/>
          </a:p>
          <a:p>
            <a:pPr marL="0" indent="0">
              <a:spcAft>
                <a:spcPts val="800"/>
              </a:spcAft>
              <a:buNone/>
            </a:pPr>
            <a:r>
              <a:rPr lang="en-US" sz="1350" b="1" dirty="0">
                <a:solidFill>
                  <a:srgbClr val="FFFFFF"/>
                </a:solidFill>
                <a:latin typeface="Segoe UI" pitchFamily="34" charset="0"/>
                <a:ea typeface="Segoe UI" pitchFamily="34" charset="-122"/>
                <a:cs typeface="Segoe UI" pitchFamily="34" charset="-120"/>
              </a:rPr>
              <a:t>2   Change the regrettable-exit definition. It costs nothing and reveals four times as much.</a:t>
            </a:r>
            <a:endParaRPr lang="en-US" sz="1350" dirty="0"/>
          </a:p>
          <a:p>
            <a:pPr marL="0" indent="0">
              <a:spcAft>
                <a:spcPts val="800"/>
              </a:spcAft>
              <a:buNone/>
            </a:pPr>
            <a:r>
              <a:rPr lang="en-US" sz="1350" b="1" dirty="0">
                <a:solidFill>
                  <a:srgbClr val="FFFFFF"/>
                </a:solidFill>
                <a:latin typeface="Segoe UI" pitchFamily="34" charset="0"/>
                <a:ea typeface="Segoe UI" pitchFamily="34" charset="-122"/>
                <a:cs typeface="Segoe UI" pitchFamily="34" charset="-120"/>
              </a:rPr>
              <a:t>3   Name an owner for Entity_C while its window is still open.</a:t>
            </a:r>
            <a:endParaRPr lang="en-US" sz="1350" dirty="0"/>
          </a:p>
        </p:txBody>
      </p:sp>
      <p:sp>
        <p:nvSpPr>
          <p:cNvPr id="19" name="Text 17"/>
          <p:cNvSpPr/>
          <p:nvPr/>
        </p:nvSpPr>
        <p:spPr>
          <a:xfrm>
            <a:off x="640080" y="5989320"/>
            <a:ext cx="10881360" cy="365760"/>
          </a:xfrm>
          <a:prstGeom prst="rect">
            <a:avLst/>
          </a:prstGeom>
          <a:noFill/>
          <a:ln/>
        </p:spPr>
        <p:txBody>
          <a:bodyPr wrap="square" rtlCol="0" anchor="ctr"/>
          <a:lstStyle/>
          <a:p>
            <a:pPr marL="0" indent="0" algn="ctr">
              <a:buNone/>
            </a:pPr>
            <a:r>
              <a:rPr lang="en-US" sz="1300" b="1" i="1" dirty="0">
                <a:solidFill>
                  <a:srgbClr val="AEB9C6"/>
                </a:solidFill>
                <a:latin typeface="Segoe UI" pitchFamily="34" charset="0"/>
                <a:ea typeface="Segoe UI" pitchFamily="34" charset="-122"/>
                <a:cs typeface="Segoe UI" pitchFamily="34" charset="-120"/>
              </a:rPr>
              <a:t>You do not have an attrition problem. You have a measurement problem, and it is costing you $61.8M a year in people who never resign.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16</a:t>
            </a:r>
            <a:endParaRPr lang="en-US" sz="800" dirty="0"/>
          </a:p>
        </p:txBody>
      </p:sp>
      <p:sp>
        <p:nvSpPr>
          <p:cNvPr id="5" name="Text 3"/>
          <p:cNvSpPr/>
          <p:nvPr/>
        </p:nvSpPr>
        <p:spPr>
          <a:xfrm>
            <a:off x="548640" y="274320"/>
            <a:ext cx="2743200" cy="228600"/>
          </a:xfrm>
          <a:prstGeom prst="rect">
            <a:avLst/>
          </a:prstGeom>
          <a:noFill/>
          <a:ln/>
        </p:spPr>
        <p:txBody>
          <a:bodyPr wrap="square" rtlCol="0" anchor="ctr"/>
          <a:lstStyle/>
          <a:p>
            <a:pPr marL="0" indent="0">
              <a:buNone/>
            </a:pPr>
            <a:r>
              <a:rPr lang="en-US" sz="900" b="1" kern="0" spc="150" dirty="0">
                <a:solidFill>
                  <a:srgbClr val="8A8781"/>
                </a:solidFill>
                <a:latin typeface="Consolas" pitchFamily="34" charset="0"/>
                <a:ea typeface="Consolas" pitchFamily="34" charset="-122"/>
                <a:cs typeface="Consolas" pitchFamily="34" charset="-120"/>
              </a:rPr>
              <a:t>APPENDIX</a:t>
            </a:r>
            <a:endParaRPr lang="en-US" sz="900" dirty="0"/>
          </a:p>
        </p:txBody>
      </p:sp>
      <p:sp>
        <p:nvSpPr>
          <p:cNvPr id="6" name="Text 4"/>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A1. Where the numbers come from</a:t>
            </a:r>
            <a:endParaRPr lang="en-US" sz="2400" dirty="0"/>
          </a:p>
        </p:txBody>
      </p:sp>
      <p:sp>
        <p:nvSpPr>
          <p:cNvPr id="7" name="Text 5"/>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Every figure in the deck traces to one of these.</a:t>
            </a:r>
            <a:endParaRPr lang="en-US" sz="1250" dirty="0"/>
          </a:p>
        </p:txBody>
      </p:sp>
      <p:sp>
        <p:nvSpPr>
          <p:cNvPr id="8" name="Text 6"/>
          <p:cNvSpPr/>
          <p:nvPr/>
        </p:nvSpPr>
        <p:spPr>
          <a:xfrm>
            <a:off x="548640" y="1691640"/>
            <a:ext cx="3657600" cy="548640"/>
          </a:xfrm>
          <a:prstGeom prst="rect">
            <a:avLst/>
          </a:prstGeom>
          <a:noFill/>
          <a:ln/>
        </p:spPr>
        <p:txBody>
          <a:bodyPr wrap="square" lIns="0" tIns="0" rIns="0" bIns="0" rtlCol="0" anchor="t"/>
          <a:lstStyle/>
          <a:p>
            <a:pPr marL="0" indent="0">
              <a:buNone/>
            </a:pPr>
            <a:r>
              <a:rPr lang="en-US" sz="1150" b="1" dirty="0">
                <a:solidFill>
                  <a:srgbClr val="12100E"/>
                </a:solidFill>
                <a:latin typeface="Segoe UI" pitchFamily="34" charset="0"/>
                <a:ea typeface="Segoe UI" pitchFamily="34" charset="-122"/>
                <a:cs typeface="Segoe UI" pitchFamily="34" charset="-120"/>
              </a:rPr>
              <a:t>4.7% annual voluntary attrition</a:t>
            </a:r>
            <a:endParaRPr lang="en-US" sz="1150" dirty="0"/>
          </a:p>
        </p:txBody>
      </p:sp>
      <p:sp>
        <p:nvSpPr>
          <p:cNvPr id="9" name="Text 7"/>
          <p:cNvSpPr/>
          <p:nvPr/>
        </p:nvSpPr>
        <p:spPr>
          <a:xfrm>
            <a:off x="4389120" y="1691640"/>
            <a:ext cx="7223760" cy="62179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1,133 voluntary exits over 24 months ÷ 12,003 active. Range 4.6 to 5.7% depending on the twelve months chosen.</a:t>
            </a:r>
            <a:endParaRPr lang="en-US" sz="1100" dirty="0"/>
          </a:p>
        </p:txBody>
      </p:sp>
      <p:sp>
        <p:nvSpPr>
          <p:cNvPr id="10" name="Shape 8"/>
          <p:cNvSpPr/>
          <p:nvPr/>
        </p:nvSpPr>
        <p:spPr>
          <a:xfrm>
            <a:off x="548640" y="2295144"/>
            <a:ext cx="11091672" cy="7315"/>
          </a:xfrm>
          <a:prstGeom prst="rect">
            <a:avLst/>
          </a:prstGeom>
          <a:solidFill>
            <a:srgbClr val="DFDDD6"/>
          </a:solidFill>
          <a:ln/>
        </p:spPr>
        <p:txBody>
          <a:bodyPr/>
          <a:lstStyle/>
          <a:p>
            <a:endParaRPr lang="en-AU"/>
          </a:p>
        </p:txBody>
      </p:sp>
      <p:sp>
        <p:nvSpPr>
          <p:cNvPr id="11" name="Text 9"/>
          <p:cNvSpPr/>
          <p:nvPr/>
        </p:nvSpPr>
        <p:spPr>
          <a:xfrm>
            <a:off x="548640" y="2404872"/>
            <a:ext cx="3657600" cy="548640"/>
          </a:xfrm>
          <a:prstGeom prst="rect">
            <a:avLst/>
          </a:prstGeom>
          <a:noFill/>
          <a:ln/>
        </p:spPr>
        <p:txBody>
          <a:bodyPr wrap="square" lIns="0" tIns="0" rIns="0" bIns="0" rtlCol="0" anchor="t"/>
          <a:lstStyle/>
          <a:p>
            <a:pPr marL="0" indent="0">
              <a:buNone/>
            </a:pPr>
            <a:r>
              <a:rPr lang="en-US" sz="1150" b="1" dirty="0">
                <a:solidFill>
                  <a:srgbClr val="12100E"/>
                </a:solidFill>
                <a:latin typeface="Segoe UI" pitchFamily="34" charset="0"/>
                <a:ea typeface="Segoe UI" pitchFamily="34" charset="-122"/>
                <a:cs typeface="Segoe UI" pitchFamily="34" charset="-120"/>
              </a:rPr>
              <a:t>$76.7M restated cost</a:t>
            </a:r>
            <a:endParaRPr lang="en-US" sz="1150" dirty="0"/>
          </a:p>
        </p:txBody>
      </p:sp>
      <p:sp>
        <p:nvSpPr>
          <p:cNvPr id="12" name="Text 10"/>
          <p:cNvSpPr/>
          <p:nvPr/>
        </p:nvSpPr>
        <p:spPr>
          <a:xfrm>
            <a:off x="4389120" y="2404872"/>
            <a:ext cx="7223760" cy="62179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Finance's unit costs applied to annual counts: 76 regrettable exits, 3,219 disengaged, 137 agency hires.</a:t>
            </a:r>
            <a:endParaRPr lang="en-US" sz="1100" dirty="0"/>
          </a:p>
        </p:txBody>
      </p:sp>
      <p:sp>
        <p:nvSpPr>
          <p:cNvPr id="13" name="Shape 11"/>
          <p:cNvSpPr/>
          <p:nvPr/>
        </p:nvSpPr>
        <p:spPr>
          <a:xfrm>
            <a:off x="548640" y="3008376"/>
            <a:ext cx="11091672" cy="7315"/>
          </a:xfrm>
          <a:prstGeom prst="rect">
            <a:avLst/>
          </a:prstGeom>
          <a:solidFill>
            <a:srgbClr val="DFDDD6"/>
          </a:solidFill>
          <a:ln/>
        </p:spPr>
        <p:txBody>
          <a:bodyPr/>
          <a:lstStyle/>
          <a:p>
            <a:endParaRPr lang="en-AU"/>
          </a:p>
        </p:txBody>
      </p:sp>
      <p:sp>
        <p:nvSpPr>
          <p:cNvPr id="14" name="Text 12"/>
          <p:cNvSpPr/>
          <p:nvPr/>
        </p:nvSpPr>
        <p:spPr>
          <a:xfrm>
            <a:off x="548640" y="3118104"/>
            <a:ext cx="3657600" cy="548640"/>
          </a:xfrm>
          <a:prstGeom prst="rect">
            <a:avLst/>
          </a:prstGeom>
          <a:noFill/>
          <a:ln/>
        </p:spPr>
        <p:txBody>
          <a:bodyPr wrap="square" lIns="0" tIns="0" rIns="0" bIns="0" rtlCol="0" anchor="t"/>
          <a:lstStyle/>
          <a:p>
            <a:pPr marL="0" indent="0">
              <a:buNone/>
            </a:pPr>
            <a:r>
              <a:rPr lang="en-US" sz="1150" b="1" dirty="0">
                <a:solidFill>
                  <a:srgbClr val="12100E"/>
                </a:solidFill>
                <a:latin typeface="Segoe UI" pitchFamily="34" charset="0"/>
                <a:ea typeface="Segoe UI" pitchFamily="34" charset="-122"/>
                <a:cs typeface="Segoe UI" pitchFamily="34" charset="-120"/>
              </a:rPr>
              <a:t>$61.8M disengagement</a:t>
            </a:r>
            <a:endParaRPr lang="en-US" sz="1150" dirty="0"/>
          </a:p>
        </p:txBody>
      </p:sp>
      <p:sp>
        <p:nvSpPr>
          <p:cNvPr id="15" name="Text 13"/>
          <p:cNvSpPr/>
          <p:nvPr/>
        </p:nvSpPr>
        <p:spPr>
          <a:xfrm>
            <a:off x="4389120" y="3118104"/>
            <a:ext cx="7223760" cy="62179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3,219 employees scoring below 3.0 in 2+ answered waves, at 15% of the $128K average salary.</a:t>
            </a:r>
            <a:endParaRPr lang="en-US" sz="1100" dirty="0"/>
          </a:p>
        </p:txBody>
      </p:sp>
      <p:sp>
        <p:nvSpPr>
          <p:cNvPr id="16" name="Shape 14"/>
          <p:cNvSpPr/>
          <p:nvPr/>
        </p:nvSpPr>
        <p:spPr>
          <a:xfrm>
            <a:off x="548640" y="3721608"/>
            <a:ext cx="11091672" cy="7315"/>
          </a:xfrm>
          <a:prstGeom prst="rect">
            <a:avLst/>
          </a:prstGeom>
          <a:solidFill>
            <a:srgbClr val="DFDDD6"/>
          </a:solidFill>
          <a:ln/>
        </p:spPr>
        <p:txBody>
          <a:bodyPr/>
          <a:lstStyle/>
          <a:p>
            <a:endParaRPr lang="en-AU"/>
          </a:p>
        </p:txBody>
      </p:sp>
      <p:sp>
        <p:nvSpPr>
          <p:cNvPr id="17" name="Text 15"/>
          <p:cNvSpPr/>
          <p:nvPr/>
        </p:nvSpPr>
        <p:spPr>
          <a:xfrm>
            <a:off x="548640" y="3831336"/>
            <a:ext cx="3657600" cy="548640"/>
          </a:xfrm>
          <a:prstGeom prst="rect">
            <a:avLst/>
          </a:prstGeom>
          <a:noFill/>
          <a:ln/>
        </p:spPr>
        <p:txBody>
          <a:bodyPr wrap="square" lIns="0" tIns="0" rIns="0" bIns="0" rtlCol="0" anchor="t"/>
          <a:lstStyle/>
          <a:p>
            <a:pPr marL="0" indent="0">
              <a:buNone/>
            </a:pPr>
            <a:r>
              <a:rPr lang="en-US" sz="1150" b="1" dirty="0">
                <a:solidFill>
                  <a:srgbClr val="12100E"/>
                </a:solidFill>
                <a:latin typeface="Segoe UI" pitchFamily="34" charset="0"/>
                <a:ea typeface="Segoe UI" pitchFamily="34" charset="-122"/>
                <a:cs typeface="Segoe UI" pitchFamily="34" charset="-120"/>
              </a:rPr>
              <a:t>2.16x silence lift</a:t>
            </a:r>
            <a:endParaRPr lang="en-US" sz="1150" dirty="0"/>
          </a:p>
        </p:txBody>
      </p:sp>
      <p:sp>
        <p:nvSpPr>
          <p:cNvPr id="18" name="Text 16"/>
          <p:cNvSpPr/>
          <p:nvPr/>
        </p:nvSpPr>
        <p:spPr>
          <a:xfrm>
            <a:off x="4389120" y="3831336"/>
            <a:ext cx="7223760" cy="62179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441 employees who went silent, 12.7% attrition against a 5.9% baseline, among 11,518 with 3+ waves issued.</a:t>
            </a:r>
            <a:endParaRPr lang="en-US" sz="1100" dirty="0"/>
          </a:p>
        </p:txBody>
      </p:sp>
      <p:sp>
        <p:nvSpPr>
          <p:cNvPr id="19" name="Shape 17"/>
          <p:cNvSpPr/>
          <p:nvPr/>
        </p:nvSpPr>
        <p:spPr>
          <a:xfrm>
            <a:off x="548640" y="4434840"/>
            <a:ext cx="11091672" cy="7315"/>
          </a:xfrm>
          <a:prstGeom prst="rect">
            <a:avLst/>
          </a:prstGeom>
          <a:solidFill>
            <a:srgbClr val="DFDDD6"/>
          </a:solidFill>
          <a:ln/>
        </p:spPr>
        <p:txBody>
          <a:bodyPr/>
          <a:lstStyle/>
          <a:p>
            <a:endParaRPr lang="en-AU"/>
          </a:p>
        </p:txBody>
      </p:sp>
      <p:sp>
        <p:nvSpPr>
          <p:cNvPr id="20" name="Text 18"/>
          <p:cNvSpPr/>
          <p:nvPr/>
        </p:nvSpPr>
        <p:spPr>
          <a:xfrm>
            <a:off x="548640" y="4544568"/>
            <a:ext cx="3657600" cy="548640"/>
          </a:xfrm>
          <a:prstGeom prst="rect">
            <a:avLst/>
          </a:prstGeom>
          <a:noFill/>
          <a:ln/>
        </p:spPr>
        <p:txBody>
          <a:bodyPr wrap="square" lIns="0" tIns="0" rIns="0" bIns="0" rtlCol="0" anchor="t"/>
          <a:lstStyle/>
          <a:p>
            <a:pPr marL="0" indent="0">
              <a:buNone/>
            </a:pPr>
            <a:r>
              <a:rPr lang="en-US" sz="1150" b="1" dirty="0">
                <a:solidFill>
                  <a:srgbClr val="12100E"/>
                </a:solidFill>
                <a:latin typeface="Segoe UI" pitchFamily="34" charset="0"/>
                <a:ea typeface="Segoe UI" pitchFamily="34" charset="-122"/>
                <a:cs typeface="Segoe UI" pitchFamily="34" charset="-120"/>
              </a:rPr>
              <a:t>15.5x manager gradient</a:t>
            </a:r>
            <a:endParaRPr lang="en-US" sz="1150" dirty="0"/>
          </a:p>
        </p:txBody>
      </p:sp>
      <p:sp>
        <p:nvSpPr>
          <p:cNvPr id="21" name="Text 19"/>
          <p:cNvSpPr/>
          <p:nvPr/>
        </p:nvSpPr>
        <p:spPr>
          <a:xfrm>
            <a:off x="4389120" y="4544568"/>
            <a:ext cx="7223760" cy="62179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68.8% disengaged where manager rated below 2.5, against 4.5% where rated 4.0+. n = 11,157.</a:t>
            </a:r>
            <a:endParaRPr lang="en-US" sz="1100" dirty="0"/>
          </a:p>
        </p:txBody>
      </p:sp>
      <p:sp>
        <p:nvSpPr>
          <p:cNvPr id="22" name="Shape 20"/>
          <p:cNvSpPr/>
          <p:nvPr/>
        </p:nvSpPr>
        <p:spPr>
          <a:xfrm>
            <a:off x="548640" y="5148072"/>
            <a:ext cx="11091672" cy="7315"/>
          </a:xfrm>
          <a:prstGeom prst="rect">
            <a:avLst/>
          </a:prstGeom>
          <a:solidFill>
            <a:srgbClr val="DFDDD6"/>
          </a:solidFill>
          <a:ln/>
        </p:spPr>
        <p:txBody>
          <a:bodyPr/>
          <a:lstStyle/>
          <a:p>
            <a:endParaRPr lang="en-AU"/>
          </a:p>
        </p:txBody>
      </p:sp>
      <p:sp>
        <p:nvSpPr>
          <p:cNvPr id="23" name="Text 21"/>
          <p:cNvSpPr/>
          <p:nvPr/>
        </p:nvSpPr>
        <p:spPr>
          <a:xfrm>
            <a:off x="548640" y="5257800"/>
            <a:ext cx="3657600" cy="548640"/>
          </a:xfrm>
          <a:prstGeom prst="rect">
            <a:avLst/>
          </a:prstGeom>
          <a:noFill/>
          <a:ln/>
        </p:spPr>
        <p:txBody>
          <a:bodyPr wrap="square" lIns="0" tIns="0" rIns="0" bIns="0" rtlCol="0" anchor="t"/>
          <a:lstStyle/>
          <a:p>
            <a:pPr marL="0" indent="0">
              <a:buNone/>
            </a:pPr>
            <a:r>
              <a:rPr lang="en-US" sz="1150" b="1" dirty="0">
                <a:solidFill>
                  <a:srgbClr val="12100E"/>
                </a:solidFill>
                <a:latin typeface="Segoe UI" pitchFamily="34" charset="0"/>
                <a:ea typeface="Segoe UI" pitchFamily="34" charset="-122"/>
                <a:cs typeface="Segoe UI" pitchFamily="34" charset="-120"/>
              </a:rPr>
              <a:t>Entity_C at 9.1%</a:t>
            </a:r>
            <a:endParaRPr lang="en-US" sz="1150" dirty="0"/>
          </a:p>
        </p:txBody>
      </p:sp>
      <p:sp>
        <p:nvSpPr>
          <p:cNvPr id="24" name="Text 22"/>
          <p:cNvSpPr/>
          <p:nvPr/>
        </p:nvSpPr>
        <p:spPr>
          <a:xfrm>
            <a:off x="4389120" y="5257800"/>
            <a:ext cx="7223760" cy="621792"/>
          </a:xfrm>
          <a:prstGeom prst="rect">
            <a:avLst/>
          </a:prstGeom>
          <a:noFill/>
          <a:ln/>
        </p:spPr>
        <p:txBody>
          <a:bodyPr wrap="square" lIns="0" tIns="0" rIns="0" bIns="0" rtlCol="0" anchor="t"/>
          <a:lstStyle/>
          <a:p>
            <a:pPr marL="0" indent="0">
              <a:buNone/>
            </a:pPr>
            <a:r>
              <a:rPr lang="en-US" sz="1100" dirty="0">
                <a:solidFill>
                  <a:srgbClr val="4A4845"/>
                </a:solidFill>
                <a:latin typeface="Segoe UI" pitchFamily="34" charset="0"/>
                <a:ea typeface="Segoe UI" pitchFamily="34" charset="-122"/>
                <a:cs typeface="Segoe UI" pitchFamily="34" charset="-120"/>
              </a:rPr>
              <a:t>92 of 1,014 departed within six months of joining, measured at the same horizon as every other cohort.</a:t>
            </a:r>
            <a:endParaRPr lang="en-US" sz="1100" dirty="0"/>
          </a:p>
        </p:txBody>
      </p:sp>
      <p:sp>
        <p:nvSpPr>
          <p:cNvPr id="25" name="Shape 23"/>
          <p:cNvSpPr/>
          <p:nvPr/>
        </p:nvSpPr>
        <p:spPr>
          <a:xfrm>
            <a:off x="548640" y="5861304"/>
            <a:ext cx="11091672" cy="7315"/>
          </a:xfrm>
          <a:prstGeom prst="rect">
            <a:avLst/>
          </a:prstGeom>
          <a:solidFill>
            <a:srgbClr val="DFDDD6"/>
          </a:solidFill>
          <a:ln/>
        </p:spPr>
        <p:txBody>
          <a:bodyPr/>
          <a:lstStyle/>
          <a:p>
            <a:endParaRPr lang="en-A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17</a:t>
            </a:r>
            <a:endParaRPr lang="en-US" sz="800" dirty="0"/>
          </a:p>
        </p:txBody>
      </p:sp>
      <p:sp>
        <p:nvSpPr>
          <p:cNvPr id="5" name="Text 3"/>
          <p:cNvSpPr/>
          <p:nvPr/>
        </p:nvSpPr>
        <p:spPr>
          <a:xfrm>
            <a:off x="548640" y="274320"/>
            <a:ext cx="2743200" cy="228600"/>
          </a:xfrm>
          <a:prstGeom prst="rect">
            <a:avLst/>
          </a:prstGeom>
          <a:noFill/>
          <a:ln/>
        </p:spPr>
        <p:txBody>
          <a:bodyPr wrap="square" rtlCol="0" anchor="ctr"/>
          <a:lstStyle/>
          <a:p>
            <a:pPr marL="0" indent="0">
              <a:buNone/>
            </a:pPr>
            <a:r>
              <a:rPr lang="en-US" sz="900" b="1" kern="0" spc="150" dirty="0">
                <a:solidFill>
                  <a:srgbClr val="8A8781"/>
                </a:solidFill>
                <a:latin typeface="Consolas" pitchFamily="34" charset="0"/>
                <a:ea typeface="Consolas" pitchFamily="34" charset="-122"/>
                <a:cs typeface="Consolas" pitchFamily="34" charset="-120"/>
              </a:rPr>
              <a:t>APPENDIX</a:t>
            </a:r>
            <a:endParaRPr lang="en-US" sz="900" dirty="0"/>
          </a:p>
        </p:txBody>
      </p:sp>
      <p:sp>
        <p:nvSpPr>
          <p:cNvPr id="6" name="Text 4"/>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A2. Data quality: what we found and how we handled it</a:t>
            </a:r>
            <a:endParaRPr lang="en-US" sz="2400" dirty="0"/>
          </a:p>
        </p:txBody>
      </p:sp>
      <p:sp>
        <p:nvSpPr>
          <p:cNvPr id="7" name="Text 5"/>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Four issues, none of which required us to discard data.</a:t>
            </a:r>
            <a:endParaRPr lang="en-US" sz="1250" dirty="0"/>
          </a:p>
        </p:txBody>
      </p:sp>
      <p:sp>
        <p:nvSpPr>
          <p:cNvPr id="8" name="Shape 6"/>
          <p:cNvSpPr/>
          <p:nvPr/>
        </p:nvSpPr>
        <p:spPr>
          <a:xfrm>
            <a:off x="548640" y="1737360"/>
            <a:ext cx="11091672" cy="914400"/>
          </a:xfrm>
          <a:prstGeom prst="roundRect">
            <a:avLst>
              <a:gd name="adj" fmla="val 3000"/>
            </a:avLst>
          </a:prstGeom>
          <a:solidFill>
            <a:srgbClr val="F5F4F0"/>
          </a:solidFill>
          <a:ln w="9525">
            <a:solidFill>
              <a:srgbClr val="DFDDD6"/>
            </a:solidFill>
            <a:prstDash val="solid"/>
          </a:ln>
        </p:spPr>
        <p:txBody>
          <a:bodyPr/>
          <a:lstStyle/>
          <a:p>
            <a:endParaRPr lang="en-AU"/>
          </a:p>
        </p:txBody>
      </p:sp>
      <p:sp>
        <p:nvSpPr>
          <p:cNvPr id="9" name="Text 7"/>
          <p:cNvSpPr/>
          <p:nvPr/>
        </p:nvSpPr>
        <p:spPr>
          <a:xfrm>
            <a:off x="768096" y="1883664"/>
            <a:ext cx="1065276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THE ATTRITION LOG DOES NOT RECONCILE</a:t>
            </a:r>
            <a:endParaRPr lang="en-US" sz="900" dirty="0"/>
          </a:p>
        </p:txBody>
      </p:sp>
      <p:sp>
        <p:nvSpPr>
          <p:cNvPr id="10" name="Text 8"/>
          <p:cNvSpPr/>
          <p:nvPr/>
        </p:nvSpPr>
        <p:spPr>
          <a:xfrm>
            <a:off x="768096" y="2194560"/>
            <a:ext cx="10652760" cy="274320"/>
          </a:xfrm>
          <a:prstGeom prst="rect">
            <a:avLst/>
          </a:prstGeom>
          <a:noFill/>
          <a:ln/>
        </p:spPr>
        <p:txBody>
          <a:bodyPr wrap="square" lIns="0" tIns="0" rIns="0" bIns="0" rtlCol="0" anchor="t"/>
          <a:lstStyle/>
          <a:p>
            <a:pPr marL="0" indent="0">
              <a:spcAft>
                <a:spcPts val="700"/>
              </a:spcAft>
              <a:buNone/>
            </a:pPr>
            <a:r>
              <a:rPr lang="en-US" sz="1150" dirty="0">
                <a:solidFill>
                  <a:srgbClr val="4A4845"/>
                </a:solidFill>
                <a:latin typeface="Segoe UI" pitchFamily="34" charset="0"/>
                <a:ea typeface="Segoe UI" pitchFamily="34" charset="-122"/>
                <a:cs typeface="Segoe UI" pitchFamily="34" charset="-120"/>
              </a:rPr>
              <a:t>1,400 departures across 24 months against an annual report claiming 1,400 in FY2025 alone. Every attrition cost in this deck is therefore a floor.</a:t>
            </a:r>
            <a:endParaRPr lang="en-US" sz="1150" dirty="0"/>
          </a:p>
        </p:txBody>
      </p:sp>
      <p:sp>
        <p:nvSpPr>
          <p:cNvPr id="11" name="Shape 9"/>
          <p:cNvSpPr/>
          <p:nvPr/>
        </p:nvSpPr>
        <p:spPr>
          <a:xfrm>
            <a:off x="548640" y="2788920"/>
            <a:ext cx="11091672" cy="914400"/>
          </a:xfrm>
          <a:prstGeom prst="roundRect">
            <a:avLst>
              <a:gd name="adj" fmla="val 3000"/>
            </a:avLst>
          </a:prstGeom>
          <a:solidFill>
            <a:srgbClr val="F5F4F0"/>
          </a:solidFill>
          <a:ln w="9525">
            <a:solidFill>
              <a:srgbClr val="DFDDD6"/>
            </a:solidFill>
            <a:prstDash val="solid"/>
          </a:ln>
        </p:spPr>
        <p:txBody>
          <a:bodyPr/>
          <a:lstStyle/>
          <a:p>
            <a:endParaRPr lang="en-AU"/>
          </a:p>
        </p:txBody>
      </p:sp>
      <p:sp>
        <p:nvSpPr>
          <p:cNvPr id="12" name="Text 10"/>
          <p:cNvSpPr/>
          <p:nvPr/>
        </p:nvSpPr>
        <p:spPr>
          <a:xfrm>
            <a:off x="768096" y="2935224"/>
            <a:ext cx="1065276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SURVEY COVERAGE IS UNEVEN</a:t>
            </a:r>
            <a:endParaRPr lang="en-US" sz="900" dirty="0"/>
          </a:p>
        </p:txBody>
      </p:sp>
      <p:sp>
        <p:nvSpPr>
          <p:cNvPr id="13" name="Text 11"/>
          <p:cNvSpPr/>
          <p:nvPr/>
        </p:nvSpPr>
        <p:spPr>
          <a:xfrm>
            <a:off x="768096" y="3246120"/>
            <a:ext cx="10652760" cy="274320"/>
          </a:xfrm>
          <a:prstGeom prst="rect">
            <a:avLst/>
          </a:prstGeom>
          <a:noFill/>
          <a:ln/>
        </p:spPr>
        <p:txBody>
          <a:bodyPr wrap="square" lIns="0" tIns="0" rIns="0" bIns="0" rtlCol="0" anchor="t"/>
          <a:lstStyle/>
          <a:p>
            <a:pPr marL="0" indent="0">
              <a:spcAft>
                <a:spcPts val="700"/>
              </a:spcAft>
              <a:buNone/>
            </a:pPr>
            <a:r>
              <a:rPr lang="en-US" sz="1150" dirty="0">
                <a:solidFill>
                  <a:srgbClr val="4A4845"/>
                </a:solidFill>
                <a:latin typeface="Segoe UI" pitchFamily="34" charset="0"/>
                <a:ea typeface="Segoe UI" pitchFamily="34" charset="-122"/>
                <a:cs typeface="Segoe UI" pitchFamily="34" charset="-120"/>
              </a:rPr>
              <a:t>Entity_C joined the survey at wave 5, so one missed email makes 1,014 people look like career non-responders. All response analysis is restricted to employees issued three or more waves.</a:t>
            </a:r>
            <a:endParaRPr lang="en-US" sz="1150" dirty="0"/>
          </a:p>
        </p:txBody>
      </p:sp>
      <p:sp>
        <p:nvSpPr>
          <p:cNvPr id="14" name="Shape 12"/>
          <p:cNvSpPr/>
          <p:nvPr/>
        </p:nvSpPr>
        <p:spPr>
          <a:xfrm>
            <a:off x="548640" y="3840480"/>
            <a:ext cx="11091672" cy="914400"/>
          </a:xfrm>
          <a:prstGeom prst="roundRect">
            <a:avLst>
              <a:gd name="adj" fmla="val 3000"/>
            </a:avLst>
          </a:prstGeom>
          <a:solidFill>
            <a:srgbClr val="F5F4F0"/>
          </a:solidFill>
          <a:ln w="9525">
            <a:solidFill>
              <a:srgbClr val="DFDDD6"/>
            </a:solidFill>
            <a:prstDash val="solid"/>
          </a:ln>
        </p:spPr>
        <p:txBody>
          <a:bodyPr/>
          <a:lstStyle/>
          <a:p>
            <a:endParaRPr lang="en-AU"/>
          </a:p>
        </p:txBody>
      </p:sp>
      <p:sp>
        <p:nvSpPr>
          <p:cNvPr id="15" name="Text 13"/>
          <p:cNvSpPr/>
          <p:nvPr/>
        </p:nvSpPr>
        <p:spPr>
          <a:xfrm>
            <a:off x="768096" y="3986784"/>
            <a:ext cx="1065276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TENURE IS INCONSISTENTLY CALCULATED</a:t>
            </a:r>
            <a:endParaRPr lang="en-US" sz="900" dirty="0"/>
          </a:p>
        </p:txBody>
      </p:sp>
      <p:sp>
        <p:nvSpPr>
          <p:cNvPr id="16" name="Text 14"/>
          <p:cNvSpPr/>
          <p:nvPr/>
        </p:nvSpPr>
        <p:spPr>
          <a:xfrm>
            <a:off x="768096" y="4297680"/>
            <a:ext cx="10652760" cy="274320"/>
          </a:xfrm>
          <a:prstGeom prst="rect">
            <a:avLst/>
          </a:prstGeom>
          <a:noFill/>
          <a:ln/>
        </p:spPr>
        <p:txBody>
          <a:bodyPr wrap="square" lIns="0" tIns="0" rIns="0" bIns="0" rtlCol="0" anchor="t"/>
          <a:lstStyle/>
          <a:p>
            <a:pPr marL="0" indent="0">
              <a:spcAft>
                <a:spcPts val="700"/>
              </a:spcAft>
              <a:buNone/>
            </a:pPr>
            <a:r>
              <a:rPr lang="en-US" sz="1150" dirty="0">
                <a:solidFill>
                  <a:srgbClr val="4A4845"/>
                </a:solidFill>
                <a:latin typeface="Segoe UI" pitchFamily="34" charset="0"/>
                <a:ea typeface="Segoe UI" pitchFamily="34" charset="-122"/>
                <a:cs typeface="Segoe UI" pitchFamily="34" charset="-120"/>
              </a:rPr>
              <a:t>Implied snapshot dates spread over eight months. Recomputed from hire date wherever tenure is used.</a:t>
            </a:r>
            <a:endParaRPr lang="en-US" sz="1150" dirty="0"/>
          </a:p>
        </p:txBody>
      </p:sp>
      <p:sp>
        <p:nvSpPr>
          <p:cNvPr id="17" name="Shape 15"/>
          <p:cNvSpPr/>
          <p:nvPr/>
        </p:nvSpPr>
        <p:spPr>
          <a:xfrm>
            <a:off x="548640" y="4892040"/>
            <a:ext cx="11091672" cy="914400"/>
          </a:xfrm>
          <a:prstGeom prst="roundRect">
            <a:avLst>
              <a:gd name="adj" fmla="val 3000"/>
            </a:avLst>
          </a:prstGeom>
          <a:solidFill>
            <a:srgbClr val="F5F4F0"/>
          </a:solidFill>
          <a:ln w="9525">
            <a:solidFill>
              <a:srgbClr val="DFDDD6"/>
            </a:solidFill>
            <a:prstDash val="solid"/>
          </a:ln>
        </p:spPr>
        <p:txBody>
          <a:bodyPr/>
          <a:lstStyle/>
          <a:p>
            <a:endParaRPr lang="en-AU"/>
          </a:p>
        </p:txBody>
      </p:sp>
      <p:sp>
        <p:nvSpPr>
          <p:cNvPr id="18" name="Text 16"/>
          <p:cNvSpPr/>
          <p:nvPr/>
        </p:nvSpPr>
        <p:spPr>
          <a:xfrm>
            <a:off x="768096" y="5038344"/>
            <a:ext cx="10652760" cy="237744"/>
          </a:xfrm>
          <a:prstGeom prst="rect">
            <a:avLst/>
          </a:prstGeom>
          <a:noFill/>
          <a:ln/>
        </p:spPr>
        <p:txBody>
          <a:bodyPr wrap="square" lIns="0" tIns="0" rIns="0" bIns="0" rtlCol="0" anchor="ctr"/>
          <a:lstStyle/>
          <a:p>
            <a:pPr marL="0" indent="0">
              <a:buNone/>
            </a:pPr>
            <a:r>
              <a:rPr lang="en-US" sz="900" b="1" kern="0" spc="100" dirty="0">
                <a:solidFill>
                  <a:srgbClr val="8A5600"/>
                </a:solidFill>
                <a:latin typeface="Consolas" pitchFamily="34" charset="0"/>
                <a:ea typeface="Consolas" pitchFamily="34" charset="-122"/>
                <a:cs typeface="Consolas" pitchFamily="34" charset="-120"/>
              </a:rPr>
              <a:t>MISSING VALUES ARE STRUCTURAL, NOT GAPS</a:t>
            </a:r>
            <a:endParaRPr lang="en-US" sz="900" dirty="0"/>
          </a:p>
        </p:txBody>
      </p:sp>
      <p:sp>
        <p:nvSpPr>
          <p:cNvPr id="19" name="Text 17"/>
          <p:cNvSpPr/>
          <p:nvPr/>
        </p:nvSpPr>
        <p:spPr>
          <a:xfrm>
            <a:off x="768096" y="5349240"/>
            <a:ext cx="10652760" cy="274320"/>
          </a:xfrm>
          <a:prstGeom prst="rect">
            <a:avLst/>
          </a:prstGeom>
          <a:noFill/>
          <a:ln/>
        </p:spPr>
        <p:txBody>
          <a:bodyPr wrap="square" lIns="0" tIns="0" rIns="0" bIns="0" rtlCol="0" anchor="t"/>
          <a:lstStyle/>
          <a:p>
            <a:pPr marL="0" indent="0">
              <a:spcAft>
                <a:spcPts val="700"/>
              </a:spcAft>
              <a:buNone/>
            </a:pPr>
            <a:r>
              <a:rPr lang="en-US" sz="1150" dirty="0">
                <a:solidFill>
                  <a:srgbClr val="4A4845"/>
                </a:solidFill>
                <a:latin typeface="Segoe UI" pitchFamily="34" charset="0"/>
                <a:ea typeface="Segoe UI" pitchFamily="34" charset="-122"/>
                <a:cs typeface="Segoe UI" pitchFamily="34" charset="-120"/>
              </a:rPr>
              <a:t>Exit dates are blank for current employees; survey scores are blank for non-responses. No imputation was needed anywhere.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6473952"/>
            <a:ext cx="12188952" cy="18288"/>
          </a:xfrm>
          <a:prstGeom prst="rect">
            <a:avLst/>
          </a:prstGeom>
          <a:solidFill>
            <a:srgbClr val="DFDDD6"/>
          </a:solidFill>
          <a:ln/>
        </p:spPr>
        <p:txBody>
          <a:bodyPr/>
          <a:lstStyle/>
          <a:p>
            <a:endParaRPr lang="en-AU"/>
          </a:p>
        </p:txBody>
      </p:sp>
      <p:sp>
        <p:nvSpPr>
          <p:cNvPr id="3" name="Text 1"/>
          <p:cNvSpPr/>
          <p:nvPr/>
        </p:nvSpPr>
        <p:spPr>
          <a:xfrm>
            <a:off x="548640" y="6510528"/>
            <a:ext cx="5486400" cy="256032"/>
          </a:xfrm>
          <a:prstGeom prst="rect">
            <a:avLst/>
          </a:prstGeom>
          <a:noFill/>
          <a:ln/>
        </p:spPr>
        <p:txBody>
          <a:bodyPr wrap="square" rtlCol="0" anchor="ctr"/>
          <a:lstStyle/>
          <a:p>
            <a:pPr marL="0" indent="0">
              <a:buNone/>
            </a:pPr>
            <a:r>
              <a:rPr lang="en-US" sz="800" kern="0" spc="100" dirty="0">
                <a:solidFill>
                  <a:srgbClr val="8A8781"/>
                </a:solidFill>
                <a:latin typeface="Consolas" pitchFamily="34" charset="0"/>
                <a:ea typeface="Consolas" pitchFamily="34" charset="-122"/>
                <a:cs typeface="Consolas" pitchFamily="34" charset="-120"/>
              </a:rPr>
              <a:t>NOVACORP PEOPLE ANALYTICS  |  AUGUST 2026</a:t>
            </a:r>
            <a:endParaRPr lang="en-US" sz="800" dirty="0"/>
          </a:p>
        </p:txBody>
      </p:sp>
      <p:sp>
        <p:nvSpPr>
          <p:cNvPr id="4" name="Text 2"/>
          <p:cNvSpPr/>
          <p:nvPr/>
        </p:nvSpPr>
        <p:spPr>
          <a:xfrm>
            <a:off x="11183112" y="6510528"/>
            <a:ext cx="457200" cy="256032"/>
          </a:xfrm>
          <a:prstGeom prst="rect">
            <a:avLst/>
          </a:prstGeom>
          <a:noFill/>
          <a:ln/>
        </p:spPr>
        <p:txBody>
          <a:bodyPr wrap="square" rtlCol="0" anchor="ctr"/>
          <a:lstStyle/>
          <a:p>
            <a:pPr marL="0" indent="0" algn="r">
              <a:buNone/>
            </a:pPr>
            <a:r>
              <a:rPr lang="en-US" sz="800" dirty="0">
                <a:solidFill>
                  <a:srgbClr val="8A8781"/>
                </a:solidFill>
                <a:latin typeface="Consolas" pitchFamily="34" charset="0"/>
                <a:ea typeface="Consolas" pitchFamily="34" charset="-122"/>
                <a:cs typeface="Consolas" pitchFamily="34" charset="-120"/>
              </a:rPr>
              <a:t>18</a:t>
            </a:r>
            <a:endParaRPr lang="en-US" sz="800" dirty="0"/>
          </a:p>
        </p:txBody>
      </p:sp>
      <p:sp>
        <p:nvSpPr>
          <p:cNvPr id="5" name="Text 3"/>
          <p:cNvSpPr/>
          <p:nvPr/>
        </p:nvSpPr>
        <p:spPr>
          <a:xfrm>
            <a:off x="548640" y="274320"/>
            <a:ext cx="2743200" cy="228600"/>
          </a:xfrm>
          <a:prstGeom prst="rect">
            <a:avLst/>
          </a:prstGeom>
          <a:noFill/>
          <a:ln/>
        </p:spPr>
        <p:txBody>
          <a:bodyPr wrap="square" rtlCol="0" anchor="ctr"/>
          <a:lstStyle/>
          <a:p>
            <a:pPr marL="0" indent="0">
              <a:buNone/>
            </a:pPr>
            <a:r>
              <a:rPr lang="en-US" sz="900" b="1" kern="0" spc="150" dirty="0">
                <a:solidFill>
                  <a:srgbClr val="8A8781"/>
                </a:solidFill>
                <a:latin typeface="Consolas" pitchFamily="34" charset="0"/>
                <a:ea typeface="Consolas" pitchFamily="34" charset="-122"/>
                <a:cs typeface="Consolas" pitchFamily="34" charset="-120"/>
              </a:rPr>
              <a:t>APPENDIX</a:t>
            </a:r>
            <a:endParaRPr lang="en-US" sz="900" dirty="0"/>
          </a:p>
        </p:txBody>
      </p:sp>
      <p:sp>
        <p:nvSpPr>
          <p:cNvPr id="6" name="Text 4"/>
          <p:cNvSpPr/>
          <p:nvPr/>
        </p:nvSpPr>
        <p:spPr>
          <a:xfrm>
            <a:off x="548640" y="347472"/>
            <a:ext cx="11091672" cy="786384"/>
          </a:xfrm>
          <a:prstGeom prst="rect">
            <a:avLst/>
          </a:prstGeom>
          <a:noFill/>
          <a:ln/>
        </p:spPr>
        <p:txBody>
          <a:bodyPr wrap="square" rtlCol="0" anchor="t"/>
          <a:lstStyle/>
          <a:p>
            <a:pPr marL="0" indent="0">
              <a:buNone/>
            </a:pPr>
            <a:r>
              <a:rPr lang="en-US" sz="2400" b="1" dirty="0">
                <a:solidFill>
                  <a:srgbClr val="12100E"/>
                </a:solidFill>
                <a:latin typeface="Segoe UI" pitchFamily="34" charset="0"/>
                <a:ea typeface="Segoe UI" pitchFamily="34" charset="-122"/>
                <a:cs typeface="Segoe UI" pitchFamily="34" charset="-120"/>
              </a:rPr>
              <a:t>A3. What we would build next</a:t>
            </a:r>
            <a:endParaRPr lang="en-US" sz="2400" dirty="0"/>
          </a:p>
        </p:txBody>
      </p:sp>
      <p:sp>
        <p:nvSpPr>
          <p:cNvPr id="7" name="Text 5"/>
          <p:cNvSpPr/>
          <p:nvPr/>
        </p:nvSpPr>
        <p:spPr>
          <a:xfrm>
            <a:off x="548640" y="1152144"/>
            <a:ext cx="11091672" cy="365760"/>
          </a:xfrm>
          <a:prstGeom prst="rect">
            <a:avLst/>
          </a:prstGeom>
          <a:noFill/>
          <a:ln/>
        </p:spPr>
        <p:txBody>
          <a:bodyPr wrap="square" rtlCol="0" anchor="t"/>
          <a:lstStyle/>
          <a:p>
            <a:pPr marL="0" indent="0">
              <a:buNone/>
            </a:pPr>
            <a:r>
              <a:rPr lang="en-US" sz="1250" dirty="0">
                <a:solidFill>
                  <a:srgbClr val="4A4845"/>
                </a:solidFill>
                <a:latin typeface="Segoe UI" pitchFamily="34" charset="0"/>
                <a:ea typeface="Segoe UI" pitchFamily="34" charset="-122"/>
                <a:cs typeface="Segoe UI" pitchFamily="34" charset="-120"/>
              </a:rPr>
              <a:t>With more time or more data.</a:t>
            </a:r>
            <a:endParaRPr lang="en-US" sz="1250" dirty="0"/>
          </a:p>
        </p:txBody>
      </p:sp>
      <p:sp>
        <p:nvSpPr>
          <p:cNvPr id="8" name="Shape 6"/>
          <p:cNvSpPr/>
          <p:nvPr/>
        </p:nvSpPr>
        <p:spPr>
          <a:xfrm>
            <a:off x="548640" y="1737360"/>
            <a:ext cx="11091672" cy="914400"/>
          </a:xfrm>
          <a:prstGeom prst="roundRect">
            <a:avLst>
              <a:gd name="adj" fmla="val 3000"/>
            </a:avLst>
          </a:prstGeom>
          <a:solidFill>
            <a:srgbClr val="FFFFFF"/>
          </a:solidFill>
          <a:ln w="9525">
            <a:solidFill>
              <a:srgbClr val="DFDDD6"/>
            </a:solidFill>
            <a:prstDash val="solid"/>
          </a:ln>
        </p:spPr>
        <p:txBody>
          <a:bodyPr/>
          <a:lstStyle/>
          <a:p>
            <a:endParaRPr lang="en-AU"/>
          </a:p>
        </p:txBody>
      </p:sp>
      <p:sp>
        <p:nvSpPr>
          <p:cNvPr id="9" name="Text 7"/>
          <p:cNvSpPr/>
          <p:nvPr/>
        </p:nvSpPr>
        <p:spPr>
          <a:xfrm>
            <a:off x="768096" y="1883664"/>
            <a:ext cx="1065276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A PERSON-WAVE RISK MODEL</a:t>
            </a:r>
            <a:endParaRPr lang="en-US" sz="900" dirty="0"/>
          </a:p>
        </p:txBody>
      </p:sp>
      <p:sp>
        <p:nvSpPr>
          <p:cNvPr id="10" name="Text 8"/>
          <p:cNvSpPr/>
          <p:nvPr/>
        </p:nvSpPr>
        <p:spPr>
          <a:xfrm>
            <a:off x="768096" y="2194560"/>
            <a:ext cx="10652760" cy="274320"/>
          </a:xfrm>
          <a:prstGeom prst="rect">
            <a:avLst/>
          </a:prstGeom>
          <a:noFill/>
          <a:ln/>
        </p:spPr>
        <p:txBody>
          <a:bodyPr wrap="square" lIns="0" tIns="0" rIns="0" bIns="0" rtlCol="0" anchor="t"/>
          <a:lstStyle/>
          <a:p>
            <a:pPr marL="0" indent="0">
              <a:spcAft>
                <a:spcPts val="700"/>
              </a:spcAft>
              <a:buNone/>
            </a:pPr>
            <a:r>
              <a:rPr lang="en-US" sz="1150" dirty="0">
                <a:solidFill>
                  <a:srgbClr val="4A4845"/>
                </a:solidFill>
                <a:latin typeface="Segoe UI" pitchFamily="34" charset="0"/>
                <a:ea typeface="Segoe UI" pitchFamily="34" charset="-122"/>
                <a:cs typeface="Segoe UI" pitchFamily="34" charset="-120"/>
              </a:rPr>
              <a:t>The early-warning finding excludes anyone with fewer than three survey waves, which removes most people hired in the last year. A model that handles partial histories would recover them, and that is the group with the highest risk.</a:t>
            </a:r>
            <a:endParaRPr lang="en-US" sz="1150" dirty="0"/>
          </a:p>
        </p:txBody>
      </p:sp>
      <p:sp>
        <p:nvSpPr>
          <p:cNvPr id="11" name="Shape 9"/>
          <p:cNvSpPr/>
          <p:nvPr/>
        </p:nvSpPr>
        <p:spPr>
          <a:xfrm>
            <a:off x="548640" y="2788920"/>
            <a:ext cx="11091672" cy="914400"/>
          </a:xfrm>
          <a:prstGeom prst="roundRect">
            <a:avLst>
              <a:gd name="adj" fmla="val 3000"/>
            </a:avLst>
          </a:prstGeom>
          <a:solidFill>
            <a:srgbClr val="FFFFFF"/>
          </a:solidFill>
          <a:ln w="9525">
            <a:solidFill>
              <a:srgbClr val="DFDDD6"/>
            </a:solidFill>
            <a:prstDash val="solid"/>
          </a:ln>
        </p:spPr>
        <p:txBody>
          <a:bodyPr/>
          <a:lstStyle/>
          <a:p>
            <a:endParaRPr lang="en-AU"/>
          </a:p>
        </p:txBody>
      </p:sp>
      <p:sp>
        <p:nvSpPr>
          <p:cNvPr id="12" name="Text 10"/>
          <p:cNvSpPr/>
          <p:nvPr/>
        </p:nvSpPr>
        <p:spPr>
          <a:xfrm>
            <a:off x="768096" y="2935224"/>
            <a:ext cx="1065276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A CONTROLLED TEST OF THE MANAGER FINDING</a:t>
            </a:r>
            <a:endParaRPr lang="en-US" sz="900" dirty="0"/>
          </a:p>
        </p:txBody>
      </p:sp>
      <p:sp>
        <p:nvSpPr>
          <p:cNvPr id="13" name="Text 11"/>
          <p:cNvSpPr/>
          <p:nvPr/>
        </p:nvSpPr>
        <p:spPr>
          <a:xfrm>
            <a:off x="768096" y="3246120"/>
            <a:ext cx="10652760" cy="274320"/>
          </a:xfrm>
          <a:prstGeom prst="rect">
            <a:avLst/>
          </a:prstGeom>
          <a:noFill/>
          <a:ln/>
        </p:spPr>
        <p:txBody>
          <a:bodyPr wrap="square" lIns="0" tIns="0" rIns="0" bIns="0" rtlCol="0" anchor="t"/>
          <a:lstStyle/>
          <a:p>
            <a:pPr marL="0" indent="0">
              <a:spcAft>
                <a:spcPts val="700"/>
              </a:spcAft>
              <a:buNone/>
            </a:pPr>
            <a:r>
              <a:rPr lang="en-US" sz="1150" dirty="0">
                <a:solidFill>
                  <a:srgbClr val="4A4845"/>
                </a:solidFill>
                <a:latin typeface="Segoe UI" pitchFamily="34" charset="0"/>
                <a:ea typeface="Segoe UI" pitchFamily="34" charset="-122"/>
                <a:cs typeface="Segoe UI" pitchFamily="34" charset="-120"/>
              </a:rPr>
              <a:t>Team size, workload and resourcing are not held constant. Separating manager capability from team context needs either those controls or a designed pilot.</a:t>
            </a:r>
            <a:endParaRPr lang="en-US" sz="1150" dirty="0"/>
          </a:p>
        </p:txBody>
      </p:sp>
      <p:sp>
        <p:nvSpPr>
          <p:cNvPr id="14" name="Shape 12"/>
          <p:cNvSpPr/>
          <p:nvPr/>
        </p:nvSpPr>
        <p:spPr>
          <a:xfrm>
            <a:off x="548640" y="3840480"/>
            <a:ext cx="11091672" cy="914400"/>
          </a:xfrm>
          <a:prstGeom prst="roundRect">
            <a:avLst>
              <a:gd name="adj" fmla="val 3000"/>
            </a:avLst>
          </a:prstGeom>
          <a:solidFill>
            <a:srgbClr val="FFFFFF"/>
          </a:solidFill>
          <a:ln w="9525">
            <a:solidFill>
              <a:srgbClr val="DFDDD6"/>
            </a:solidFill>
            <a:prstDash val="solid"/>
          </a:ln>
        </p:spPr>
        <p:txBody>
          <a:bodyPr/>
          <a:lstStyle/>
          <a:p>
            <a:endParaRPr lang="en-AU"/>
          </a:p>
        </p:txBody>
      </p:sp>
      <p:sp>
        <p:nvSpPr>
          <p:cNvPr id="15" name="Text 13"/>
          <p:cNvSpPr/>
          <p:nvPr/>
        </p:nvSpPr>
        <p:spPr>
          <a:xfrm>
            <a:off x="768096" y="3986784"/>
            <a:ext cx="1065276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A SECOND POST-REGULATION YEAR</a:t>
            </a:r>
            <a:endParaRPr lang="en-US" sz="900" dirty="0"/>
          </a:p>
        </p:txBody>
      </p:sp>
      <p:sp>
        <p:nvSpPr>
          <p:cNvPr id="16" name="Text 14"/>
          <p:cNvSpPr/>
          <p:nvPr/>
        </p:nvSpPr>
        <p:spPr>
          <a:xfrm>
            <a:off x="768096" y="4297680"/>
            <a:ext cx="10652760" cy="274320"/>
          </a:xfrm>
          <a:prstGeom prst="rect">
            <a:avLst/>
          </a:prstGeom>
          <a:noFill/>
          <a:ln/>
        </p:spPr>
        <p:txBody>
          <a:bodyPr wrap="square" lIns="0" tIns="0" rIns="0" bIns="0" rtlCol="0" anchor="t"/>
          <a:lstStyle/>
          <a:p>
            <a:pPr marL="0" indent="0">
              <a:spcAft>
                <a:spcPts val="700"/>
              </a:spcAft>
              <a:buNone/>
            </a:pPr>
            <a:r>
              <a:rPr lang="en-US" sz="1150" dirty="0">
                <a:solidFill>
                  <a:srgbClr val="4A4845"/>
                </a:solidFill>
                <a:latin typeface="Segoe UI" pitchFamily="34" charset="0"/>
                <a:ea typeface="Segoe UI" pitchFamily="34" charset="-122"/>
                <a:cs typeface="Segoe UI" pitchFamily="34" charset="-120"/>
              </a:rPr>
              <a:t>The regulatory question is not answerable with 476 employees and 39 exits. A further year of data would make it testable.</a:t>
            </a:r>
            <a:endParaRPr lang="en-US" sz="1150" dirty="0"/>
          </a:p>
        </p:txBody>
      </p:sp>
      <p:sp>
        <p:nvSpPr>
          <p:cNvPr id="17" name="Shape 15"/>
          <p:cNvSpPr/>
          <p:nvPr/>
        </p:nvSpPr>
        <p:spPr>
          <a:xfrm>
            <a:off x="548640" y="4892040"/>
            <a:ext cx="11091672" cy="914400"/>
          </a:xfrm>
          <a:prstGeom prst="roundRect">
            <a:avLst>
              <a:gd name="adj" fmla="val 3000"/>
            </a:avLst>
          </a:prstGeom>
          <a:solidFill>
            <a:srgbClr val="FFFFFF"/>
          </a:solidFill>
          <a:ln w="9525">
            <a:solidFill>
              <a:srgbClr val="DFDDD6"/>
            </a:solidFill>
            <a:prstDash val="solid"/>
          </a:ln>
        </p:spPr>
        <p:txBody>
          <a:bodyPr/>
          <a:lstStyle/>
          <a:p>
            <a:endParaRPr lang="en-AU"/>
          </a:p>
        </p:txBody>
      </p:sp>
      <p:sp>
        <p:nvSpPr>
          <p:cNvPr id="18" name="Text 16"/>
          <p:cNvSpPr/>
          <p:nvPr/>
        </p:nvSpPr>
        <p:spPr>
          <a:xfrm>
            <a:off x="768096" y="5038344"/>
            <a:ext cx="10652760" cy="237744"/>
          </a:xfrm>
          <a:prstGeom prst="rect">
            <a:avLst/>
          </a:prstGeom>
          <a:noFill/>
          <a:ln/>
        </p:spPr>
        <p:txBody>
          <a:bodyPr wrap="square" lIns="0" tIns="0" rIns="0" bIns="0" rtlCol="0" anchor="ctr"/>
          <a:lstStyle/>
          <a:p>
            <a:pPr marL="0" indent="0">
              <a:buNone/>
            </a:pPr>
            <a:r>
              <a:rPr lang="en-US" sz="900" b="1" kern="0" spc="100" dirty="0">
                <a:solidFill>
                  <a:srgbClr val="1F5FAE"/>
                </a:solidFill>
                <a:latin typeface="Consolas" pitchFamily="34" charset="0"/>
                <a:ea typeface="Consolas" pitchFamily="34" charset="-122"/>
                <a:cs typeface="Consolas" pitchFamily="34" charset="-120"/>
              </a:rPr>
              <a:t>RECONCILIATION WITH THE HR SYSTEM OF RECORD</a:t>
            </a:r>
            <a:endParaRPr lang="en-US" sz="900" dirty="0"/>
          </a:p>
        </p:txBody>
      </p:sp>
      <p:sp>
        <p:nvSpPr>
          <p:cNvPr id="19" name="Text 17"/>
          <p:cNvSpPr/>
          <p:nvPr/>
        </p:nvSpPr>
        <p:spPr>
          <a:xfrm>
            <a:off x="768096" y="5349240"/>
            <a:ext cx="10652760" cy="274320"/>
          </a:xfrm>
          <a:prstGeom prst="rect">
            <a:avLst/>
          </a:prstGeom>
          <a:noFill/>
          <a:ln/>
        </p:spPr>
        <p:txBody>
          <a:bodyPr wrap="square" lIns="0" tIns="0" rIns="0" bIns="0" rtlCol="0" anchor="t"/>
          <a:lstStyle/>
          <a:p>
            <a:pPr marL="0" indent="0">
              <a:spcAft>
                <a:spcPts val="700"/>
              </a:spcAft>
              <a:buNone/>
            </a:pPr>
            <a:r>
              <a:rPr lang="en-US" sz="1150" dirty="0">
                <a:solidFill>
                  <a:srgbClr val="4A4845"/>
                </a:solidFill>
                <a:latin typeface="Segoe UI" pitchFamily="34" charset="0"/>
                <a:ea typeface="Segoe UI" pitchFamily="34" charset="-122"/>
                <a:cs typeface="Segoe UI" pitchFamily="34" charset="-120"/>
              </a:rPr>
              <a:t>Resolving the 40% gap between the attrition log and reported departures would turn every floor in this deck into an estimate.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3501</Words>
  <Application>Microsoft Office PowerPoint</Application>
  <PresentationFormat>Widescreen</PresentationFormat>
  <Paragraphs>445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Padmasri Srinivas</cp:lastModifiedBy>
  <cp:revision>2</cp:revision>
  <dcterms:created xsi:type="dcterms:W3CDTF">2026-08-15T05:15:47Z</dcterms:created>
  <dcterms:modified xsi:type="dcterms:W3CDTF">2026-08-15T05:18:35Z</dcterms:modified>
</cp:coreProperties>
</file>